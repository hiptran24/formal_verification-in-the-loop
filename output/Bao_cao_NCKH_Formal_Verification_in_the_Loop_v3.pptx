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9f40132b404929" /><Relationship Type="http://schemas.openxmlformats.org/officeDocument/2006/relationships/extended-properties" Target="/docProps/app.xml" Id="R9e3dcd9b11d94a80" /><Relationship Type="http://schemas.openxmlformats.org/officeDocument/2006/relationships/officeDocument" Target="/ppt/presentation.xml" Id="Rd26402ce3ed54a78" /></Relationships>
</file>

<file path=ppt/presentation.xml><?xml version="1.0" encoding="utf-8"?>
<p:presentation xmlns:p="http://schemas.openxmlformats.org/presentationml/2006/main">
  <p:sldMasterIdLst>
    <p:sldMasterId xmlns:r="http://schemas.openxmlformats.org/officeDocument/2006/relationships" id="2147483648" r:id="R0c54bc243df24d26"/>
  </p:sldMasterIdLst>
  <p:notesMasterIdLst>
    <p:notesMasterId xmlns:r="http://schemas.openxmlformats.org/officeDocument/2006/relationships" r:id="Red8ca8cf84f443dd"/>
  </p:notesMasterIdLst>
  <p:sldIdLst>
    <p:sldId xmlns:r="http://schemas.openxmlformats.org/officeDocument/2006/relationships" id="256" r:id="R1dec1829748d4dd8"/>
    <p:sldId xmlns:r="http://schemas.openxmlformats.org/officeDocument/2006/relationships" id="257" r:id="Rdf5d18d50cbc4718"/>
    <p:sldId xmlns:r="http://schemas.openxmlformats.org/officeDocument/2006/relationships" id="258" r:id="Rf9bf97e606454df0"/>
    <p:sldId xmlns:r="http://schemas.openxmlformats.org/officeDocument/2006/relationships" id="259" r:id="R9b3e0dce37944354"/>
    <p:sldId xmlns:r="http://schemas.openxmlformats.org/officeDocument/2006/relationships" id="260" r:id="Redde76f7877f499d"/>
    <p:sldId xmlns:r="http://schemas.openxmlformats.org/officeDocument/2006/relationships" id="261" r:id="R35909b2f62c2494d"/>
    <p:sldId xmlns:r="http://schemas.openxmlformats.org/officeDocument/2006/relationships" id="262" r:id="R6ea1d4a8db074a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bd988f32314108" /><Relationship Type="http://schemas.openxmlformats.org/officeDocument/2006/relationships/slideMaster" Target="/ppt/slideMasters/slideMaster1.xml" Id="R0c54bc243df24d26" /><Relationship Type="http://schemas.openxmlformats.org/officeDocument/2006/relationships/notesMaster" Target="/ppt/notesMasters/notesMaster1.xml" Id="Red8ca8cf84f443dd" /><Relationship Type="http://schemas.openxmlformats.org/officeDocument/2006/relationships/presProps" Target="/ppt/presProps.xml" Id="R3899efc0c4354552" /><Relationship Type="http://schemas.openxmlformats.org/officeDocument/2006/relationships/tableStyles" Target="/ppt/tableStyles.xml" Id="R30d883fdea1f4060" /><Relationship Type="http://schemas.openxmlformats.org/officeDocument/2006/relationships/slide" Target="/ppt/slides/slide1.xml" Id="R1dec1829748d4dd8" /><Relationship Type="http://schemas.openxmlformats.org/officeDocument/2006/relationships/slide" Target="/ppt/slides/slide2.xml" Id="Rdf5d18d50cbc4718" /><Relationship Type="http://schemas.openxmlformats.org/officeDocument/2006/relationships/slide" Target="/ppt/slides/slide3.xml" Id="Rf9bf97e606454df0" /><Relationship Type="http://schemas.openxmlformats.org/officeDocument/2006/relationships/slide" Target="/ppt/slides/slide4.xml" Id="R9b3e0dce37944354" /><Relationship Type="http://schemas.openxmlformats.org/officeDocument/2006/relationships/slide" Target="/ppt/slides/slide5.xml" Id="Redde76f7877f499d" /><Relationship Type="http://schemas.openxmlformats.org/officeDocument/2006/relationships/slide" Target="/ppt/slides/slide6.xml" Id="R35909b2f62c2494d" /><Relationship Type="http://schemas.openxmlformats.org/officeDocument/2006/relationships/slide" Target="/ppt/slides/slide7.xml" Id="R6ea1d4a8db074a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334dfe7207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d44ea8575a499d" /><Relationship Type="http://schemas.openxmlformats.org/officeDocument/2006/relationships/notesMaster" Target="/ppt/notesMasters/notesMaster1.xml" Id="R783443e91d0d47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d2067736c44526" /><Relationship Type="http://schemas.openxmlformats.org/officeDocument/2006/relationships/notesMaster" Target="/ppt/notesMasters/notesMaster1.xml" Id="R005c74a815ce48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988989b1484142" /><Relationship Type="http://schemas.openxmlformats.org/officeDocument/2006/relationships/notesMaster" Target="/ppt/notesMasters/notesMaster1.xml" Id="R4a29b09d00c84e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50986d306b4a42" /><Relationship Type="http://schemas.openxmlformats.org/officeDocument/2006/relationships/notesMaster" Target="/ppt/notesMasters/notesMaster1.xml" Id="R50f165317ed94c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d848a3809b4eee" /><Relationship Type="http://schemas.openxmlformats.org/officeDocument/2006/relationships/notesMaster" Target="/ppt/notesMasters/notesMaster1.xml" Id="R6fd2ff41d8f44f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557e38942f4442" /><Relationship Type="http://schemas.openxmlformats.org/officeDocument/2006/relationships/notesMaster" Target="/ppt/notesMasters/notesMaster1.xml" Id="R79f0669470824e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078de2628c4304" /><Relationship Type="http://schemas.openxmlformats.org/officeDocument/2006/relationships/notesMaster" Target="/ppt/notesMasters/notesMaster1.xml" Id="R81b21de010b647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20 giây.</a:t>
            </a:r>
          </a:p>
          <a:p xmlns:a="http://schemas.openxmlformats.org/drawingml/2006/main">
            <a:r>
              <a:t>Em là Nguyễn Võ Lê Khoa, đại diện nhóm. Nhóm xin trình bày đề tài về khung sinh mã và tự sửa lỗi có vòng kiểm chứng hình thức. GV hướng dẫn là ThS. Bùi Phú Khuyên.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40 giây.</a:t>
            </a:r>
          </a:p>
          <a:p xmlns:a="http://schemas.openxmlformats.org/drawingml/2006/main">
            <a:r>
              <a:t>LLM có thể tạo mã nhìn hợp lý nhưng sai logic ở đầu vào chưa thử. Unit test kiểm tra các đầu vào cụ thể; đặc tả Dafny có thể nêu tính chất tổng quát, chẳng hạn mọi chỉ số hợp lệ. Dafny xác minh nghĩa vụ suy ra từ đặc tả, trong phạm vi mô hình và giả định công cụ. Điều này vẫn phụ thuộc vào việc đặc tả có đúng và đủ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a:t>
            </a:r>
          </a:p>
          <a:p xmlns:a="http://schemas.openxmlformats.org/drawingml/2006/main">
            <a:r>
              <a:t>Mục tiêu là đánh giá tác động của phản hồi verifier, không tuyên bố đã giải quyết hoàn toàn hallucination. Câu hỏi chính là liệu vòng phản hồi có tăng Pass@K khi giữ cố định mô hình, tập bài và ngân sách hay không. Nhóm cũng theo dõi số lượt sửa, thời gian và nguyên nhân thất bại.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60 giây.</a:t>
            </a:r>
          </a:p>
          <a:p xmlns:a="http://schemas.openxmlformats.org/drawingml/2006/main">
            <a:r>
              <a:t>Đầu tiên, nhóm lấy đặc tả gốc và nhận diện dạng bài để gợi ý cấu trúc. LLM sinh mã Dafny. Hệ thống chuẩn hóa cú pháp và SpecLocker kiểm tra rằng đặc tả gốc không bị thay đổi. Sau đó Dafny/Z3 xác minh ứng viên. Nếu đạt, báo Verified theo đặc tả. Nếu chưa đạt, Diagnostic Parser phân loại lỗi rồi gửi phản hồi cho lượt sửa tiếp theo, tối đa K lượt. Pipeline có nhánh trích xuất phản ví dụ, nhưng không phải lỗi nào cũng có phản ví dụ; phần đó cần được đo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Đây là số liệu của một lần chạy đối chứng ngày 15 tháng 10 lúc 14:34 trên cùng bộ 30 bài, cùng mô hình Qwen2.5-Coder-7B và tối đa ba lượt. Baseline nội bộ đạt 5/30 ở Pass@1 và 6/30 ở Pass@3; pipeline đầy đủ đạt tương ứng 28/30 và 29/30. Chênh lệch giữa hai cấu hình là 76,6 và 76,7 điểm phần trăm. Không diễn giải mức tăng này là kết quả của riêng hai vòng sửa: trong pipeline đầy đủ, lượt sửa chỉ cứu thêm một bài, 031-is-prime, làm Pass@1 tăng từ 93,3% lên Pass@3 96,7%. Đây là một lần chạy sơ bộ; chưa đủ cơ sở khái quát hóa hoặc quy tác động cho từng module. Baseline được gọi là baseline nội bộ Clover-style, không khẳng định tái lập chính xác phương pháp Clover gốc. Có thể bổ sung ảnh log thật của hai lượt 031-is-prime nếu cần minh họa.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Giai đoạn một chốt manifest, nguồn, đặc tả và mẫu số. Giai đoạn hai chạy ba cấu hình: sinh một lần, sửa theo thông báo lỗi Dafny, và pipeline đầy đủ. So sánh phải giữ cùng tập bài, mô hình, prompt cơ sở, K và timeout. Giai đoạn ba phân tích Pass@1, Pass@K, thời gian, token và loại lỗi. Cuối cùng lưu log để tái lập và viết báo cáo.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a:t>
            </a:r>
          </a:p>
          <a:p xmlns:a="http://schemas.openxmlformats.org/drawingml/2006/main">
            <a:r>
              <a:t>Đầu ra gồm prototype, benchmark có manifest, dữ liệu và log, cùng báo cáo NCKH. Bản thảo bài báo là mục tiêu nếu phù hợp thời hạn và quy định. Giới hạn hiện tại là tập bài nhỏ, một lần chạy, và kết quả phụ thuộc độ đúng đủ của đặc tả. Nhóm xin góp ý về benchmark, baseline và tiêu chí nghiệm thu. Em xin cảm ơn Thầy Cô.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7dc1755c5047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65adbaa67d40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7b75da157642a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2e3e21b39d4a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c42edaf05c42e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5e7f8217434a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69A486-F74D-428A-979F-6ED19ED8C3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F0280C-2BA7-47FD-89A9-5653F4BDFF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F346CD-7746-4EB1-B0FF-282C23BC0F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1639A4-313C-47AF-BBC7-FD52F6D07A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0D4909-DAD6-4CC8-A062-D296413C06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71D97B-1E57-4561-963F-88475AD238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7D8316-2496-4B61-B3D0-8D765D090C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97CE04-3FA3-4667-A7E7-409D5D559B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B7B4C8-196F-4545-A945-380ED8C442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B7A75B-3C21-439C-893B-37B5965A8D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66bcfbf62a4583" /><Relationship Type="http://schemas.openxmlformats.org/officeDocument/2006/relationships/slideLayout" Target="/ppt/slideLayouts/slideLayout1.xml" Id="R51f2583105cb4034" /><Relationship Type="http://schemas.openxmlformats.org/officeDocument/2006/relationships/slideLayout" Target="/ppt/slideLayouts/slideLayout2.xml" Id="R8dd3835bf2b146f0" /><Relationship Type="http://schemas.openxmlformats.org/officeDocument/2006/relationships/slideLayout" Target="/ppt/slideLayouts/slideLayout3.xml" Id="R4f3d6a625e97471d" /><Relationship Type="http://schemas.openxmlformats.org/officeDocument/2006/relationships/slideLayout" Target="/ppt/slideLayouts/slideLayout4.xml" Id="R84d17ffa92bc49a7" /><Relationship Type="http://schemas.openxmlformats.org/officeDocument/2006/relationships/slideLayout" Target="/ppt/slideLayouts/slideLayout5.xml" Id="Rb033447884214f4b" /><Relationship Type="http://schemas.openxmlformats.org/officeDocument/2006/relationships/slideLayout" Target="/ppt/slideLayouts/slideLayout6.xml" Id="R58a1e2a3cecc4d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f2583105cb4034"/>
    <p:sldLayoutId xmlns:r="http://schemas.openxmlformats.org/officeDocument/2006/relationships" id="2147483650" r:id="R8dd3835bf2b146f0"/>
    <p:sldLayoutId xmlns:r="http://schemas.openxmlformats.org/officeDocument/2006/relationships" id="2147483651" r:id="R4f3d6a625e97471d"/>
    <p:sldLayoutId xmlns:r="http://schemas.openxmlformats.org/officeDocument/2006/relationships" id="2147483652" r:id="R84d17ffa92bc49a7"/>
    <p:sldLayoutId xmlns:r="http://schemas.openxmlformats.org/officeDocument/2006/relationships" id="2147483653" r:id="Rb033447884214f4b"/>
    <p:sldLayoutId xmlns:r="http://schemas.openxmlformats.org/officeDocument/2006/relationships" id="2147483654" r:id="R58a1e2a3cecc4d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b59947f1d543ef" /><Relationship Type="http://schemas.openxmlformats.org/officeDocument/2006/relationships/notesSlide" Target="/ppt/notesSlides/notesSlide1.xml" Id="R6e4c0c5d54df4e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e4e3ccab3341f7" /><Relationship Type="http://schemas.openxmlformats.org/officeDocument/2006/relationships/notesSlide" Target="/ppt/notesSlides/notesSlide2.xml" Id="R90c6977b0a0443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be5c83913240c9" /><Relationship Type="http://schemas.openxmlformats.org/officeDocument/2006/relationships/notesSlide" Target="/ppt/notesSlides/notesSlide3.xml" Id="R7e88c87d84b24a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ef7db9e5804c0f" /><Relationship Type="http://schemas.openxmlformats.org/officeDocument/2006/relationships/notesSlide" Target="/ppt/notesSlides/notesSlide4.xml" Id="Rc08e1d50348244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680caf224347b8" /><Relationship Type="http://schemas.openxmlformats.org/officeDocument/2006/relationships/notesSlide" Target="/ppt/notesSlides/notesSlide5.xml" Id="R7766c2dbedc74a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da0c6a8d8b4ba2" /><Relationship Type="http://schemas.openxmlformats.org/officeDocument/2006/relationships/notesSlide" Target="/ppt/notesSlides/notesSlide6.xml" Id="R13e55fd8a2234f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b9a155f14e416e" /><Relationship Type="http://schemas.openxmlformats.org/officeDocument/2006/relationships/notesSlide" Target="/ppt/notesSlides/notesSlide7.xml" Id="Rac8178efc39b4694" /></Relationships>
</file>

<file path=ppt/slides/slide1.xml><?xml version="1.0" encoding="utf-8"?>
<p:sld xmlns:p="http://schemas.openxmlformats.org/presentationml/2006/main">
  <p:cSld>
    <p:bg>
      <p:bgPr>
        <a:solidFill xmlns:a="http://schemas.openxmlformats.org/drawingml/2006/main">
          <a:srgbClr val="14233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9808E7-F49D-4A17-BD09-2DB2B25ACD2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97E342-FA9F-4353-ABAC-FEA12BC73183}"/>
              </a:ext>
            </a:extLst>
          </p:cNvPr>
          <p:cNvSpPr>
            <a:spLocks xmlns:a="http://schemas.openxmlformats.org/drawingml/2006/main" noGrp="1"/>
          </p:cNvSpPr>
          <p:nvPr/>
        </p:nvSpPr>
        <p:spPr>
          <a:xfrm xmlns:a="http://schemas.openxmlformats.org/drawingml/2006/main">
            <a:off x="685800" y="5524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CC8FF"/>
                </a:solidFill>
                <a:latin typeface="Arial"/>
                <a:ea typeface="Arial"/>
                <a:cs typeface="Arial"/>
              </a:defRPr>
            </a:defPPr>
          </a:lstStyle>
          <a:p xmlns:a="http://schemas.openxmlformats.org/drawingml/2006/main">
            <a:pPr algn="l">
              <a:lnSpc>
                <a:spcPct val="100000"/>
              </a:lnSpc>
              <a:buNone/>
              <a:defRPr sz="1200" b="1">
                <a:solidFill>
                  <a:srgbClr val="8CC8FF"/>
                </a:solidFill>
                <a:latin typeface="Arial"/>
                <a:ea typeface="Arial"/>
                <a:cs typeface="Arial"/>
              </a:defRPr>
            </a:pPr>
            <a:r>
              <a:rPr sz="1200" b="1">
                <a:solidFill>
                  <a:srgbClr val="8CC8FF"/>
                </a:solidFill>
                <a:latin typeface="Arial"/>
                <a:ea typeface="Arial"/>
                <a:cs typeface="Arial"/>
              </a:rPr>
              <a:t>NGHIÊN CỨU KHOA HỌC SINH VIÊN 2026</a:t>
            </a:r>
          </a:p>
        </p:txBody>
      </p:sp>
      <p:sp>
        <p:nvSpPr>
          <p:cNvPr id="3" name="">
            <a:extLst xmlns:a="http://schemas.openxmlformats.org/drawingml/2006/main">
              <a:ext uri="{FF2B5EF4-FFF2-40B4-BE49-F238E27FC236}">
                <a16:creationId xmlns:a16="http://schemas.microsoft.com/office/drawing/2014/main" id="{467B8CE5-F4A5-41CA-9B46-C40C50679D56}"/>
              </a:ext>
            </a:extLst>
          </p:cNvPr>
          <p:cNvSpPr>
            <a:spLocks xmlns:a="http://schemas.openxmlformats.org/drawingml/2006/main" noGrp="1"/>
          </p:cNvSpPr>
          <p:nvPr/>
        </p:nvSpPr>
        <p:spPr>
          <a:xfrm xmlns:a="http://schemas.openxmlformats.org/drawingml/2006/main">
            <a:off x="685800" y="1257300"/>
            <a:ext cx="10001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Nghiên cứu khung sinh mã nguồn</a:t>
            </a:r>
          </a:p>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và tự sửa lỗi tự động loại bỏ ảo giác</a:t>
            </a:r>
          </a:p>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dựa trên kiểm định logic hình thức</a:t>
            </a:r>
          </a:p>
        </p:txBody>
      </p:sp>
      <p:sp>
        <p:nvSpPr>
          <p:cNvPr id="4" name="">
            <a:extLst xmlns:a="http://schemas.openxmlformats.org/drawingml/2006/main">
              <a:ext uri="{FF2B5EF4-FFF2-40B4-BE49-F238E27FC236}">
                <a16:creationId xmlns:a16="http://schemas.microsoft.com/office/drawing/2014/main" id="{1ADBA050-2CAC-46E7-A5D9-5C87F2F38B4D}"/>
              </a:ext>
            </a:extLst>
          </p:cNvPr>
          <p:cNvSpPr>
            <a:spLocks xmlns:a="http://schemas.openxmlformats.org/drawingml/2006/main" noGrp="1"/>
          </p:cNvSpPr>
          <p:nvPr/>
        </p:nvSpPr>
        <p:spPr>
          <a:xfrm xmlns:a="http://schemas.openxmlformats.org/drawingml/2006/main">
            <a:off x="704850" y="337185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9D8E8"/>
                </a:solidFill>
                <a:latin typeface="Arial"/>
                <a:ea typeface="Arial"/>
                <a:cs typeface="Arial"/>
              </a:defRPr>
            </a:defPPr>
          </a:lstStyle>
          <a:p xmlns:a="http://schemas.openxmlformats.org/drawingml/2006/main">
            <a:pPr algn="l">
              <a:lnSpc>
                <a:spcPct val="100000"/>
              </a:lnSpc>
              <a:buNone/>
              <a:defRPr sz="1800" b="0">
                <a:solidFill>
                  <a:srgbClr val="A9D8E8"/>
                </a:solidFill>
                <a:latin typeface="Arial"/>
                <a:ea typeface="Arial"/>
                <a:cs typeface="Arial"/>
              </a:defRPr>
            </a:pPr>
            <a:r>
              <a:rPr sz="1800" b="0">
                <a:solidFill>
                  <a:srgbClr val="A9D8E8"/>
                </a:solidFill>
                <a:latin typeface="Arial"/>
                <a:ea typeface="Arial"/>
                <a:cs typeface="Arial"/>
              </a:rPr>
              <a:t>Formal Verification-in-the-Loop</a:t>
            </a:r>
          </a:p>
        </p:txBody>
      </p:sp>
      <p:sp>
        <p:nvSpPr>
          <p:cNvPr id="5" name="">
            <a:extLst xmlns:a="http://schemas.openxmlformats.org/drawingml/2006/main">
              <a:ext uri="{FF2B5EF4-FFF2-40B4-BE49-F238E27FC236}">
                <a16:creationId xmlns:a16="http://schemas.microsoft.com/office/drawing/2014/main" id="{FC90D514-DFB5-40AB-BE01-184C55AF8DDB}"/>
              </a:ext>
            </a:extLst>
          </p:cNvPr>
          <p:cNvSpPr>
            <a:spLocks xmlns:a="http://schemas.openxmlformats.org/drawingml/2006/main" noGrp="1"/>
          </p:cNvSpPr>
          <p:nvPr/>
        </p:nvSpPr>
        <p:spPr>
          <a:xfrm xmlns:a="http://schemas.openxmlformats.org/drawingml/2006/main">
            <a:off x="704850" y="4000500"/>
            <a:ext cx="4762500" cy="0"/>
          </a:xfrm>
          <a:prstGeom xmlns:a="http://schemas.openxmlformats.org/drawingml/2006/main" prst="line">
            <a:avLst/>
          </a:prstGeom>
          <a:noFill xmlns:a="http://schemas.openxmlformats.org/drawingml/2006/main"/>
          <a:ln xmlns:a="http://schemas.openxmlformats.org/drawingml/2006/main" w="9525">
            <a:solidFill>
              <a:srgbClr val="496078"/>
            </a:solidFill>
            <a:prstDash val="solid"/>
          </a:ln>
        </p:spPr>
      </p:sp>
      <p:sp>
        <p:nvSpPr>
          <p:cNvPr id="6" name="">
            <a:extLst xmlns:a="http://schemas.openxmlformats.org/drawingml/2006/main">
              <a:ext uri="{FF2B5EF4-FFF2-40B4-BE49-F238E27FC236}">
                <a16:creationId xmlns:a16="http://schemas.microsoft.com/office/drawing/2014/main" id="{718A297A-74A3-4633-BC6B-058F657A2D96}"/>
              </a:ext>
            </a:extLst>
          </p:cNvPr>
          <p:cNvSpPr>
            <a:spLocks xmlns:a="http://schemas.openxmlformats.org/drawingml/2006/main" noGrp="1"/>
          </p:cNvSpPr>
          <p:nvPr/>
        </p:nvSpPr>
        <p:spPr>
          <a:xfrm xmlns:a="http://schemas.openxmlformats.org/drawingml/2006/main">
            <a:off x="704850" y="4248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9FB2C6"/>
                </a:solidFill>
                <a:latin typeface="Arial"/>
                <a:ea typeface="Arial"/>
                <a:cs typeface="Arial"/>
              </a:defRPr>
            </a:defPPr>
          </a:lstStyle>
          <a:p xmlns:a="http://schemas.openxmlformats.org/drawingml/2006/main">
            <a:pPr algn="l">
              <a:lnSpc>
                <a:spcPct val="100000"/>
              </a:lnSpc>
              <a:buNone/>
              <a:defRPr sz="1125" b="0">
                <a:solidFill>
                  <a:srgbClr val="9FB2C6"/>
                </a:solidFill>
                <a:latin typeface="Arial"/>
                <a:ea typeface="Arial"/>
                <a:cs typeface="Arial"/>
              </a:defRPr>
            </a:pPr>
            <a:r>
              <a:rPr sz="1125" b="0">
                <a:solidFill>
                  <a:srgbClr val="9FB2C6"/>
                </a:solidFill>
                <a:latin typeface="Arial"/>
                <a:ea typeface="Arial"/>
                <a:cs typeface="Arial"/>
              </a:rPr>
              <a:t>GV hướng dẫn</a:t>
            </a:r>
          </a:p>
        </p:txBody>
      </p:sp>
      <p:sp>
        <p:nvSpPr>
          <p:cNvPr id="7" name="">
            <a:extLst xmlns:a="http://schemas.openxmlformats.org/drawingml/2006/main">
              <a:ext uri="{FF2B5EF4-FFF2-40B4-BE49-F238E27FC236}">
                <a16:creationId xmlns:a16="http://schemas.microsoft.com/office/drawing/2014/main" id="{35695285-088E-44AA-A6F7-E36162C2E622}"/>
              </a:ext>
            </a:extLst>
          </p:cNvPr>
          <p:cNvSpPr>
            <a:spLocks xmlns:a="http://schemas.openxmlformats.org/drawingml/2006/main" noGrp="1"/>
          </p:cNvSpPr>
          <p:nvPr/>
        </p:nvSpPr>
        <p:spPr>
          <a:xfrm xmlns:a="http://schemas.openxmlformats.org/drawingml/2006/main">
            <a:off x="704850" y="45243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ThS. Bùi Phú Khuyên</a:t>
            </a:r>
          </a:p>
        </p:txBody>
      </p:sp>
      <p:sp>
        <p:nvSpPr>
          <p:cNvPr id="8" name="">
            <a:extLst xmlns:a="http://schemas.openxmlformats.org/drawingml/2006/main">
              <a:ext uri="{FF2B5EF4-FFF2-40B4-BE49-F238E27FC236}">
                <a16:creationId xmlns:a16="http://schemas.microsoft.com/office/drawing/2014/main" id="{E072A538-D300-4BF5-8CE5-297C0D57A881}"/>
              </a:ext>
            </a:extLst>
          </p:cNvPr>
          <p:cNvSpPr>
            <a:spLocks xmlns:a="http://schemas.openxmlformats.org/drawingml/2006/main" noGrp="1"/>
          </p:cNvSpPr>
          <p:nvPr/>
        </p:nvSpPr>
        <p:spPr>
          <a:xfrm xmlns:a="http://schemas.openxmlformats.org/drawingml/2006/main">
            <a:off x="704850" y="5153025"/>
            <a:ext cx="666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DCE6F0"/>
                </a:solidFill>
                <a:latin typeface="Arial"/>
                <a:ea typeface="Arial"/>
                <a:cs typeface="Arial"/>
              </a:defRPr>
            </a:defPPr>
          </a:lstStyle>
          <a:p xmlns:a="http://schemas.openxmlformats.org/drawingml/2006/main">
            <a:pPr algn="l">
              <a:lnSpc>
                <a:spcPct val="120000"/>
              </a:lnSpc>
              <a:buNone/>
              <a:defRPr sz="1350" b="0">
                <a:solidFill>
                  <a:srgbClr val="DCE6F0"/>
                </a:solidFill>
                <a:latin typeface="Arial"/>
                <a:ea typeface="Arial"/>
                <a:cs typeface="Arial"/>
              </a:defRPr>
            </a:pPr>
            <a:r>
              <a:rPr sz="1350" b="0">
                <a:solidFill>
                  <a:srgbClr val="DCE6F0"/>
                </a:solidFill>
                <a:latin typeface="Arial"/>
                <a:ea typeface="Arial"/>
                <a:cs typeface="Arial"/>
              </a:rPr>
              <a:t>Nguyễn Võ Lê Khoa  ·  Trần Thanh Hiệp</a:t>
            </a:r>
          </a:p>
          <a:p xmlns:a="http://schemas.openxmlformats.org/drawingml/2006/main">
            <a:pPr algn="l">
              <a:lnSpc>
                <a:spcPct val="120000"/>
              </a:lnSpc>
              <a:buNone/>
              <a:defRPr sz="1350" b="0">
                <a:solidFill>
                  <a:srgbClr val="DCE6F0"/>
                </a:solidFill>
                <a:latin typeface="Arial"/>
                <a:ea typeface="Arial"/>
                <a:cs typeface="Arial"/>
              </a:defRPr>
            </a:pPr>
            <a:r>
              <a:rPr sz="1350" b="0">
                <a:solidFill>
                  <a:srgbClr val="DCE6F0"/>
                </a:solidFill>
                <a:latin typeface="Arial"/>
                <a:ea typeface="Arial"/>
                <a:cs typeface="Arial"/>
              </a:rPr>
              <a:t>Nguyễn Thành Nhất Nam  ·  Trần Đức Huy</a:t>
            </a:r>
          </a:p>
        </p:txBody>
      </p:sp>
      <p:sp>
        <p:nvSpPr>
          <p:cNvPr id="9" name="">
            <a:extLst xmlns:a="http://schemas.openxmlformats.org/drawingml/2006/main">
              <a:ext uri="{FF2B5EF4-FFF2-40B4-BE49-F238E27FC236}">
                <a16:creationId xmlns:a16="http://schemas.microsoft.com/office/drawing/2014/main" id="{036C1388-7D68-4AD0-B735-A7FBD828A2AA}"/>
              </a:ext>
            </a:extLst>
          </p:cNvPr>
          <p:cNvSpPr>
            <a:spLocks xmlns:a="http://schemas.openxmlformats.org/drawingml/2006/main" noGrp="1"/>
          </p:cNvSpPr>
          <p:nvPr/>
        </p:nvSpPr>
        <p:spPr>
          <a:xfrm xmlns:a="http://schemas.openxmlformats.org/drawingml/2006/main">
            <a:off x="7848600" y="5829300"/>
            <a:ext cx="3524250" cy="304800"/>
          </a:xfrm>
          <a:prstGeom xmlns:a="http://schemas.openxmlformats.org/drawingml/2006/main" prst="roundRect">
            <a:avLst>
              <a:gd name="adj" fmla="val 50000"/>
            </a:avLst>
          </a:prstGeom>
          <a:solidFill xmlns:a="http://schemas.openxmlformats.org/drawingml/2006/main">
            <a:srgbClr val="20385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6A31CE-1792-4104-BFF7-4666539915EF}"/>
              </a:ext>
            </a:extLst>
          </p:cNvPr>
          <p:cNvSpPr>
            <a:spLocks xmlns:a="http://schemas.openxmlformats.org/drawingml/2006/main" noGrp="1"/>
          </p:cNvSpPr>
          <p:nvPr/>
        </p:nvSpPr>
        <p:spPr>
          <a:xfrm xmlns:a="http://schemas.openxmlformats.org/drawingml/2006/main">
            <a:off x="7943850" y="583882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A9D8E8"/>
                </a:solidFill>
                <a:latin typeface="Arial"/>
                <a:ea typeface="Arial"/>
                <a:cs typeface="Arial"/>
              </a:defRPr>
            </a:defPPr>
          </a:lstStyle>
          <a:p xmlns:a="http://schemas.openxmlformats.org/drawingml/2006/main">
            <a:pPr algn="ctr">
              <a:lnSpc>
                <a:spcPct val="100000"/>
              </a:lnSpc>
              <a:buNone/>
              <a:defRPr sz="1050" b="1">
                <a:solidFill>
                  <a:srgbClr val="A9D8E8"/>
                </a:solidFill>
                <a:latin typeface="Arial"/>
                <a:ea typeface="Arial"/>
                <a:cs typeface="Arial"/>
              </a:defRPr>
            </a:pPr>
            <a:r>
              <a:rPr sz="1050" b="1">
                <a:solidFill>
                  <a:srgbClr val="A9D8E8"/>
                </a:solidFill>
                <a:latin typeface="Arial"/>
                <a:ea typeface="Arial"/>
                <a:cs typeface="Arial"/>
              </a:rPr>
              <a:t>THUYẾT TRÌNH: NGUYỄN VÕ LÊ KHOA</a:t>
            </a:r>
          </a:p>
        </p:txBody>
      </p:sp>
    </p:spTree>
    <p:extLst>
      <p:ext uri="{BB962C8B-B14F-4D97-AF65-F5344CB8AC3E}">
        <p14:creationId xmlns:p14="http://schemas.microsoft.com/office/powerpoint/2010/main" val="53575319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BD38DA-8C2A-4127-819B-C72FC24535F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3BABBF-69E1-490F-8B1A-60CAE646FDB8}"/>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E74CF2A3-D523-4FEA-9750-4E3541A0247B}"/>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Vấn đề nghiên cứu</a:t>
            </a:r>
          </a:p>
        </p:txBody>
      </p:sp>
      <p:sp>
        <p:nvSpPr>
          <p:cNvPr id="4" name="">
            <a:extLst xmlns:a="http://schemas.openxmlformats.org/drawingml/2006/main">
              <a:ext uri="{FF2B5EF4-FFF2-40B4-BE49-F238E27FC236}">
                <a16:creationId xmlns:a16="http://schemas.microsoft.com/office/drawing/2014/main" id="{86B0698E-A5C9-401B-BE28-50A3E007FA9D}"/>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5CD0D54E-4136-4134-A173-C18109A8AC17}"/>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02  /  07</a:t>
            </a:r>
          </a:p>
        </p:txBody>
      </p:sp>
      <p:sp>
        <p:nvSpPr>
          <p:cNvPr id="6" name="">
            <a:extLst xmlns:a="http://schemas.openxmlformats.org/drawingml/2006/main">
              <a:ext uri="{FF2B5EF4-FFF2-40B4-BE49-F238E27FC236}">
                <a16:creationId xmlns:a16="http://schemas.microsoft.com/office/drawing/2014/main" id="{22264220-8864-4AF5-B360-D9CC718D296C}"/>
              </a:ext>
            </a:extLst>
          </p:cNvPr>
          <p:cNvSpPr>
            <a:spLocks xmlns:a="http://schemas.openxmlformats.org/drawingml/2006/main" noGrp="1"/>
          </p:cNvSpPr>
          <p:nvPr/>
        </p:nvSpPr>
        <p:spPr>
          <a:xfrm xmlns:a="http://schemas.openxmlformats.org/drawingml/2006/main">
            <a:off x="590550" y="156210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4233B"/>
                </a:solidFill>
                <a:latin typeface="Arial"/>
                <a:ea typeface="Arial"/>
                <a:cs typeface="Arial"/>
              </a:defRPr>
            </a:defPPr>
          </a:lstStyle>
          <a:p xmlns:a="http://schemas.openxmlformats.org/drawingml/2006/main">
            <a:pPr algn="l">
              <a:lnSpc>
                <a:spcPct val="100000"/>
              </a:lnSpc>
              <a:buNone/>
              <a:defRPr sz="1875" b="1">
                <a:solidFill>
                  <a:srgbClr val="14233B"/>
                </a:solidFill>
                <a:latin typeface="Arial"/>
                <a:ea typeface="Arial"/>
                <a:cs typeface="Arial"/>
              </a:defRPr>
            </a:pPr>
            <a:r>
              <a:rPr sz="1875" b="1">
                <a:solidFill>
                  <a:srgbClr val="14233B"/>
                </a:solidFill>
                <a:latin typeface="Arial"/>
                <a:ea typeface="Arial"/>
                <a:cs typeface="Arial"/>
              </a:rPr>
              <a:t>Mã do LLM sinh có thể chạy qua một số ca thử nhưng vẫn vi phạm yêu cầu ở trường hợp khác.</a:t>
            </a:r>
          </a:p>
        </p:txBody>
      </p:sp>
      <p:sp>
        <p:nvSpPr>
          <p:cNvPr id="7" name="">
            <a:extLst xmlns:a="http://schemas.openxmlformats.org/drawingml/2006/main">
              <a:ext uri="{FF2B5EF4-FFF2-40B4-BE49-F238E27FC236}">
                <a16:creationId xmlns:a16="http://schemas.microsoft.com/office/drawing/2014/main" id="{41F399A3-D30D-4BF1-885A-954A73E418A4}"/>
              </a:ext>
            </a:extLst>
          </p:cNvPr>
          <p:cNvSpPr>
            <a:spLocks xmlns:a="http://schemas.openxmlformats.org/drawingml/2006/main" noGrp="1"/>
          </p:cNvSpPr>
          <p:nvPr/>
        </p:nvSpPr>
        <p:spPr>
          <a:xfrm xmlns:a="http://schemas.openxmlformats.org/drawingml/2006/main">
            <a:off x="590550" y="2476500"/>
            <a:ext cx="4762500" cy="25146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42ED8F8B-722D-40CA-BB57-4A6C18944283}"/>
              </a:ext>
            </a:extLst>
          </p:cNvPr>
          <p:cNvSpPr>
            <a:spLocks xmlns:a="http://schemas.openxmlformats.org/drawingml/2006/main" noGrp="1"/>
          </p:cNvSpPr>
          <p:nvPr/>
        </p:nvSpPr>
        <p:spPr>
          <a:xfrm xmlns:a="http://schemas.openxmlformats.org/drawingml/2006/main">
            <a:off x="876300" y="2724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563EB"/>
                </a:solidFill>
                <a:latin typeface="Arial"/>
                <a:ea typeface="Arial"/>
                <a:cs typeface="Arial"/>
              </a:defRPr>
            </a:defPPr>
          </a:lstStyle>
          <a:p xmlns:a="http://schemas.openxmlformats.org/drawingml/2006/main">
            <a:pPr algn="l">
              <a:lnSpc>
                <a:spcPct val="100000"/>
              </a:lnSpc>
              <a:buNone/>
              <a:defRPr sz="1275" b="1">
                <a:solidFill>
                  <a:srgbClr val="2563EB"/>
                </a:solidFill>
                <a:latin typeface="Arial"/>
                <a:ea typeface="Arial"/>
                <a:cs typeface="Arial"/>
              </a:defRPr>
            </a:pPr>
            <a:r>
              <a:rPr sz="1275" b="1">
                <a:solidFill>
                  <a:srgbClr val="2563EB"/>
                </a:solidFill>
                <a:latin typeface="Arial"/>
                <a:ea typeface="Arial"/>
                <a:cs typeface="Arial"/>
              </a:rPr>
              <a:t>KIỂM THỬ MẪU</a:t>
            </a:r>
          </a:p>
        </p:txBody>
      </p:sp>
      <p:sp>
        <p:nvSpPr>
          <p:cNvPr id="9" name="">
            <a:extLst xmlns:a="http://schemas.openxmlformats.org/drawingml/2006/main">
              <a:ext uri="{FF2B5EF4-FFF2-40B4-BE49-F238E27FC236}">
                <a16:creationId xmlns:a16="http://schemas.microsoft.com/office/drawing/2014/main" id="{02F2533B-E87F-40A8-8540-9E0117481555}"/>
              </a:ext>
            </a:extLst>
          </p:cNvPr>
          <p:cNvSpPr>
            <a:spLocks xmlns:a="http://schemas.openxmlformats.org/drawingml/2006/main" noGrp="1"/>
          </p:cNvSpPr>
          <p:nvPr/>
        </p:nvSpPr>
        <p:spPr>
          <a:xfrm xmlns:a="http://schemas.openxmlformats.org/drawingml/2006/main">
            <a:off x="876300" y="31908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00000"/>
              </a:lnSpc>
              <a:buNone/>
              <a:defRPr sz="1650" b="1">
                <a:solidFill>
                  <a:srgbClr val="14233B"/>
                </a:solidFill>
                <a:latin typeface="Arial"/>
                <a:ea typeface="Arial"/>
                <a:cs typeface="Arial"/>
              </a:defRPr>
            </a:pPr>
            <a:r>
              <a:rPr sz="1650" b="1">
                <a:solidFill>
                  <a:srgbClr val="14233B"/>
                </a:solidFill>
                <a:latin typeface="Arial"/>
                <a:ea typeface="Arial"/>
                <a:cs typeface="Arial"/>
              </a:rPr>
              <a:t>Kiểm tra các đầu vào đã chọn</a:t>
            </a:r>
          </a:p>
        </p:txBody>
      </p:sp>
      <p:sp>
        <p:nvSpPr>
          <p:cNvPr id="10" name="">
            <a:extLst xmlns:a="http://schemas.openxmlformats.org/drawingml/2006/main">
              <a:ext uri="{FF2B5EF4-FFF2-40B4-BE49-F238E27FC236}">
                <a16:creationId xmlns:a16="http://schemas.microsoft.com/office/drawing/2014/main" id="{DE99F21D-44B4-495F-9C2A-EC245455939A}"/>
              </a:ext>
            </a:extLst>
          </p:cNvPr>
          <p:cNvSpPr>
            <a:spLocks xmlns:a="http://schemas.openxmlformats.org/drawingml/2006/main" noGrp="1"/>
          </p:cNvSpPr>
          <p:nvPr/>
        </p:nvSpPr>
        <p:spPr>
          <a:xfrm xmlns:a="http://schemas.openxmlformats.org/drawingml/2006/main">
            <a:off x="876300" y="369570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47A"/>
                </a:solidFill>
                <a:latin typeface="Arial"/>
                <a:ea typeface="Arial"/>
                <a:cs typeface="Arial"/>
              </a:defRPr>
            </a:defPPr>
          </a:lstStyle>
          <a:p xmlns:a="http://schemas.openxmlformats.org/drawingml/2006/main">
            <a:pPr algn="l">
              <a:lnSpc>
                <a:spcPct val="115000"/>
              </a:lnSpc>
              <a:buNone/>
              <a:defRPr sz="1425" b="0">
                <a:solidFill>
                  <a:srgbClr val="52647A"/>
                </a:solidFill>
                <a:latin typeface="Arial"/>
                <a:ea typeface="Arial"/>
                <a:cs typeface="Arial"/>
              </a:defRPr>
            </a:pPr>
            <a:r>
              <a:rPr sz="1425" b="0">
                <a:solidFill>
                  <a:srgbClr val="52647A"/>
                </a:solidFill>
                <a:latin typeface="Arial"/>
                <a:ea typeface="Arial"/>
                <a:cs typeface="Arial"/>
              </a:rPr>
              <a:t>Có ích để phát hiện lỗi, nhưng không bao phủ hết mọi trường hợp đầu vào.</a:t>
            </a:r>
          </a:p>
        </p:txBody>
      </p:sp>
      <p:sp>
        <p:nvSpPr>
          <p:cNvPr id="11" name="">
            <a:extLst xmlns:a="http://schemas.openxmlformats.org/drawingml/2006/main">
              <a:ext uri="{FF2B5EF4-FFF2-40B4-BE49-F238E27FC236}">
                <a16:creationId xmlns:a16="http://schemas.microsoft.com/office/drawing/2014/main" id="{CF0B9055-D997-431E-A222-5432853CCCBD}"/>
              </a:ext>
            </a:extLst>
          </p:cNvPr>
          <p:cNvSpPr>
            <a:spLocks xmlns:a="http://schemas.openxmlformats.org/drawingml/2006/main" noGrp="1"/>
          </p:cNvSpPr>
          <p:nvPr/>
        </p:nvSpPr>
        <p:spPr>
          <a:xfrm xmlns:a="http://schemas.openxmlformats.org/drawingml/2006/main">
            <a:off x="5619750" y="2476500"/>
            <a:ext cx="5981700" cy="2514600"/>
          </a:xfrm>
          <a:prstGeom xmlns:a="http://schemas.openxmlformats.org/drawingml/2006/main" prst="roundRect">
            <a:avLst>
              <a:gd name="adj" fmla="val 6061"/>
            </a:avLst>
          </a:prstGeom>
          <a:solidFill xmlns:a="http://schemas.openxmlformats.org/drawingml/2006/main">
            <a:srgbClr val="E3F5F3"/>
          </a:solidFill>
          <a:ln xmlns:a="http://schemas.openxmlformats.org/drawingml/2006/main" w="9525">
            <a:solidFill>
              <a:srgbClr val="B8DFD9"/>
            </a:solidFill>
            <a:prstDash val="solid"/>
          </a:ln>
        </p:spPr>
      </p:sp>
      <p:sp>
        <p:nvSpPr>
          <p:cNvPr id="12" name="">
            <a:extLst xmlns:a="http://schemas.openxmlformats.org/drawingml/2006/main">
              <a:ext uri="{FF2B5EF4-FFF2-40B4-BE49-F238E27FC236}">
                <a16:creationId xmlns:a16="http://schemas.microsoft.com/office/drawing/2014/main" id="{3267BAE4-D059-440B-A96A-A413AF7A2E6D}"/>
              </a:ext>
            </a:extLst>
          </p:cNvPr>
          <p:cNvSpPr>
            <a:spLocks xmlns:a="http://schemas.openxmlformats.org/drawingml/2006/main" noGrp="1"/>
          </p:cNvSpPr>
          <p:nvPr/>
        </p:nvSpPr>
        <p:spPr>
          <a:xfrm xmlns:a="http://schemas.openxmlformats.org/drawingml/2006/main">
            <a:off x="5905500" y="27241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0F8B8D"/>
                </a:solidFill>
                <a:latin typeface="Arial"/>
                <a:ea typeface="Arial"/>
                <a:cs typeface="Arial"/>
              </a:defRPr>
            </a:defPPr>
          </a:lstStyle>
          <a:p xmlns:a="http://schemas.openxmlformats.org/drawingml/2006/main">
            <a:pPr algn="l">
              <a:lnSpc>
                <a:spcPct val="100000"/>
              </a:lnSpc>
              <a:buNone/>
              <a:defRPr sz="1275" b="1">
                <a:solidFill>
                  <a:srgbClr val="0F8B8D"/>
                </a:solidFill>
                <a:latin typeface="Arial"/>
                <a:ea typeface="Arial"/>
                <a:cs typeface="Arial"/>
              </a:defRPr>
            </a:pPr>
            <a:r>
              <a:rPr sz="1275" b="1">
                <a:solidFill>
                  <a:srgbClr val="0F8B8D"/>
                </a:solidFill>
                <a:latin typeface="Arial"/>
                <a:ea typeface="Arial"/>
                <a:cs typeface="Arial"/>
              </a:rPr>
              <a:t>KIỂM CHỨNG THEO ĐẶC TẢ</a:t>
            </a:r>
          </a:p>
        </p:txBody>
      </p:sp>
      <p:sp>
        <p:nvSpPr>
          <p:cNvPr id="13" name="">
            <a:extLst xmlns:a="http://schemas.openxmlformats.org/drawingml/2006/main">
              <a:ext uri="{FF2B5EF4-FFF2-40B4-BE49-F238E27FC236}">
                <a16:creationId xmlns:a16="http://schemas.microsoft.com/office/drawing/2014/main" id="{D16B996C-6722-4F4B-8296-4ACEAA822AE6}"/>
              </a:ext>
            </a:extLst>
          </p:cNvPr>
          <p:cNvSpPr>
            <a:spLocks xmlns:a="http://schemas.openxmlformats.org/drawingml/2006/main" noGrp="1"/>
          </p:cNvSpPr>
          <p:nvPr/>
        </p:nvSpPr>
        <p:spPr>
          <a:xfrm xmlns:a="http://schemas.openxmlformats.org/drawingml/2006/main">
            <a:off x="5905500" y="3190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00000"/>
              </a:lnSpc>
              <a:buNone/>
              <a:defRPr sz="1650" b="1">
                <a:solidFill>
                  <a:srgbClr val="14233B"/>
                </a:solidFill>
                <a:latin typeface="Arial"/>
                <a:ea typeface="Arial"/>
                <a:cs typeface="Arial"/>
              </a:defRPr>
            </a:pPr>
            <a:r>
              <a:rPr sz="1650" b="1">
                <a:solidFill>
                  <a:srgbClr val="14233B"/>
                </a:solidFill>
                <a:latin typeface="Arial"/>
                <a:ea typeface="Arial"/>
                <a:cs typeface="Arial"/>
              </a:rPr>
              <a:t>Dafny tạo nghĩa vụ chứng minh</a:t>
            </a:r>
          </a:p>
        </p:txBody>
      </p:sp>
      <p:sp>
        <p:nvSpPr>
          <p:cNvPr id="14" name="">
            <a:extLst xmlns:a="http://schemas.openxmlformats.org/drawingml/2006/main">
              <a:ext uri="{FF2B5EF4-FFF2-40B4-BE49-F238E27FC236}">
                <a16:creationId xmlns:a16="http://schemas.microsoft.com/office/drawing/2014/main" id="{92527E2A-4C43-4426-BEA1-765E4EE898F1}"/>
              </a:ext>
            </a:extLst>
          </p:cNvPr>
          <p:cNvSpPr>
            <a:spLocks xmlns:a="http://schemas.openxmlformats.org/drawingml/2006/main" noGrp="1"/>
          </p:cNvSpPr>
          <p:nvPr/>
        </p:nvSpPr>
        <p:spPr>
          <a:xfrm xmlns:a="http://schemas.openxmlformats.org/drawingml/2006/main">
            <a:off x="5905500" y="3695700"/>
            <a:ext cx="504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47A"/>
                </a:solidFill>
                <a:latin typeface="Arial"/>
                <a:ea typeface="Arial"/>
                <a:cs typeface="Arial"/>
              </a:defRPr>
            </a:defPPr>
          </a:lstStyle>
          <a:p xmlns:a="http://schemas.openxmlformats.org/drawingml/2006/main">
            <a:pPr algn="l">
              <a:lnSpc>
                <a:spcPct val="115000"/>
              </a:lnSpc>
              <a:buNone/>
              <a:defRPr sz="1425" b="0">
                <a:solidFill>
                  <a:srgbClr val="52647A"/>
                </a:solidFill>
                <a:latin typeface="Arial"/>
                <a:ea typeface="Arial"/>
                <a:cs typeface="Arial"/>
              </a:defRPr>
            </a:pPr>
            <a:r>
              <a:rPr sz="1425" b="0">
                <a:solidFill>
                  <a:srgbClr val="52647A"/>
                </a:solidFill>
                <a:latin typeface="Arial"/>
                <a:ea typeface="Arial"/>
                <a:cs typeface="Arial"/>
              </a:rPr>
              <a:t>Nếu verifier xác nhận, mã thỏa các điều kiện đã đặc tả trong phạm vi mô hình và giả định của Dafny.</a:t>
            </a:r>
          </a:p>
        </p:txBody>
      </p:sp>
      <p:sp>
        <p:nvSpPr>
          <p:cNvPr id="15" name="">
            <a:extLst xmlns:a="http://schemas.openxmlformats.org/drawingml/2006/main">
              <a:ext uri="{FF2B5EF4-FFF2-40B4-BE49-F238E27FC236}">
                <a16:creationId xmlns:a16="http://schemas.microsoft.com/office/drawing/2014/main" id="{B0AA9D27-9146-4847-8A75-A81A850B31AC}"/>
              </a:ext>
            </a:extLst>
          </p:cNvPr>
          <p:cNvSpPr>
            <a:spLocks xmlns:a="http://schemas.openxmlformats.org/drawingml/2006/main" noGrp="1"/>
          </p:cNvSpPr>
          <p:nvPr/>
        </p:nvSpPr>
        <p:spPr>
          <a:xfrm xmlns:a="http://schemas.openxmlformats.org/drawingml/2006/main">
            <a:off x="590550" y="50482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47A"/>
                </a:solidFill>
                <a:latin typeface="Arial"/>
                <a:ea typeface="Arial"/>
                <a:cs typeface="Arial"/>
              </a:defRPr>
            </a:defPPr>
          </a:lstStyle>
          <a:p xmlns:a="http://schemas.openxmlformats.org/drawingml/2006/main">
            <a:pPr algn="l">
              <a:lnSpc>
                <a:spcPct val="100000"/>
              </a:lnSpc>
              <a:buNone/>
              <a:defRPr sz="1200" b="0">
                <a:solidFill>
                  <a:srgbClr val="52647A"/>
                </a:solidFill>
                <a:latin typeface="Arial"/>
                <a:ea typeface="Arial"/>
                <a:cs typeface="Arial"/>
              </a:defRPr>
            </a:pPr>
            <a:r>
              <a:rPr sz="1200" b="0">
                <a:solidFill>
                  <a:srgbClr val="52647A"/>
                </a:solidFill>
                <a:latin typeface="Arial"/>
                <a:ea typeface="Arial"/>
                <a:cs typeface="Arial"/>
              </a:rPr>
              <a:t>Ví dụ: kiểm thử chọn vài đầu vào; đặc tả có thể nêu tính chất với mọi chỉ số hợp lệ.</a:t>
            </a:r>
          </a:p>
        </p:txBody>
      </p:sp>
      <p:sp>
        <p:nvSpPr>
          <p:cNvPr id="16" name="">
            <a:extLst xmlns:a="http://schemas.openxmlformats.org/drawingml/2006/main">
              <a:ext uri="{FF2B5EF4-FFF2-40B4-BE49-F238E27FC236}">
                <a16:creationId xmlns:a16="http://schemas.microsoft.com/office/drawing/2014/main" id="{3E7E27CC-CA5B-4F93-9694-C20A43CE6CC7}"/>
              </a:ext>
            </a:extLst>
          </p:cNvPr>
          <p:cNvSpPr>
            <a:spLocks xmlns:a="http://schemas.openxmlformats.org/drawingml/2006/main" noGrp="1"/>
          </p:cNvSpPr>
          <p:nvPr/>
        </p:nvSpPr>
        <p:spPr>
          <a:xfrm xmlns:a="http://schemas.openxmlformats.org/drawingml/2006/main">
            <a:off x="590550" y="5372100"/>
            <a:ext cx="5619750" cy="304800"/>
          </a:xfrm>
          <a:prstGeom xmlns:a="http://schemas.openxmlformats.org/drawingml/2006/main" prst="roundRect">
            <a:avLst>
              <a:gd name="adj" fmla="val 50000"/>
            </a:avLst>
          </a:prstGeom>
          <a:solidFill xmlns:a="http://schemas.openxmlformats.org/drawingml/2006/main">
            <a:srgbClr val="FFF2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728DBA-C371-434D-91D0-88B9BF563E4A}"/>
              </a:ext>
            </a:extLst>
          </p:cNvPr>
          <p:cNvSpPr>
            <a:spLocks xmlns:a="http://schemas.openxmlformats.org/drawingml/2006/main" noGrp="1"/>
          </p:cNvSpPr>
          <p:nvPr/>
        </p:nvSpPr>
        <p:spPr>
          <a:xfrm xmlns:a="http://schemas.openxmlformats.org/drawingml/2006/main">
            <a:off x="685800" y="53816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C47A11"/>
                </a:solidFill>
                <a:latin typeface="Arial"/>
                <a:ea typeface="Arial"/>
                <a:cs typeface="Arial"/>
              </a:defRPr>
            </a:defPPr>
          </a:lstStyle>
          <a:p xmlns:a="http://schemas.openxmlformats.org/drawingml/2006/main">
            <a:pPr algn="ctr">
              <a:lnSpc>
                <a:spcPct val="100000"/>
              </a:lnSpc>
              <a:buNone/>
              <a:defRPr sz="1050" b="1">
                <a:solidFill>
                  <a:srgbClr val="C47A11"/>
                </a:solidFill>
                <a:latin typeface="Arial"/>
                <a:ea typeface="Arial"/>
                <a:cs typeface="Arial"/>
              </a:defRPr>
            </a:pPr>
            <a:r>
              <a:rPr sz="1050" b="1">
                <a:solidFill>
                  <a:srgbClr val="C47A11"/>
                </a:solidFill>
                <a:latin typeface="Arial"/>
                <a:ea typeface="Arial"/>
                <a:cs typeface="Arial"/>
              </a:rPr>
              <a:t>ĐẶC TẢ ĐÚNG VÀ ĐỦ LÀ GIẢ ĐỊNH TRỌNG YẾU</a:t>
            </a:r>
          </a:p>
        </p:txBody>
      </p:sp>
      <p:sp>
        <p:nvSpPr>
          <p:cNvPr id="18" name="">
            <a:extLst xmlns:a="http://schemas.openxmlformats.org/drawingml/2006/main">
              <a:ext uri="{FF2B5EF4-FFF2-40B4-BE49-F238E27FC236}">
                <a16:creationId xmlns:a16="http://schemas.microsoft.com/office/drawing/2014/main" id="{4A77939C-2AC8-4E54-8879-E1B718AE1C92}"/>
              </a:ext>
            </a:extLst>
          </p:cNvPr>
          <p:cNvSpPr>
            <a:spLocks xmlns:a="http://schemas.openxmlformats.org/drawingml/2006/main" noGrp="1"/>
          </p:cNvSpPr>
          <p:nvPr/>
        </p:nvSpPr>
        <p:spPr>
          <a:xfrm xmlns:a="http://schemas.openxmlformats.org/drawingml/2006/main">
            <a:off x="590550" y="58483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47A"/>
                </a:solidFill>
                <a:latin typeface="Arial"/>
                <a:ea typeface="Arial"/>
                <a:cs typeface="Arial"/>
              </a:defRPr>
            </a:defPPr>
          </a:lstStyle>
          <a:p xmlns:a="http://schemas.openxmlformats.org/drawingml/2006/main">
            <a:pPr algn="l">
              <a:lnSpc>
                <a:spcPct val="100000"/>
              </a:lnSpc>
              <a:buNone/>
              <a:defRPr sz="1350" b="0">
                <a:solidFill>
                  <a:srgbClr val="52647A"/>
                </a:solidFill>
                <a:latin typeface="Arial"/>
                <a:ea typeface="Arial"/>
                <a:cs typeface="Arial"/>
              </a:defRPr>
            </a:pPr>
            <a:r>
              <a:rPr sz="1350" b="0">
                <a:solidFill>
                  <a:srgbClr val="52647A"/>
                </a:solidFill>
                <a:latin typeface="Arial"/>
                <a:ea typeface="Arial"/>
                <a:cs typeface="Arial"/>
              </a:rPr>
              <a:t>Xác minh theo đặc tả không tự chứng minh đặc tả phản ánh đầy đủ ý định người dùng.</a:t>
            </a:r>
          </a:p>
        </p:txBody>
      </p:sp>
    </p:spTree>
    <p:extLst>
      <p:ext uri="{BB962C8B-B14F-4D97-AF65-F5344CB8AC3E}">
        <p14:creationId xmlns:p14="http://schemas.microsoft.com/office/powerpoint/2010/main" val="154270087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8D72B95-911C-4D67-B042-F83FA2FA804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3C61F7-451A-43B1-934A-B7C4A9509A49}"/>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FCF80336-F94C-436C-BEB9-FE3CFE34F57E}"/>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Mục tiêu và câu hỏi nghiên cứu</a:t>
            </a:r>
          </a:p>
        </p:txBody>
      </p:sp>
      <p:sp>
        <p:nvSpPr>
          <p:cNvPr id="4" name="">
            <a:extLst xmlns:a="http://schemas.openxmlformats.org/drawingml/2006/main">
              <a:ext uri="{FF2B5EF4-FFF2-40B4-BE49-F238E27FC236}">
                <a16:creationId xmlns:a16="http://schemas.microsoft.com/office/drawing/2014/main" id="{416709CC-3156-45E1-BF05-811DC8011FF4}"/>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A00C3E42-D772-4D31-B692-65AE6CC06EED}"/>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03  /  07</a:t>
            </a:r>
          </a:p>
        </p:txBody>
      </p:sp>
      <p:sp>
        <p:nvSpPr>
          <p:cNvPr id="6" name="">
            <a:extLst xmlns:a="http://schemas.openxmlformats.org/drawingml/2006/main">
              <a:ext uri="{FF2B5EF4-FFF2-40B4-BE49-F238E27FC236}">
                <a16:creationId xmlns:a16="http://schemas.microsoft.com/office/drawing/2014/main" id="{B946E34A-7D79-4FC3-98EB-7D163D6E9C0D}"/>
              </a:ext>
            </a:extLst>
          </p:cNvPr>
          <p:cNvSpPr>
            <a:spLocks xmlns:a="http://schemas.openxmlformats.org/drawingml/2006/main" noGrp="1"/>
          </p:cNvSpPr>
          <p:nvPr/>
        </p:nvSpPr>
        <p:spPr>
          <a:xfrm xmlns:a="http://schemas.openxmlformats.org/drawingml/2006/main">
            <a:off x="590550" y="16383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lnSpc>
                <a:spcPct val="100000"/>
              </a:lnSpc>
              <a:buNone/>
              <a:defRPr sz="1350" b="1">
                <a:solidFill>
                  <a:srgbClr val="2563EB"/>
                </a:solidFill>
                <a:latin typeface="Arial"/>
                <a:ea typeface="Arial"/>
                <a:cs typeface="Arial"/>
              </a:defRPr>
            </a:pPr>
            <a:r>
              <a:rPr sz="1350" b="1">
                <a:solidFill>
                  <a:srgbClr val="2563EB"/>
                </a:solidFill>
                <a:latin typeface="Arial"/>
                <a:ea typeface="Arial"/>
                <a:cs typeface="Arial"/>
              </a:rPr>
              <a:t>Mục tiêu</a:t>
            </a:r>
          </a:p>
        </p:txBody>
      </p:sp>
      <p:sp>
        <p:nvSpPr>
          <p:cNvPr id="7" name="">
            <a:extLst xmlns:a="http://schemas.openxmlformats.org/drawingml/2006/main">
              <a:ext uri="{FF2B5EF4-FFF2-40B4-BE49-F238E27FC236}">
                <a16:creationId xmlns:a16="http://schemas.microsoft.com/office/drawing/2014/main" id="{D650B6B2-1DB2-4567-8AAD-C2221A43A6A1}"/>
              </a:ext>
            </a:extLst>
          </p:cNvPr>
          <p:cNvSpPr>
            <a:spLocks xmlns:a="http://schemas.openxmlformats.org/drawingml/2006/main" noGrp="1"/>
          </p:cNvSpPr>
          <p:nvPr/>
        </p:nvSpPr>
        <p:spPr>
          <a:xfrm xmlns:a="http://schemas.openxmlformats.org/drawingml/2006/main">
            <a:off x="590550" y="2028825"/>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4233B"/>
                </a:solidFill>
                <a:latin typeface="Arial"/>
                <a:ea typeface="Arial"/>
                <a:cs typeface="Arial"/>
              </a:defRPr>
            </a:defPPr>
          </a:lstStyle>
          <a:p xmlns:a="http://schemas.openxmlformats.org/drawingml/2006/main">
            <a:pPr algn="l">
              <a:lnSpc>
                <a:spcPct val="105000"/>
              </a:lnSpc>
              <a:buNone/>
              <a:defRPr sz="2250" b="1">
                <a:solidFill>
                  <a:srgbClr val="14233B"/>
                </a:solidFill>
                <a:latin typeface="Arial"/>
                <a:ea typeface="Arial"/>
                <a:cs typeface="Arial"/>
              </a:defRPr>
            </a:pPr>
            <a:r>
              <a:rPr sz="2250" b="1">
                <a:solidFill>
                  <a:srgbClr val="14233B"/>
                </a:solidFill>
                <a:latin typeface="Arial"/>
                <a:ea typeface="Arial"/>
                <a:cs typeface="Arial"/>
              </a:rPr>
              <a:t>Đánh giá liệu phản hồi từ Dafny/Z3 có giúp tăng tỷ lệ mã Dafny do LLM sinh được xác minh hay không.</a:t>
            </a:r>
          </a:p>
        </p:txBody>
      </p:sp>
      <p:sp>
        <p:nvSpPr>
          <p:cNvPr id="8" name="">
            <a:extLst xmlns:a="http://schemas.openxmlformats.org/drawingml/2006/main">
              <a:ext uri="{FF2B5EF4-FFF2-40B4-BE49-F238E27FC236}">
                <a16:creationId xmlns:a16="http://schemas.microsoft.com/office/drawing/2014/main" id="{00B275A7-E110-4EAC-B456-7AA648F59855}"/>
              </a:ext>
            </a:extLst>
          </p:cNvPr>
          <p:cNvSpPr>
            <a:spLocks xmlns:a="http://schemas.openxmlformats.org/drawingml/2006/main" noGrp="1"/>
          </p:cNvSpPr>
          <p:nvPr/>
        </p:nvSpPr>
        <p:spPr>
          <a:xfrm xmlns:a="http://schemas.openxmlformats.org/drawingml/2006/main">
            <a:off x="590550" y="315277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9" name="">
            <a:extLst xmlns:a="http://schemas.openxmlformats.org/drawingml/2006/main">
              <a:ext uri="{FF2B5EF4-FFF2-40B4-BE49-F238E27FC236}">
                <a16:creationId xmlns:a16="http://schemas.microsoft.com/office/drawing/2014/main" id="{8418265B-4A6A-4BE3-8875-6FA7BAF1B281}"/>
              </a:ext>
            </a:extLst>
          </p:cNvPr>
          <p:cNvSpPr>
            <a:spLocks xmlns:a="http://schemas.openxmlformats.org/drawingml/2006/main" noGrp="1"/>
          </p:cNvSpPr>
          <p:nvPr/>
        </p:nvSpPr>
        <p:spPr>
          <a:xfrm xmlns:a="http://schemas.openxmlformats.org/drawingml/2006/main">
            <a:off x="590550" y="33432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0F8B8D"/>
                </a:solidFill>
                <a:latin typeface="Arial"/>
                <a:ea typeface="Arial"/>
                <a:cs typeface="Arial"/>
              </a:defRPr>
            </a:defPPr>
          </a:lstStyle>
          <a:p xmlns:a="http://schemas.openxmlformats.org/drawingml/2006/main">
            <a:pPr algn="l">
              <a:lnSpc>
                <a:spcPct val="100000"/>
              </a:lnSpc>
              <a:buNone/>
              <a:defRPr sz="1350" b="1">
                <a:solidFill>
                  <a:srgbClr val="0F8B8D"/>
                </a:solidFill>
                <a:latin typeface="Arial"/>
                <a:ea typeface="Arial"/>
                <a:cs typeface="Arial"/>
              </a:defRPr>
            </a:pPr>
            <a:r>
              <a:rPr sz="1350" b="1">
                <a:solidFill>
                  <a:srgbClr val="0F8B8D"/>
                </a:solidFill>
                <a:latin typeface="Arial"/>
                <a:ea typeface="Arial"/>
                <a:cs typeface="Arial"/>
              </a:rPr>
              <a:t>Câu hỏi chính</a:t>
            </a:r>
          </a:p>
        </p:txBody>
      </p:sp>
      <p:sp>
        <p:nvSpPr>
          <p:cNvPr id="10" name="">
            <a:extLst xmlns:a="http://schemas.openxmlformats.org/drawingml/2006/main">
              <a:ext uri="{FF2B5EF4-FFF2-40B4-BE49-F238E27FC236}">
                <a16:creationId xmlns:a16="http://schemas.microsoft.com/office/drawing/2014/main" id="{8CE5E376-BEFC-4F6E-AB9A-8E82EA842236}"/>
              </a:ext>
            </a:extLst>
          </p:cNvPr>
          <p:cNvSpPr>
            <a:spLocks xmlns:a="http://schemas.openxmlformats.org/drawingml/2006/main" noGrp="1"/>
          </p:cNvSpPr>
          <p:nvPr/>
        </p:nvSpPr>
        <p:spPr>
          <a:xfrm xmlns:a="http://schemas.openxmlformats.org/drawingml/2006/main">
            <a:off x="590550" y="3724275"/>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14233B"/>
                </a:solidFill>
                <a:latin typeface="Arial"/>
                <a:ea typeface="Arial"/>
                <a:cs typeface="Arial"/>
              </a:defRPr>
            </a:defPPr>
          </a:lstStyle>
          <a:p xmlns:a="http://schemas.openxmlformats.org/drawingml/2006/main">
            <a:pPr algn="l">
              <a:lnSpc>
                <a:spcPct val="110000"/>
              </a:lnSpc>
              <a:buNone/>
              <a:defRPr sz="1875" b="0">
                <a:solidFill>
                  <a:srgbClr val="14233B"/>
                </a:solidFill>
                <a:latin typeface="Arial"/>
                <a:ea typeface="Arial"/>
                <a:cs typeface="Arial"/>
              </a:defRPr>
            </a:pPr>
            <a:r>
              <a:rPr sz="1875" b="0">
                <a:solidFill>
                  <a:srgbClr val="14233B"/>
                </a:solidFill>
                <a:latin typeface="Arial"/>
                <a:ea typeface="Arial"/>
                <a:cs typeface="Arial"/>
              </a:rPr>
              <a:t>Với cùng mô hình, tập bài và ngân sách tối đa K lượt, vòng lặp kiểm chứng có cải thiện Pass@K so với sinh một lần không?</a:t>
            </a:r>
          </a:p>
        </p:txBody>
      </p:sp>
      <p:sp>
        <p:nvSpPr>
          <p:cNvPr id="11" name="">
            <a:extLst xmlns:a="http://schemas.openxmlformats.org/drawingml/2006/main">
              <a:ext uri="{FF2B5EF4-FFF2-40B4-BE49-F238E27FC236}">
                <a16:creationId xmlns:a16="http://schemas.microsoft.com/office/drawing/2014/main" id="{0343DEF7-DCA4-4B78-B128-A62B63809175}"/>
              </a:ext>
            </a:extLst>
          </p:cNvPr>
          <p:cNvSpPr>
            <a:spLocks xmlns:a="http://schemas.openxmlformats.org/drawingml/2006/main" noGrp="1"/>
          </p:cNvSpPr>
          <p:nvPr/>
        </p:nvSpPr>
        <p:spPr>
          <a:xfrm xmlns:a="http://schemas.openxmlformats.org/drawingml/2006/main">
            <a:off x="590550" y="4610100"/>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F62FE371-1152-4278-AA41-D53800F90423}"/>
              </a:ext>
            </a:extLst>
          </p:cNvPr>
          <p:cNvSpPr>
            <a:spLocks xmlns:a="http://schemas.openxmlformats.org/drawingml/2006/main" noGrp="1"/>
          </p:cNvSpPr>
          <p:nvPr/>
        </p:nvSpPr>
        <p:spPr>
          <a:xfrm xmlns:a="http://schemas.openxmlformats.org/drawingml/2006/main">
            <a:off x="590550" y="48101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47A"/>
                </a:solidFill>
                <a:latin typeface="Arial"/>
                <a:ea typeface="Arial"/>
                <a:cs typeface="Arial"/>
              </a:defRPr>
            </a:defPPr>
          </a:lstStyle>
          <a:p xmlns:a="http://schemas.openxmlformats.org/drawingml/2006/main">
            <a:pPr algn="l">
              <a:lnSpc>
                <a:spcPct val="100000"/>
              </a:lnSpc>
              <a:buNone/>
              <a:defRPr sz="1275" b="1">
                <a:solidFill>
                  <a:srgbClr val="52647A"/>
                </a:solidFill>
                <a:latin typeface="Arial"/>
                <a:ea typeface="Arial"/>
                <a:cs typeface="Arial"/>
              </a:defRPr>
            </a:pPr>
            <a:r>
              <a:rPr sz="1275" b="1">
                <a:solidFill>
                  <a:srgbClr val="52647A"/>
                </a:solidFill>
                <a:latin typeface="Arial"/>
                <a:ea typeface="Arial"/>
                <a:cs typeface="Arial"/>
              </a:rPr>
              <a:t>Nhóm sẽ đo ba khía cạnh</a:t>
            </a:r>
          </a:p>
        </p:txBody>
      </p:sp>
      <p:sp>
        <p:nvSpPr>
          <p:cNvPr id="13" name="">
            <a:extLst xmlns:a="http://schemas.openxmlformats.org/drawingml/2006/main">
              <a:ext uri="{FF2B5EF4-FFF2-40B4-BE49-F238E27FC236}">
                <a16:creationId xmlns:a16="http://schemas.microsoft.com/office/drawing/2014/main" id="{538845F5-FA6D-46A4-8575-97F9EE7DACD0}"/>
              </a:ext>
            </a:extLst>
          </p:cNvPr>
          <p:cNvSpPr>
            <a:spLocks xmlns:a="http://schemas.openxmlformats.org/drawingml/2006/main" noGrp="1"/>
          </p:cNvSpPr>
          <p:nvPr/>
        </p:nvSpPr>
        <p:spPr>
          <a:xfrm xmlns:a="http://schemas.openxmlformats.org/drawingml/2006/main">
            <a:off x="590550" y="5219700"/>
            <a:ext cx="2286000" cy="304800"/>
          </a:xfrm>
          <a:prstGeom xmlns:a="http://schemas.openxmlformats.org/drawingml/2006/main" prst="roundRect">
            <a:avLst>
              <a:gd name="adj" fmla="val 50000"/>
            </a:avLst>
          </a:prstGeom>
          <a:solidFill xmlns:a="http://schemas.openxmlformats.org/drawingml/2006/main">
            <a:srgbClr val="E8F0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9A26C2-F5C7-40AF-96F8-77CA5F0509F7}"/>
              </a:ext>
            </a:extLst>
          </p:cNvPr>
          <p:cNvSpPr>
            <a:spLocks xmlns:a="http://schemas.openxmlformats.org/drawingml/2006/main" noGrp="1"/>
          </p:cNvSpPr>
          <p:nvPr/>
        </p:nvSpPr>
        <p:spPr>
          <a:xfrm xmlns:a="http://schemas.openxmlformats.org/drawingml/2006/main">
            <a:off x="685800" y="52292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563EB"/>
                </a:solidFill>
                <a:latin typeface="Arial"/>
                <a:ea typeface="Arial"/>
                <a:cs typeface="Arial"/>
              </a:defRPr>
            </a:defPPr>
          </a:lstStyle>
          <a:p xmlns:a="http://schemas.openxmlformats.org/drawingml/2006/main">
            <a:pPr algn="ctr">
              <a:lnSpc>
                <a:spcPct val="100000"/>
              </a:lnSpc>
              <a:buNone/>
              <a:defRPr sz="1050" b="1">
                <a:solidFill>
                  <a:srgbClr val="2563EB"/>
                </a:solidFill>
                <a:latin typeface="Arial"/>
                <a:ea typeface="Arial"/>
                <a:cs typeface="Arial"/>
              </a:defRPr>
            </a:pPr>
            <a:r>
              <a:rPr sz="1050" b="1">
                <a:solidFill>
                  <a:srgbClr val="2563EB"/>
                </a:solidFill>
                <a:latin typeface="Arial"/>
                <a:ea typeface="Arial"/>
                <a:cs typeface="Arial"/>
              </a:rPr>
              <a:t>TỶ LỆ XÁC MINH</a:t>
            </a:r>
          </a:p>
        </p:txBody>
      </p:sp>
      <p:sp>
        <p:nvSpPr>
          <p:cNvPr id="15" name="">
            <a:extLst xmlns:a="http://schemas.openxmlformats.org/drawingml/2006/main">
              <a:ext uri="{FF2B5EF4-FFF2-40B4-BE49-F238E27FC236}">
                <a16:creationId xmlns:a16="http://schemas.microsoft.com/office/drawing/2014/main" id="{7EE78FDD-21E8-4962-BBA1-0B1A41914168}"/>
              </a:ext>
            </a:extLst>
          </p:cNvPr>
          <p:cNvSpPr>
            <a:spLocks xmlns:a="http://schemas.openxmlformats.org/drawingml/2006/main" noGrp="1"/>
          </p:cNvSpPr>
          <p:nvPr/>
        </p:nvSpPr>
        <p:spPr>
          <a:xfrm xmlns:a="http://schemas.openxmlformats.org/drawingml/2006/main">
            <a:off x="3143250" y="5219700"/>
            <a:ext cx="2190750" cy="304800"/>
          </a:xfrm>
          <a:prstGeom xmlns:a="http://schemas.openxmlformats.org/drawingml/2006/main" prst="roundRect">
            <a:avLst>
              <a:gd name="adj" fmla="val 50000"/>
            </a:avLst>
          </a:prstGeom>
          <a:solidFill xmlns:a="http://schemas.openxmlformats.org/drawingml/2006/main">
            <a:srgbClr val="E3F5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4DA7604-547B-4910-8257-4623633BE497}"/>
              </a:ext>
            </a:extLst>
          </p:cNvPr>
          <p:cNvSpPr>
            <a:spLocks xmlns:a="http://schemas.openxmlformats.org/drawingml/2006/main" noGrp="1"/>
          </p:cNvSpPr>
          <p:nvPr/>
        </p:nvSpPr>
        <p:spPr>
          <a:xfrm xmlns:a="http://schemas.openxmlformats.org/drawingml/2006/main">
            <a:off x="3238500" y="52292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0F8B8D"/>
                </a:solidFill>
                <a:latin typeface="Arial"/>
                <a:ea typeface="Arial"/>
                <a:cs typeface="Arial"/>
              </a:defRPr>
            </a:defPPr>
          </a:lstStyle>
          <a:p xmlns:a="http://schemas.openxmlformats.org/drawingml/2006/main">
            <a:pPr algn="ctr">
              <a:lnSpc>
                <a:spcPct val="100000"/>
              </a:lnSpc>
              <a:buNone/>
              <a:defRPr sz="1050" b="1">
                <a:solidFill>
                  <a:srgbClr val="0F8B8D"/>
                </a:solidFill>
                <a:latin typeface="Arial"/>
                <a:ea typeface="Arial"/>
                <a:cs typeface="Arial"/>
              </a:defRPr>
            </a:pPr>
            <a:r>
              <a:rPr sz="1050" b="1">
                <a:solidFill>
                  <a:srgbClr val="0F8B8D"/>
                </a:solidFill>
                <a:latin typeface="Arial"/>
                <a:ea typeface="Arial"/>
                <a:cs typeface="Arial"/>
              </a:rPr>
              <a:t>SỐ LƯỢT SỬA</a:t>
            </a:r>
          </a:p>
        </p:txBody>
      </p:sp>
      <p:sp>
        <p:nvSpPr>
          <p:cNvPr id="17" name="">
            <a:extLst xmlns:a="http://schemas.openxmlformats.org/drawingml/2006/main">
              <a:ext uri="{FF2B5EF4-FFF2-40B4-BE49-F238E27FC236}">
                <a16:creationId xmlns:a16="http://schemas.microsoft.com/office/drawing/2014/main" id="{720A1C20-2BF9-46AC-A3C8-F37536C8CE8B}"/>
              </a:ext>
            </a:extLst>
          </p:cNvPr>
          <p:cNvSpPr>
            <a:spLocks xmlns:a="http://schemas.openxmlformats.org/drawingml/2006/main" noGrp="1"/>
          </p:cNvSpPr>
          <p:nvPr/>
        </p:nvSpPr>
        <p:spPr>
          <a:xfrm xmlns:a="http://schemas.openxmlformats.org/drawingml/2006/main">
            <a:off x="5619750" y="5219700"/>
            <a:ext cx="2857500" cy="304800"/>
          </a:xfrm>
          <a:prstGeom xmlns:a="http://schemas.openxmlformats.org/drawingml/2006/main" prst="roundRect">
            <a:avLst>
              <a:gd name="adj" fmla="val 50000"/>
            </a:avLst>
          </a:prstGeom>
          <a:solidFill xmlns:a="http://schemas.openxmlformats.org/drawingml/2006/main">
            <a:srgbClr val="FFF2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DF6E628-08E1-4996-97EF-0011786E2F71}"/>
              </a:ext>
            </a:extLst>
          </p:cNvPr>
          <p:cNvSpPr>
            <a:spLocks xmlns:a="http://schemas.openxmlformats.org/drawingml/2006/main" noGrp="1"/>
          </p:cNvSpPr>
          <p:nvPr/>
        </p:nvSpPr>
        <p:spPr>
          <a:xfrm xmlns:a="http://schemas.openxmlformats.org/drawingml/2006/main">
            <a:off x="5715000" y="52292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C47A11"/>
                </a:solidFill>
                <a:latin typeface="Arial"/>
                <a:ea typeface="Arial"/>
                <a:cs typeface="Arial"/>
              </a:defRPr>
            </a:defPPr>
          </a:lstStyle>
          <a:p xmlns:a="http://schemas.openxmlformats.org/drawingml/2006/main">
            <a:pPr algn="ctr">
              <a:lnSpc>
                <a:spcPct val="100000"/>
              </a:lnSpc>
              <a:buNone/>
              <a:defRPr sz="1050" b="1">
                <a:solidFill>
                  <a:srgbClr val="C47A11"/>
                </a:solidFill>
                <a:latin typeface="Arial"/>
                <a:ea typeface="Arial"/>
                <a:cs typeface="Arial"/>
              </a:defRPr>
            </a:pPr>
            <a:r>
              <a:rPr sz="1050" b="1">
                <a:solidFill>
                  <a:srgbClr val="C47A11"/>
                </a:solidFill>
                <a:latin typeface="Arial"/>
                <a:ea typeface="Arial"/>
                <a:cs typeface="Arial"/>
              </a:rPr>
              <a:t>THỜI GIAN / THẤT BẠI</a:t>
            </a:r>
          </a:p>
        </p:txBody>
      </p:sp>
      <p:sp>
        <p:nvSpPr>
          <p:cNvPr id="19" name="">
            <a:extLst xmlns:a="http://schemas.openxmlformats.org/drawingml/2006/main">
              <a:ext uri="{FF2B5EF4-FFF2-40B4-BE49-F238E27FC236}">
                <a16:creationId xmlns:a16="http://schemas.microsoft.com/office/drawing/2014/main" id="{63B1277A-977F-471F-A9B6-0BDF286A2740}"/>
              </a:ext>
            </a:extLst>
          </p:cNvPr>
          <p:cNvSpPr>
            <a:spLocks xmlns:a="http://schemas.openxmlformats.org/drawingml/2006/main" noGrp="1"/>
          </p:cNvSpPr>
          <p:nvPr/>
        </p:nvSpPr>
        <p:spPr>
          <a:xfrm xmlns:a="http://schemas.openxmlformats.org/drawingml/2006/main">
            <a:off x="590550" y="58102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563EB"/>
                </a:solidFill>
                <a:latin typeface="Arial"/>
                <a:ea typeface="Arial"/>
                <a:cs typeface="Arial"/>
              </a:defRPr>
            </a:defPPr>
          </a:lstStyle>
          <a:p xmlns:a="http://schemas.openxmlformats.org/drawingml/2006/main">
            <a:pPr algn="l">
              <a:lnSpc>
                <a:spcPct val="100000"/>
              </a:lnSpc>
              <a:buNone/>
              <a:defRPr sz="1275" b="1">
                <a:solidFill>
                  <a:srgbClr val="2563EB"/>
                </a:solidFill>
                <a:latin typeface="Arial"/>
                <a:ea typeface="Arial"/>
                <a:cs typeface="Arial"/>
              </a:defRPr>
            </a:pPr>
            <a:r>
              <a:rPr sz="1275" b="1">
                <a:solidFill>
                  <a:srgbClr val="2563EB"/>
                </a:solidFill>
                <a:latin typeface="Arial"/>
                <a:ea typeface="Arial"/>
                <a:cs typeface="Arial"/>
              </a:rPr>
              <a:t>Giả thuyết cần kiểm tra, chưa phải kết luận.</a:t>
            </a:r>
          </a:p>
        </p:txBody>
      </p:sp>
    </p:spTree>
    <p:extLst>
      <p:ext uri="{BB962C8B-B14F-4D97-AF65-F5344CB8AC3E}">
        <p14:creationId xmlns:p14="http://schemas.microsoft.com/office/powerpoint/2010/main" val="939935735"/>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1D9BEE94-685A-4898-89B3-98E999CB55F2}"/>
              </a:ext>
            </a:extLst>
          </p:cNvPr>
          <p:cNvCxnSpPr>
            <a:stCxn xmlns:a="http://schemas.openxmlformats.org/drawingml/2006/main" id="28" idx="2"/>
            <a:endCxn xmlns:a="http://schemas.openxmlformats.org/drawingml/2006/main" id="12" idx="2"/>
          </p:cNvCxnSpPr>
          <p:nvPr/>
        </p:nvCxnSpPr>
        <p:spPr>
          <a:xfrm xmlns:a="http://schemas.openxmlformats.org/drawingml/2006/main" flipH="1" flipV="1">
            <a:off x="5838825" y="3686175"/>
            <a:ext cx="4486275" cy="514350"/>
          </a:xfrm>
          <a:prstGeom xmlns:a="http://schemas.openxmlformats.org/drawingml/2006/main" prst="bentConnector2">
            <a:avLst/>
          </a:prstGeom>
          <a:ln xmlns:a="http://schemas.openxmlformats.org/drawingml/2006/main" w="19050">
            <a:solidFill>
              <a:srgbClr val="C47A11"/>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D497BE30-BAEE-461D-A0E2-8778C515B2AF}"/>
              </a:ext>
            </a:extLst>
          </p:cNvPr>
          <p:cNvCxnSpPr>
            <a:stCxn xmlns:a="http://schemas.openxmlformats.org/drawingml/2006/main" id="18" idx="2"/>
            <a:endCxn xmlns:a="http://schemas.openxmlformats.org/drawingml/2006/main" id="28" idx="0"/>
          </p:cNvCxnSpPr>
          <p:nvPr/>
        </p:nvCxnSpPr>
        <p:spPr>
          <a:xfrm xmlns:a="http://schemas.openxmlformats.org/drawingml/2006/main" flipH="1">
            <a:off x="10401300" y="3686175"/>
            <a:ext cx="38100" cy="438150"/>
          </a:xfrm>
          <a:prstGeom xmlns:a="http://schemas.openxmlformats.org/drawingml/2006/main" prst="straightConnector1">
            <a:avLst/>
          </a:prstGeom>
          <a:ln xmlns:a="http://schemas.openxmlformats.org/drawingml/2006/main" w="19050">
            <a:solidFill>
              <a:srgbClr val="C47A11"/>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F85FC235-8F3B-4728-922A-3EE8177703DF}"/>
              </a:ext>
            </a:extLst>
          </p:cNvPr>
          <p:cNvCxnSpPr>
            <a:stCxn xmlns:a="http://schemas.openxmlformats.org/drawingml/2006/main" id="15" idx="3"/>
            <a:endCxn xmlns:a="http://schemas.openxmlformats.org/drawingml/2006/main" id="18" idx="1"/>
          </p:cNvCxnSpPr>
          <p:nvPr/>
        </p:nvCxnSpPr>
        <p:spPr>
          <a:xfrm xmlns:a="http://schemas.openxmlformats.org/drawingml/2006/main">
            <a:off x="89154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223FD890-36FF-49DB-B5C8-0A542E1409D5}"/>
              </a:ext>
            </a:extLst>
          </p:cNvPr>
          <p:cNvCxnSpPr>
            <a:stCxn xmlns:a="http://schemas.openxmlformats.org/drawingml/2006/main" id="12" idx="3"/>
            <a:endCxn xmlns:a="http://schemas.openxmlformats.org/drawingml/2006/main" id="15" idx="1"/>
          </p:cNvCxnSpPr>
          <p:nvPr/>
        </p:nvCxnSpPr>
        <p:spPr>
          <a:xfrm xmlns:a="http://schemas.openxmlformats.org/drawingml/2006/main">
            <a:off x="67437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96C52CCB-39C9-4049-B27E-02CF0631B870}"/>
              </a:ext>
            </a:extLst>
          </p:cNvPr>
          <p:cNvCxnSpPr>
            <a:stCxn xmlns:a="http://schemas.openxmlformats.org/drawingml/2006/main" id="9" idx="3"/>
            <a:endCxn xmlns:a="http://schemas.openxmlformats.org/drawingml/2006/main" id="12" idx="1"/>
          </p:cNvCxnSpPr>
          <p:nvPr/>
        </p:nvCxnSpPr>
        <p:spPr>
          <a:xfrm xmlns:a="http://schemas.openxmlformats.org/drawingml/2006/main">
            <a:off x="45720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1ABB60CA-C9E0-469F-8F6A-BEF1CF221D0B}"/>
              </a:ext>
            </a:extLst>
          </p:cNvPr>
          <p:cNvCxnSpPr>
            <a:stCxn xmlns:a="http://schemas.openxmlformats.org/drawingml/2006/main" id="6" idx="3"/>
            <a:endCxn xmlns:a="http://schemas.openxmlformats.org/drawingml/2006/main" id="9" idx="1"/>
          </p:cNvCxnSpPr>
          <p:nvPr/>
        </p:nvCxnSpPr>
        <p:spPr>
          <a:xfrm xmlns:a="http://schemas.openxmlformats.org/drawingml/2006/main">
            <a:off x="24003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sp>
        <p:nvSpPr>
          <p:cNvPr id="32" name="">
            <a:extLst xmlns:a="http://schemas.openxmlformats.org/drawingml/2006/main">
              <a:ext uri="{FF2B5EF4-FFF2-40B4-BE49-F238E27FC236}">
                <a16:creationId xmlns:a16="http://schemas.microsoft.com/office/drawing/2014/main" id="{2D58E0D3-11A8-4494-9B9C-517A1463243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EBF1E4-30A4-43A2-94E1-5C60DCE22F4D}"/>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4B8A82D0-955B-4B21-B8EC-8F0476E57F89}"/>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Phương pháp: vòng sinh và kiểm chứng</a:t>
            </a:r>
          </a:p>
        </p:txBody>
      </p:sp>
      <p:sp>
        <p:nvSpPr>
          <p:cNvPr id="4" name="">
            <a:extLst xmlns:a="http://schemas.openxmlformats.org/drawingml/2006/main">
              <a:ext uri="{FF2B5EF4-FFF2-40B4-BE49-F238E27FC236}">
                <a16:creationId xmlns:a16="http://schemas.microsoft.com/office/drawing/2014/main" id="{C01935D6-4655-4D6B-9CBC-771FC96B6A53}"/>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35E6CFBA-34B0-47D1-B370-72CDB9426FCD}"/>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04  /  07</a:t>
            </a:r>
          </a:p>
        </p:txBody>
      </p:sp>
      <p:sp>
        <p:nvSpPr>
          <p:cNvPr id="6" name="">
            <a:extLst xmlns:a="http://schemas.openxmlformats.org/drawingml/2006/main">
              <a:ext uri="{FF2B5EF4-FFF2-40B4-BE49-F238E27FC236}">
                <a16:creationId xmlns:a16="http://schemas.microsoft.com/office/drawing/2014/main" id="{5EBA661D-4B83-4D60-9381-5F03EA85DB5D}"/>
              </a:ext>
            </a:extLst>
          </p:cNvPr>
          <p:cNvSpPr>
            <a:spLocks xmlns:a="http://schemas.openxmlformats.org/drawingml/2006/main" noGrp="1"/>
          </p:cNvSpPr>
          <p:nvPr/>
        </p:nvSpPr>
        <p:spPr>
          <a:xfrm xmlns:a="http://schemas.openxmlformats.org/drawingml/2006/main">
            <a:off x="590550" y="2428875"/>
            <a:ext cx="1809750" cy="1257300"/>
          </a:xfrm>
          <a:prstGeom xmlns:a="http://schemas.openxmlformats.org/drawingml/2006/main" prst="roundRect">
            <a:avLst>
              <a:gd name="adj" fmla="val 10606"/>
            </a:avLst>
          </a:prstGeom>
          <a:solidFill xmlns:a="http://schemas.openxmlformats.org/drawingml/2006/main">
            <a:srgbClr val="E8F0FF"/>
          </a:solidFill>
          <a:ln xmlns:a="http://schemas.openxmlformats.org/drawingml/2006/main" w="9525">
            <a:solidFill>
              <a:srgbClr val="BED2FF"/>
            </a:solidFill>
            <a:prstDash val="solid"/>
          </a:ln>
        </p:spPr>
      </p:sp>
      <p:sp>
        <p:nvSpPr>
          <p:cNvPr id="7" name="">
            <a:extLst xmlns:a="http://schemas.openxmlformats.org/drawingml/2006/main">
              <a:ext uri="{FF2B5EF4-FFF2-40B4-BE49-F238E27FC236}">
                <a16:creationId xmlns:a16="http://schemas.microsoft.com/office/drawing/2014/main" id="{674F422C-41CE-47E7-9B63-73AA944CCCA5}"/>
              </a:ext>
            </a:extLst>
          </p:cNvPr>
          <p:cNvSpPr>
            <a:spLocks xmlns:a="http://schemas.openxmlformats.org/drawingml/2006/main" noGrp="1"/>
          </p:cNvSpPr>
          <p:nvPr/>
        </p:nvSpPr>
        <p:spPr>
          <a:xfrm xmlns:a="http://schemas.openxmlformats.org/drawingml/2006/main">
            <a:off x="7334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2563EB"/>
                </a:solidFill>
                <a:latin typeface="Arial"/>
                <a:ea typeface="Arial"/>
                <a:cs typeface="Arial"/>
              </a:defRPr>
            </a:defPPr>
          </a:lstStyle>
          <a:p xmlns:a="http://schemas.openxmlformats.org/drawingml/2006/main">
            <a:pPr algn="ctr">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1 · ĐẶC TẢ</a:t>
            </a:r>
          </a:p>
        </p:txBody>
      </p:sp>
      <p:sp>
        <p:nvSpPr>
          <p:cNvPr id="8" name="">
            <a:extLst xmlns:a="http://schemas.openxmlformats.org/drawingml/2006/main">
              <a:ext uri="{FF2B5EF4-FFF2-40B4-BE49-F238E27FC236}">
                <a16:creationId xmlns:a16="http://schemas.microsoft.com/office/drawing/2014/main" id="{2EE247B7-04CA-4CDD-BA04-90EDE748CF4D}"/>
              </a:ext>
            </a:extLst>
          </p:cNvPr>
          <p:cNvSpPr>
            <a:spLocks xmlns:a="http://schemas.openxmlformats.org/drawingml/2006/main" noGrp="1"/>
          </p:cNvSpPr>
          <p:nvPr/>
        </p:nvSpPr>
        <p:spPr>
          <a:xfrm xmlns:a="http://schemas.openxmlformats.org/drawingml/2006/main">
            <a:off x="7239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587"/>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Đề bài +</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requires / ensures</a:t>
            </a:r>
          </a:p>
        </p:txBody>
      </p:sp>
      <p:sp>
        <p:nvSpPr>
          <p:cNvPr id="9" name="">
            <a:extLst xmlns:a="http://schemas.openxmlformats.org/drawingml/2006/main">
              <a:ext uri="{FF2B5EF4-FFF2-40B4-BE49-F238E27FC236}">
                <a16:creationId xmlns:a16="http://schemas.microsoft.com/office/drawing/2014/main" id="{E89C0684-18BC-4168-80B8-FFE09C4D9960}"/>
              </a:ext>
            </a:extLst>
          </p:cNvPr>
          <p:cNvSpPr>
            <a:spLocks xmlns:a="http://schemas.openxmlformats.org/drawingml/2006/main" noGrp="1"/>
          </p:cNvSpPr>
          <p:nvPr/>
        </p:nvSpPr>
        <p:spPr>
          <a:xfrm xmlns:a="http://schemas.openxmlformats.org/drawingml/2006/main">
            <a:off x="2762250" y="2428875"/>
            <a:ext cx="1809750" cy="1257300"/>
          </a:xfrm>
          <a:prstGeom xmlns:a="http://schemas.openxmlformats.org/drawingml/2006/main" prst="roundRect">
            <a:avLst>
              <a:gd name="adj" fmla="val 10606"/>
            </a:avLst>
          </a:prstGeom>
          <a:solidFill xmlns:a="http://schemas.openxmlformats.org/drawingml/2006/main">
            <a:srgbClr val="EEF2FA"/>
          </a:solidFill>
          <a:ln xmlns:a="http://schemas.openxmlformats.org/drawingml/2006/main" w="9525">
            <a:solidFill>
              <a:srgbClr val="D3DCE9"/>
            </a:solidFill>
            <a:prstDash val="solid"/>
          </a:ln>
        </p:spPr>
      </p:sp>
      <p:sp>
        <p:nvSpPr>
          <p:cNvPr id="10" name="">
            <a:extLst xmlns:a="http://schemas.openxmlformats.org/drawingml/2006/main">
              <a:ext uri="{FF2B5EF4-FFF2-40B4-BE49-F238E27FC236}">
                <a16:creationId xmlns:a16="http://schemas.microsoft.com/office/drawing/2014/main" id="{D251B798-B0EF-4835-BDF3-B3C6CAC19B1C}"/>
              </a:ext>
            </a:extLst>
          </p:cNvPr>
          <p:cNvSpPr>
            <a:spLocks xmlns:a="http://schemas.openxmlformats.org/drawingml/2006/main" noGrp="1"/>
          </p:cNvSpPr>
          <p:nvPr/>
        </p:nvSpPr>
        <p:spPr>
          <a:xfrm xmlns:a="http://schemas.openxmlformats.org/drawingml/2006/main">
            <a:off x="29051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4233B"/>
                </a:solidFill>
                <a:latin typeface="Arial"/>
                <a:ea typeface="Arial"/>
                <a:cs typeface="Arial"/>
              </a:defRPr>
            </a:defPPr>
          </a:lstStyle>
          <a:p xmlns:a="http://schemas.openxmlformats.org/drawingml/2006/main">
            <a:pPr algn="ctr">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2 · PHÂN TÍCH</a:t>
            </a:r>
          </a:p>
        </p:txBody>
      </p:sp>
      <p:sp>
        <p:nvSpPr>
          <p:cNvPr id="11" name="">
            <a:extLst xmlns:a="http://schemas.openxmlformats.org/drawingml/2006/main">
              <a:ext uri="{FF2B5EF4-FFF2-40B4-BE49-F238E27FC236}">
                <a16:creationId xmlns:a16="http://schemas.microsoft.com/office/drawing/2014/main" id="{7F68334B-679E-43DF-BA67-E2F0B29C14A2}"/>
              </a:ext>
            </a:extLst>
          </p:cNvPr>
          <p:cNvSpPr>
            <a:spLocks xmlns:a="http://schemas.openxmlformats.org/drawingml/2006/main" noGrp="1"/>
          </p:cNvSpPr>
          <p:nvPr/>
        </p:nvSpPr>
        <p:spPr>
          <a:xfrm xmlns:a="http://schemas.openxmlformats.org/drawingml/2006/main">
            <a:off x="28956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Topology gợi ý</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cấu trúc bài toán</a:t>
            </a:r>
          </a:p>
        </p:txBody>
      </p:sp>
      <p:sp>
        <p:nvSpPr>
          <p:cNvPr id="12" name="">
            <a:extLst xmlns:a="http://schemas.openxmlformats.org/drawingml/2006/main">
              <a:ext uri="{FF2B5EF4-FFF2-40B4-BE49-F238E27FC236}">
                <a16:creationId xmlns:a16="http://schemas.microsoft.com/office/drawing/2014/main" id="{4105151A-3F92-4F78-A2CE-23FA654C2064}"/>
              </a:ext>
            </a:extLst>
          </p:cNvPr>
          <p:cNvSpPr>
            <a:spLocks xmlns:a="http://schemas.openxmlformats.org/drawingml/2006/main" noGrp="1"/>
          </p:cNvSpPr>
          <p:nvPr/>
        </p:nvSpPr>
        <p:spPr>
          <a:xfrm xmlns:a="http://schemas.openxmlformats.org/drawingml/2006/main">
            <a:off x="4933950" y="2428875"/>
            <a:ext cx="1809750" cy="1257300"/>
          </a:xfrm>
          <a:prstGeom xmlns:a="http://schemas.openxmlformats.org/drawingml/2006/main" prst="roundRect">
            <a:avLst>
              <a:gd name="adj" fmla="val 10606"/>
            </a:avLst>
          </a:prstGeom>
          <a:solidFill xmlns:a="http://schemas.openxmlformats.org/drawingml/2006/main">
            <a:srgbClr val="EEF2FA"/>
          </a:solidFill>
          <a:ln xmlns:a="http://schemas.openxmlformats.org/drawingml/2006/main" w="9525">
            <a:solidFill>
              <a:srgbClr val="D3DCE9"/>
            </a:solidFill>
            <a:prstDash val="solid"/>
          </a:ln>
        </p:spPr>
      </p:sp>
      <p:sp>
        <p:nvSpPr>
          <p:cNvPr id="13" name="">
            <a:extLst xmlns:a="http://schemas.openxmlformats.org/drawingml/2006/main">
              <a:ext uri="{FF2B5EF4-FFF2-40B4-BE49-F238E27FC236}">
                <a16:creationId xmlns:a16="http://schemas.microsoft.com/office/drawing/2014/main" id="{B307C927-6E89-4674-9DD1-A84427E02127}"/>
              </a:ext>
            </a:extLst>
          </p:cNvPr>
          <p:cNvSpPr>
            <a:spLocks xmlns:a="http://schemas.openxmlformats.org/drawingml/2006/main" noGrp="1"/>
          </p:cNvSpPr>
          <p:nvPr/>
        </p:nvSpPr>
        <p:spPr>
          <a:xfrm xmlns:a="http://schemas.openxmlformats.org/drawingml/2006/main">
            <a:off x="50768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4233B"/>
                </a:solidFill>
                <a:latin typeface="Arial"/>
                <a:ea typeface="Arial"/>
                <a:cs typeface="Arial"/>
              </a:defRPr>
            </a:defPPr>
          </a:lstStyle>
          <a:p xmlns:a="http://schemas.openxmlformats.org/drawingml/2006/main">
            <a:pPr algn="ctr">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3 · LLM SINH</a:t>
            </a:r>
          </a:p>
        </p:txBody>
      </p:sp>
      <p:sp>
        <p:nvSpPr>
          <p:cNvPr id="14" name="">
            <a:extLst xmlns:a="http://schemas.openxmlformats.org/drawingml/2006/main">
              <a:ext uri="{FF2B5EF4-FFF2-40B4-BE49-F238E27FC236}">
                <a16:creationId xmlns:a16="http://schemas.microsoft.com/office/drawing/2014/main" id="{0D0C8769-8039-435C-833D-AD8B2E65112E}"/>
              </a:ext>
            </a:extLst>
          </p:cNvPr>
          <p:cNvSpPr>
            <a:spLocks xmlns:a="http://schemas.openxmlformats.org/drawingml/2006/main" noGrp="1"/>
          </p:cNvSpPr>
          <p:nvPr/>
        </p:nvSpPr>
        <p:spPr>
          <a:xfrm xmlns:a="http://schemas.openxmlformats.org/drawingml/2006/main">
            <a:off x="50673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Tạo ứng viên</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Dafny</a:t>
            </a:r>
          </a:p>
        </p:txBody>
      </p:sp>
      <p:sp>
        <p:nvSpPr>
          <p:cNvPr id="15" name="">
            <a:extLst xmlns:a="http://schemas.openxmlformats.org/drawingml/2006/main">
              <a:ext uri="{FF2B5EF4-FFF2-40B4-BE49-F238E27FC236}">
                <a16:creationId xmlns:a16="http://schemas.microsoft.com/office/drawing/2014/main" id="{8AD43007-86FD-4A22-AFC6-50D34D091D8A}"/>
              </a:ext>
            </a:extLst>
          </p:cNvPr>
          <p:cNvSpPr>
            <a:spLocks xmlns:a="http://schemas.openxmlformats.org/drawingml/2006/main" noGrp="1"/>
          </p:cNvSpPr>
          <p:nvPr/>
        </p:nvSpPr>
        <p:spPr>
          <a:xfrm xmlns:a="http://schemas.openxmlformats.org/drawingml/2006/main">
            <a:off x="7105650" y="2428875"/>
            <a:ext cx="1809750" cy="1257300"/>
          </a:xfrm>
          <a:prstGeom xmlns:a="http://schemas.openxmlformats.org/drawingml/2006/main" prst="roundRect">
            <a:avLst>
              <a:gd name="adj" fmla="val 10606"/>
            </a:avLst>
          </a:prstGeom>
          <a:solidFill xmlns:a="http://schemas.openxmlformats.org/drawingml/2006/main">
            <a:srgbClr val="FFF2D9"/>
          </a:solidFill>
          <a:ln xmlns:a="http://schemas.openxmlformats.org/drawingml/2006/main" w="9525">
            <a:solidFill>
              <a:srgbClr val="EAD29E"/>
            </a:solidFill>
            <a:prstDash val="solid"/>
          </a:ln>
        </p:spPr>
      </p:sp>
      <p:sp>
        <p:nvSpPr>
          <p:cNvPr id="16" name="">
            <a:extLst xmlns:a="http://schemas.openxmlformats.org/drawingml/2006/main">
              <a:ext uri="{FF2B5EF4-FFF2-40B4-BE49-F238E27FC236}">
                <a16:creationId xmlns:a16="http://schemas.microsoft.com/office/drawing/2014/main" id="{AC515827-7268-4A7A-B8C4-586B9345FBD9}"/>
              </a:ext>
            </a:extLst>
          </p:cNvPr>
          <p:cNvSpPr>
            <a:spLocks xmlns:a="http://schemas.openxmlformats.org/drawingml/2006/main" noGrp="1"/>
          </p:cNvSpPr>
          <p:nvPr/>
        </p:nvSpPr>
        <p:spPr>
          <a:xfrm xmlns:a="http://schemas.openxmlformats.org/drawingml/2006/main">
            <a:off x="72485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C47A11"/>
                </a:solidFill>
                <a:latin typeface="Arial"/>
                <a:ea typeface="Arial"/>
                <a:cs typeface="Arial"/>
              </a:defRPr>
            </a:defPPr>
          </a:lstStyle>
          <a:p xmlns:a="http://schemas.openxmlformats.org/drawingml/2006/main">
            <a:pPr algn="ctr">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4 · HẬU XỬ LÝ</a:t>
            </a:r>
          </a:p>
        </p:txBody>
      </p:sp>
      <p:sp>
        <p:nvSpPr>
          <p:cNvPr id="17" name="">
            <a:extLst xmlns:a="http://schemas.openxmlformats.org/drawingml/2006/main">
              <a:ext uri="{FF2B5EF4-FFF2-40B4-BE49-F238E27FC236}">
                <a16:creationId xmlns:a16="http://schemas.microsoft.com/office/drawing/2014/main" id="{F32C05A0-9C4C-4615-AC1A-63986BCE6B37}"/>
              </a:ext>
            </a:extLst>
          </p:cNvPr>
          <p:cNvSpPr>
            <a:spLocks xmlns:a="http://schemas.openxmlformats.org/drawingml/2006/main" noGrp="1"/>
          </p:cNvSpPr>
          <p:nvPr/>
        </p:nvSpPr>
        <p:spPr>
          <a:xfrm xmlns:a="http://schemas.openxmlformats.org/drawingml/2006/main">
            <a:off x="72390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918"/>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Chuẩn hóa cú pháp</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SpecLocker kiểm tra</a:t>
            </a:r>
          </a:p>
        </p:txBody>
      </p:sp>
      <p:sp>
        <p:nvSpPr>
          <p:cNvPr id="18" name="">
            <a:extLst xmlns:a="http://schemas.openxmlformats.org/drawingml/2006/main">
              <a:ext uri="{FF2B5EF4-FFF2-40B4-BE49-F238E27FC236}">
                <a16:creationId xmlns:a16="http://schemas.microsoft.com/office/drawing/2014/main" id="{67497CE8-2439-4672-82A8-7D8BD6EBA837}"/>
              </a:ext>
            </a:extLst>
          </p:cNvPr>
          <p:cNvSpPr>
            <a:spLocks xmlns:a="http://schemas.openxmlformats.org/drawingml/2006/main" noGrp="1"/>
          </p:cNvSpPr>
          <p:nvPr/>
        </p:nvSpPr>
        <p:spPr>
          <a:xfrm xmlns:a="http://schemas.openxmlformats.org/drawingml/2006/main">
            <a:off x="9277350" y="2428875"/>
            <a:ext cx="2324100" cy="1257300"/>
          </a:xfrm>
          <a:prstGeom xmlns:a="http://schemas.openxmlformats.org/drawingml/2006/main" prst="roundRect">
            <a:avLst>
              <a:gd name="adj" fmla="val 10606"/>
            </a:avLst>
          </a:prstGeom>
          <a:solidFill xmlns:a="http://schemas.openxmlformats.org/drawingml/2006/main">
            <a:srgbClr val="E3F5F3"/>
          </a:solidFill>
          <a:ln xmlns:a="http://schemas.openxmlformats.org/drawingml/2006/main" w="9525">
            <a:solidFill>
              <a:srgbClr val="B8DFD9"/>
            </a:solidFill>
            <a:prstDash val="solid"/>
          </a:ln>
        </p:spPr>
      </p:sp>
      <p:sp>
        <p:nvSpPr>
          <p:cNvPr id="19" name="">
            <a:extLst xmlns:a="http://schemas.openxmlformats.org/drawingml/2006/main">
              <a:ext uri="{FF2B5EF4-FFF2-40B4-BE49-F238E27FC236}">
                <a16:creationId xmlns:a16="http://schemas.microsoft.com/office/drawing/2014/main" id="{50DF71CC-7CEC-485E-9F39-6446ACC87E4D}"/>
              </a:ext>
            </a:extLst>
          </p:cNvPr>
          <p:cNvSpPr>
            <a:spLocks xmlns:a="http://schemas.openxmlformats.org/drawingml/2006/main" noGrp="1"/>
          </p:cNvSpPr>
          <p:nvPr/>
        </p:nvSpPr>
        <p:spPr>
          <a:xfrm xmlns:a="http://schemas.openxmlformats.org/drawingml/2006/main">
            <a:off x="9420225" y="25908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0F8B8D"/>
                </a:solidFill>
                <a:latin typeface="Arial"/>
                <a:ea typeface="Arial"/>
                <a:cs typeface="Arial"/>
              </a:defRPr>
            </a:defPPr>
          </a:lstStyle>
          <a:p xmlns:a="http://schemas.openxmlformats.org/drawingml/2006/main">
            <a:pPr algn="ctr">
              <a:lnSpc>
                <a:spcPct val="100000"/>
              </a:lnSpc>
              <a:buNone/>
              <a:defRPr sz="1125" b="1">
                <a:solidFill>
                  <a:srgbClr val="0F8B8D"/>
                </a:solidFill>
                <a:latin typeface="Arial"/>
                <a:ea typeface="Arial"/>
                <a:cs typeface="Arial"/>
              </a:defRPr>
            </a:pPr>
            <a:r>
              <a:rPr sz="1125" b="1">
                <a:solidFill>
                  <a:srgbClr val="0F8B8D"/>
                </a:solidFill>
                <a:latin typeface="Arial"/>
                <a:ea typeface="Arial"/>
                <a:cs typeface="Arial"/>
              </a:rPr>
              <a:t>5 · DAFNY + Z3</a:t>
            </a:r>
          </a:p>
        </p:txBody>
      </p:sp>
      <p:sp>
        <p:nvSpPr>
          <p:cNvPr id="20" name="">
            <a:extLst xmlns:a="http://schemas.openxmlformats.org/drawingml/2006/main">
              <a:ext uri="{FF2B5EF4-FFF2-40B4-BE49-F238E27FC236}">
                <a16:creationId xmlns:a16="http://schemas.microsoft.com/office/drawing/2014/main" id="{2C1F9E66-1FA7-4A93-8417-FC164C72333A}"/>
              </a:ext>
            </a:extLst>
          </p:cNvPr>
          <p:cNvSpPr>
            <a:spLocks xmlns:a="http://schemas.openxmlformats.org/drawingml/2006/main" noGrp="1"/>
          </p:cNvSpPr>
          <p:nvPr/>
        </p:nvSpPr>
        <p:spPr>
          <a:xfrm xmlns:a="http://schemas.openxmlformats.org/drawingml/2006/main">
            <a:off x="9410700" y="297180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Xác minh theo</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đặc tả</a:t>
            </a:r>
          </a:p>
        </p:txBody>
      </p:sp>
      <p:sp>
        <p:nvSpPr>
          <p:cNvPr id="25" name="">
            <a:extLst xmlns:a="http://schemas.openxmlformats.org/drawingml/2006/main">
              <a:ext uri="{FF2B5EF4-FFF2-40B4-BE49-F238E27FC236}">
                <a16:creationId xmlns:a16="http://schemas.microsoft.com/office/drawing/2014/main" id="{EB81175C-9C5C-4647-99E2-160972413889}"/>
              </a:ext>
            </a:extLst>
          </p:cNvPr>
          <p:cNvSpPr>
            <a:spLocks xmlns:a="http://schemas.openxmlformats.org/drawingml/2006/main" noGrp="1"/>
          </p:cNvSpPr>
          <p:nvPr/>
        </p:nvSpPr>
        <p:spPr>
          <a:xfrm xmlns:a="http://schemas.openxmlformats.org/drawingml/2006/main">
            <a:off x="3790950" y="441007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20293F86-B43D-4483-88DD-2EBDCDFDB585}"/>
              </a:ext>
            </a:extLst>
          </p:cNvPr>
          <p:cNvSpPr>
            <a:spLocks xmlns:a="http://schemas.openxmlformats.org/drawingml/2006/main" noGrp="1"/>
          </p:cNvSpPr>
          <p:nvPr/>
        </p:nvSpPr>
        <p:spPr>
          <a:xfrm xmlns:a="http://schemas.openxmlformats.org/drawingml/2006/main">
            <a:off x="4000500" y="4543425"/>
            <a:ext cx="501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C47A11"/>
                </a:solidFill>
                <a:latin typeface="Arial"/>
                <a:ea typeface="Arial"/>
                <a:cs typeface="Arial"/>
              </a:defRPr>
            </a:defPPr>
          </a:lstStyle>
          <a:p xmlns:a="http://schemas.openxmlformats.org/drawingml/2006/main">
            <a:pPr algn="ctr">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NẾU CHƯA XÁC MINH</a:t>
            </a:r>
          </a:p>
        </p:txBody>
      </p:sp>
      <p:sp>
        <p:nvSpPr>
          <p:cNvPr id="27" name="">
            <a:extLst xmlns:a="http://schemas.openxmlformats.org/drawingml/2006/main">
              <a:ext uri="{FF2B5EF4-FFF2-40B4-BE49-F238E27FC236}">
                <a16:creationId xmlns:a16="http://schemas.microsoft.com/office/drawing/2014/main" id="{63DBCD55-13FA-4254-BC37-3A3FBE87A66D}"/>
              </a:ext>
            </a:extLst>
          </p:cNvPr>
          <p:cNvSpPr>
            <a:spLocks xmlns:a="http://schemas.openxmlformats.org/drawingml/2006/main" noGrp="1"/>
          </p:cNvSpPr>
          <p:nvPr/>
        </p:nvSpPr>
        <p:spPr>
          <a:xfrm xmlns:a="http://schemas.openxmlformats.org/drawingml/2006/main">
            <a:off x="4000500" y="4857750"/>
            <a:ext cx="501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4233B"/>
                </a:solidFill>
                <a:latin typeface="Arial"/>
                <a:ea typeface="Arial"/>
                <a:cs typeface="Arial"/>
              </a:defRPr>
            </a:defPPr>
          </a:lstStyle>
          <a:p xmlns:a="http://schemas.openxmlformats.org/drawingml/2006/main">
            <a:pPr algn="ctr">
              <a:lnSpc>
                <a:spcPct val="100000"/>
              </a:lnSpc>
              <a:buNone/>
              <a:defRPr sz="1275" b="1">
                <a:solidFill>
                  <a:srgbClr val="14233B"/>
                </a:solidFill>
                <a:latin typeface="Arial"/>
                <a:ea typeface="Arial"/>
                <a:cs typeface="Arial"/>
              </a:defRPr>
            </a:pPr>
            <a:r>
              <a:rPr sz="1275" b="1">
                <a:solidFill>
                  <a:srgbClr val="14233B"/>
                </a:solidFill>
                <a:latin typeface="Arial"/>
                <a:ea typeface="Arial"/>
                <a:cs typeface="Arial"/>
              </a:rPr>
              <a:t>Diagnostic Parser gửi lỗi cho LLM sửa; lặp tối đa K lượt.</a:t>
            </a:r>
          </a:p>
        </p:txBody>
      </p:sp>
      <p:sp>
        <p:nvSpPr>
          <p:cNvPr id="28" name="">
            <a:extLst xmlns:a="http://schemas.openxmlformats.org/drawingml/2006/main">
              <a:ext uri="{FF2B5EF4-FFF2-40B4-BE49-F238E27FC236}">
                <a16:creationId xmlns:a16="http://schemas.microsoft.com/office/drawing/2014/main" id="{67ACB7E2-1FAA-434E-B1CB-AA53DC4DD94B}"/>
              </a:ext>
            </a:extLst>
          </p:cNvPr>
          <p:cNvSpPr>
            <a:spLocks xmlns:a="http://schemas.openxmlformats.org/drawingml/2006/main" noGrp="1"/>
          </p:cNvSpPr>
          <p:nvPr/>
        </p:nvSpPr>
        <p:spPr>
          <a:xfrm xmlns:a="http://schemas.openxmlformats.org/drawingml/2006/main">
            <a:off x="10325100" y="4124325"/>
            <a:ext cx="152400" cy="152400"/>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C367BA6-325D-4306-A79B-FD987731D812}"/>
              </a:ext>
            </a:extLst>
          </p:cNvPr>
          <p:cNvSpPr>
            <a:spLocks xmlns:a="http://schemas.openxmlformats.org/drawingml/2006/main" noGrp="1"/>
          </p:cNvSpPr>
          <p:nvPr/>
        </p:nvSpPr>
        <p:spPr>
          <a:xfrm xmlns:a="http://schemas.openxmlformats.org/drawingml/2006/main">
            <a:off x="590550" y="57531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47A"/>
                </a:solidFill>
                <a:latin typeface="Arial"/>
                <a:ea typeface="Arial"/>
                <a:cs typeface="Arial"/>
              </a:defRPr>
            </a:defPPr>
          </a:lstStyle>
          <a:p xmlns:a="http://schemas.openxmlformats.org/drawingml/2006/main">
            <a:pPr algn="l">
              <a:lnSpc>
                <a:spcPct val="100000"/>
              </a:lnSpc>
              <a:buNone/>
              <a:defRPr sz="1275" b="1">
                <a:solidFill>
                  <a:srgbClr val="52647A"/>
                </a:solidFill>
                <a:latin typeface="Arial"/>
                <a:ea typeface="Arial"/>
                <a:cs typeface="Arial"/>
              </a:defRPr>
            </a:pPr>
            <a:r>
              <a:rPr sz="1275" b="1">
                <a:solidFill>
                  <a:srgbClr val="52647A"/>
                </a:solidFill>
                <a:latin typeface="Arial"/>
                <a:ea typeface="Arial"/>
                <a:cs typeface="Arial"/>
              </a:rPr>
              <a:t>Verified nghĩa là Dafny xác minh ứng viên theo đặc tả gốc; không xác nhận đặc tả đã đầy đủ.</a:t>
            </a:r>
          </a:p>
        </p:txBody>
      </p:sp>
    </p:spTree>
    <p:extLst>
      <p:ext uri="{BB962C8B-B14F-4D97-AF65-F5344CB8AC3E}">
        <p14:creationId xmlns:p14="http://schemas.microsoft.com/office/powerpoint/2010/main" val="207563831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4025BF4-086E-4056-882C-611E6303D23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3FE4C0-7C53-45EC-99D6-E6A2123FCDFD}"/>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FB712FBC-0604-443D-B077-B9B12D2623C5}"/>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Kết quả sơ bộ: baseline và pipeline đầy đủ</a:t>
            </a:r>
          </a:p>
        </p:txBody>
      </p:sp>
      <p:sp>
        <p:nvSpPr>
          <p:cNvPr id="4" name="">
            <a:extLst xmlns:a="http://schemas.openxmlformats.org/drawingml/2006/main">
              <a:ext uri="{FF2B5EF4-FFF2-40B4-BE49-F238E27FC236}">
                <a16:creationId xmlns:a16="http://schemas.microsoft.com/office/drawing/2014/main" id="{C2B67597-51A5-4DA3-9AF9-84133877141F}"/>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999DC6DB-75C3-4598-8640-1FDB1D47CB92}"/>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05  /  07</a:t>
            </a:r>
          </a:p>
        </p:txBody>
      </p:sp>
      <p:sp>
        <p:nvSpPr>
          <p:cNvPr id="6" name="">
            <a:extLst xmlns:a="http://schemas.openxmlformats.org/drawingml/2006/main">
              <a:ext uri="{FF2B5EF4-FFF2-40B4-BE49-F238E27FC236}">
                <a16:creationId xmlns:a16="http://schemas.microsoft.com/office/drawing/2014/main" id="{16F0752E-F6CD-42D5-9628-0C210B0C2F0B}"/>
              </a:ext>
            </a:extLst>
          </p:cNvPr>
          <p:cNvSpPr>
            <a:spLocks xmlns:a="http://schemas.openxmlformats.org/drawingml/2006/main" noGrp="1"/>
          </p:cNvSpPr>
          <p:nvPr/>
        </p:nvSpPr>
        <p:spPr>
          <a:xfrm xmlns:a="http://schemas.openxmlformats.org/drawingml/2006/main">
            <a:off x="590550" y="1495425"/>
            <a:ext cx="1101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2647A"/>
                </a:solidFill>
                <a:latin typeface="Arial"/>
                <a:ea typeface="Arial"/>
                <a:cs typeface="Arial"/>
              </a:defRPr>
            </a:defPPr>
          </a:lstStyle>
          <a:p xmlns:a="http://schemas.openxmlformats.org/drawingml/2006/main">
            <a:pPr algn="l">
              <a:lnSpc>
                <a:spcPct val="100000"/>
              </a:lnSpc>
              <a:buNone/>
              <a:defRPr sz="1200" b="1">
                <a:solidFill>
                  <a:srgbClr val="52647A"/>
                </a:solidFill>
                <a:latin typeface="Arial"/>
                <a:ea typeface="Arial"/>
                <a:cs typeface="Arial"/>
              </a:defRPr>
            </a:pPr>
            <a:r>
              <a:rPr sz="1200" b="1">
                <a:solidFill>
                  <a:srgbClr val="52647A"/>
                </a:solidFill>
                <a:latin typeface="Arial"/>
                <a:ea typeface="Arial"/>
                <a:cs typeface="Arial"/>
              </a:rPr>
              <a:t>Một lần chạy đối chứng · 15/10/2026 14:34 · Qwen2.5-Coder-7B · cùng bộ 30 bài · K tối đa = 3</a:t>
            </a:r>
          </a:p>
        </p:txBody>
      </p:sp>
      <p:sp>
        <p:nvSpPr>
          <p:cNvPr id="7" name="">
            <a:extLst xmlns:a="http://schemas.openxmlformats.org/drawingml/2006/main">
              <a:ext uri="{FF2B5EF4-FFF2-40B4-BE49-F238E27FC236}">
                <a16:creationId xmlns:a16="http://schemas.microsoft.com/office/drawing/2014/main" id="{3C1037E0-91A9-441E-BD52-8BAA0567A29D}"/>
              </a:ext>
            </a:extLst>
          </p:cNvPr>
          <p:cNvSpPr>
            <a:spLocks xmlns:a="http://schemas.openxmlformats.org/drawingml/2006/main" noGrp="1"/>
          </p:cNvSpPr>
          <p:nvPr/>
        </p:nvSpPr>
        <p:spPr>
          <a:xfrm xmlns:a="http://schemas.openxmlformats.org/drawingml/2006/main">
            <a:off x="742950" y="2038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CẤU HÌNH</a:t>
            </a:r>
          </a:p>
        </p:txBody>
      </p:sp>
      <p:sp>
        <p:nvSpPr>
          <p:cNvPr id="8" name="">
            <a:extLst xmlns:a="http://schemas.openxmlformats.org/drawingml/2006/main">
              <a:ext uri="{FF2B5EF4-FFF2-40B4-BE49-F238E27FC236}">
                <a16:creationId xmlns:a16="http://schemas.microsoft.com/office/drawing/2014/main" id="{F4B9F8F3-3E69-4434-BF35-3398B40060BF}"/>
              </a:ext>
            </a:extLst>
          </p:cNvPr>
          <p:cNvSpPr>
            <a:spLocks xmlns:a="http://schemas.openxmlformats.org/drawingml/2006/main" noGrp="1"/>
          </p:cNvSpPr>
          <p:nvPr/>
        </p:nvSpPr>
        <p:spPr>
          <a:xfrm xmlns:a="http://schemas.openxmlformats.org/drawingml/2006/main">
            <a:off x="2362200" y="20383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Pass@1</a:t>
            </a:r>
          </a:p>
        </p:txBody>
      </p:sp>
      <p:sp>
        <p:nvSpPr>
          <p:cNvPr id="9" name="">
            <a:extLst xmlns:a="http://schemas.openxmlformats.org/drawingml/2006/main">
              <a:ext uri="{FF2B5EF4-FFF2-40B4-BE49-F238E27FC236}">
                <a16:creationId xmlns:a16="http://schemas.microsoft.com/office/drawing/2014/main" id="{3478EF63-C149-49B7-8F6C-38831A3A50B6}"/>
              </a:ext>
            </a:extLst>
          </p:cNvPr>
          <p:cNvSpPr>
            <a:spLocks xmlns:a="http://schemas.openxmlformats.org/drawingml/2006/main" noGrp="1"/>
          </p:cNvSpPr>
          <p:nvPr/>
        </p:nvSpPr>
        <p:spPr>
          <a:xfrm xmlns:a="http://schemas.openxmlformats.org/drawingml/2006/main">
            <a:off x="5048250" y="20383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Pass@3</a:t>
            </a:r>
          </a:p>
        </p:txBody>
      </p:sp>
      <p:sp>
        <p:nvSpPr>
          <p:cNvPr id="10" name="">
            <a:extLst xmlns:a="http://schemas.openxmlformats.org/drawingml/2006/main">
              <a:ext uri="{FF2B5EF4-FFF2-40B4-BE49-F238E27FC236}">
                <a16:creationId xmlns:a16="http://schemas.microsoft.com/office/drawing/2014/main" id="{577830BD-B603-494C-9581-9A267BD9ECDA}"/>
              </a:ext>
            </a:extLst>
          </p:cNvPr>
          <p:cNvSpPr>
            <a:spLocks xmlns:a="http://schemas.openxmlformats.org/drawingml/2006/main" noGrp="1"/>
          </p:cNvSpPr>
          <p:nvPr/>
        </p:nvSpPr>
        <p:spPr>
          <a:xfrm xmlns:a="http://schemas.openxmlformats.org/drawingml/2006/main">
            <a:off x="742950" y="2381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233B"/>
                </a:solidFill>
                <a:latin typeface="Arial"/>
                <a:ea typeface="Arial"/>
                <a:cs typeface="Arial"/>
              </a:defRPr>
            </a:defPPr>
          </a:lstStyle>
          <a:p xmlns:a="http://schemas.openxmlformats.org/drawingml/2006/main">
            <a:pPr algn="l">
              <a:lnSpc>
                <a:spcPct val="100000"/>
              </a:lnSpc>
              <a:buNone/>
              <a:defRPr sz="1500" b="1">
                <a:solidFill>
                  <a:srgbClr val="14233B"/>
                </a:solidFill>
                <a:latin typeface="Arial"/>
                <a:ea typeface="Arial"/>
                <a:cs typeface="Arial"/>
              </a:defRPr>
            </a:pPr>
            <a:r>
              <a:rPr sz="1500" b="1">
                <a:solidFill>
                  <a:srgbClr val="14233B"/>
                </a:solidFill>
                <a:latin typeface="Arial"/>
                <a:ea typeface="Arial"/>
                <a:cs typeface="Arial"/>
              </a:rPr>
              <a:t>Baseline nội bộ</a:t>
            </a:r>
          </a:p>
        </p:txBody>
      </p:sp>
      <p:sp>
        <p:nvSpPr>
          <p:cNvPr id="11" name="">
            <a:extLst xmlns:a="http://schemas.openxmlformats.org/drawingml/2006/main">
              <a:ext uri="{FF2B5EF4-FFF2-40B4-BE49-F238E27FC236}">
                <a16:creationId xmlns:a16="http://schemas.microsoft.com/office/drawing/2014/main" id="{C56712FB-20E8-40F6-BF6C-FEAF885ADD0D}"/>
              </a:ext>
            </a:extLst>
          </p:cNvPr>
          <p:cNvSpPr>
            <a:spLocks xmlns:a="http://schemas.openxmlformats.org/drawingml/2006/main" noGrp="1"/>
          </p:cNvSpPr>
          <p:nvPr/>
        </p:nvSpPr>
        <p:spPr>
          <a:xfrm xmlns:a="http://schemas.openxmlformats.org/drawingml/2006/main">
            <a:off x="742950" y="26670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Clover-style · đối chứng</a:t>
            </a:r>
          </a:p>
        </p:txBody>
      </p:sp>
      <p:sp>
        <p:nvSpPr>
          <p:cNvPr id="12" name="">
            <a:extLst xmlns:a="http://schemas.openxmlformats.org/drawingml/2006/main">
              <a:ext uri="{FF2B5EF4-FFF2-40B4-BE49-F238E27FC236}">
                <a16:creationId xmlns:a16="http://schemas.microsoft.com/office/drawing/2014/main" id="{D6E82019-7C22-436A-8C3E-1494AA872251}"/>
              </a:ext>
            </a:extLst>
          </p:cNvPr>
          <p:cNvSpPr>
            <a:spLocks xmlns:a="http://schemas.openxmlformats.org/drawingml/2006/main" noGrp="1"/>
          </p:cNvSpPr>
          <p:nvPr/>
        </p:nvSpPr>
        <p:spPr>
          <a:xfrm xmlns:a="http://schemas.openxmlformats.org/drawingml/2006/main">
            <a:off x="2362200" y="2419350"/>
            <a:ext cx="2381250" cy="190500"/>
          </a:xfrm>
          <a:prstGeom xmlns:a="http://schemas.openxmlformats.org/drawingml/2006/main" prst="roundRect">
            <a:avLst>
              <a:gd name="adj" fmla="val 25000"/>
            </a:avLst>
          </a:prstGeom>
          <a:solidFill xmlns:a="http://schemas.openxmlformats.org/drawingml/2006/main">
            <a:srgbClr val="E6EBF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220E66C-2119-4A7F-8A92-84713242692E}"/>
              </a:ext>
            </a:extLst>
          </p:cNvPr>
          <p:cNvSpPr>
            <a:spLocks xmlns:a="http://schemas.openxmlformats.org/drawingml/2006/main" noGrp="1"/>
          </p:cNvSpPr>
          <p:nvPr/>
        </p:nvSpPr>
        <p:spPr>
          <a:xfrm xmlns:a="http://schemas.openxmlformats.org/drawingml/2006/main">
            <a:off x="2362200" y="2419350"/>
            <a:ext cx="397669" cy="1905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C664E82-F3C0-467C-999E-84B071FA77AA}"/>
              </a:ext>
            </a:extLst>
          </p:cNvPr>
          <p:cNvSpPr>
            <a:spLocks xmlns:a="http://schemas.openxmlformats.org/drawingml/2006/main" noGrp="1"/>
          </p:cNvSpPr>
          <p:nvPr/>
        </p:nvSpPr>
        <p:spPr>
          <a:xfrm xmlns:a="http://schemas.openxmlformats.org/drawingml/2006/main">
            <a:off x="2362200" y="26574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4233B"/>
                </a:solidFill>
                <a:latin typeface="Arial"/>
                <a:ea typeface="Arial"/>
                <a:cs typeface="Arial"/>
              </a:defRPr>
            </a:defPPr>
          </a:lstStyle>
          <a:p xmlns:a="http://schemas.openxmlformats.org/drawingml/2006/main">
            <a:pPr algn="l">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5/30 · 16,7%</a:t>
            </a:r>
          </a:p>
        </p:txBody>
      </p:sp>
      <p:sp>
        <p:nvSpPr>
          <p:cNvPr id="15" name="">
            <a:extLst xmlns:a="http://schemas.openxmlformats.org/drawingml/2006/main">
              <a:ext uri="{FF2B5EF4-FFF2-40B4-BE49-F238E27FC236}">
                <a16:creationId xmlns:a16="http://schemas.microsoft.com/office/drawing/2014/main" id="{8395642E-3A51-4CCC-8202-A87D49F51F18}"/>
              </a:ext>
            </a:extLst>
          </p:cNvPr>
          <p:cNvSpPr>
            <a:spLocks xmlns:a="http://schemas.openxmlformats.org/drawingml/2006/main" noGrp="1"/>
          </p:cNvSpPr>
          <p:nvPr/>
        </p:nvSpPr>
        <p:spPr>
          <a:xfrm xmlns:a="http://schemas.openxmlformats.org/drawingml/2006/main">
            <a:off x="5048250" y="2419350"/>
            <a:ext cx="2381250" cy="190500"/>
          </a:xfrm>
          <a:prstGeom xmlns:a="http://schemas.openxmlformats.org/drawingml/2006/main" prst="roundRect">
            <a:avLst>
              <a:gd name="adj" fmla="val 25000"/>
            </a:avLst>
          </a:prstGeom>
          <a:solidFill xmlns:a="http://schemas.openxmlformats.org/drawingml/2006/main">
            <a:srgbClr val="E6EB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40F83DA-C132-4E33-B332-EA876E8BAC2C}"/>
              </a:ext>
            </a:extLst>
          </p:cNvPr>
          <p:cNvSpPr>
            <a:spLocks xmlns:a="http://schemas.openxmlformats.org/drawingml/2006/main" noGrp="1"/>
          </p:cNvSpPr>
          <p:nvPr/>
        </p:nvSpPr>
        <p:spPr>
          <a:xfrm xmlns:a="http://schemas.openxmlformats.org/drawingml/2006/main">
            <a:off x="5048250" y="2419350"/>
            <a:ext cx="476250" cy="190500"/>
          </a:xfrm>
          <a:prstGeom xmlns:a="http://schemas.openxmlformats.org/drawingml/2006/main" prst="roundRect">
            <a:avLst>
              <a:gd name="adj" fmla="val 25000"/>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3114329-B28D-4EDC-9D48-F362AF3241DD}"/>
              </a:ext>
            </a:extLst>
          </p:cNvPr>
          <p:cNvSpPr>
            <a:spLocks xmlns:a="http://schemas.openxmlformats.org/drawingml/2006/main" noGrp="1"/>
          </p:cNvSpPr>
          <p:nvPr/>
        </p:nvSpPr>
        <p:spPr>
          <a:xfrm xmlns:a="http://schemas.openxmlformats.org/drawingml/2006/main">
            <a:off x="5048250" y="26574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4233B"/>
                </a:solidFill>
                <a:latin typeface="Arial"/>
                <a:ea typeface="Arial"/>
                <a:cs typeface="Arial"/>
              </a:defRPr>
            </a:defPPr>
          </a:lstStyle>
          <a:p xmlns:a="http://schemas.openxmlformats.org/drawingml/2006/main">
            <a:pPr algn="l">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6/30 · 20,0%</a:t>
            </a:r>
          </a:p>
        </p:txBody>
      </p:sp>
      <p:sp>
        <p:nvSpPr>
          <p:cNvPr id="18" name="">
            <a:extLst xmlns:a="http://schemas.openxmlformats.org/drawingml/2006/main">
              <a:ext uri="{FF2B5EF4-FFF2-40B4-BE49-F238E27FC236}">
                <a16:creationId xmlns:a16="http://schemas.microsoft.com/office/drawing/2014/main" id="{C59180D2-D9ED-45BF-8BBE-B45CFB70AC16}"/>
              </a:ext>
            </a:extLst>
          </p:cNvPr>
          <p:cNvSpPr>
            <a:spLocks xmlns:a="http://schemas.openxmlformats.org/drawingml/2006/main" noGrp="1"/>
          </p:cNvSpPr>
          <p:nvPr/>
        </p:nvSpPr>
        <p:spPr>
          <a:xfrm xmlns:a="http://schemas.openxmlformats.org/drawingml/2006/main">
            <a:off x="742950" y="3105150"/>
            <a:ext cx="66675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9" name="">
            <a:extLst xmlns:a="http://schemas.openxmlformats.org/drawingml/2006/main">
              <a:ext uri="{FF2B5EF4-FFF2-40B4-BE49-F238E27FC236}">
                <a16:creationId xmlns:a16="http://schemas.microsoft.com/office/drawing/2014/main" id="{62F4811A-EFB6-4F4C-AD7E-0FFC678AD916}"/>
              </a:ext>
            </a:extLst>
          </p:cNvPr>
          <p:cNvSpPr>
            <a:spLocks xmlns:a="http://schemas.openxmlformats.org/drawingml/2006/main" noGrp="1"/>
          </p:cNvSpPr>
          <p:nvPr/>
        </p:nvSpPr>
        <p:spPr>
          <a:xfrm xmlns:a="http://schemas.openxmlformats.org/drawingml/2006/main">
            <a:off x="742950" y="33718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233B"/>
                </a:solidFill>
                <a:latin typeface="Arial"/>
                <a:ea typeface="Arial"/>
                <a:cs typeface="Arial"/>
              </a:defRPr>
            </a:defPPr>
          </a:lstStyle>
          <a:p xmlns:a="http://schemas.openxmlformats.org/drawingml/2006/main">
            <a:pPr algn="l">
              <a:lnSpc>
                <a:spcPct val="100000"/>
              </a:lnSpc>
              <a:buNone/>
              <a:defRPr sz="1500" b="1">
                <a:solidFill>
                  <a:srgbClr val="14233B"/>
                </a:solidFill>
                <a:latin typeface="Arial"/>
                <a:ea typeface="Arial"/>
                <a:cs typeface="Arial"/>
              </a:defRPr>
            </a:pPr>
            <a:r>
              <a:rPr sz="1500" b="1">
                <a:solidFill>
                  <a:srgbClr val="14233B"/>
                </a:solidFill>
                <a:latin typeface="Arial"/>
                <a:ea typeface="Arial"/>
                <a:cs typeface="Arial"/>
              </a:rPr>
              <a:t>Pipeline đầy đủ</a:t>
            </a:r>
          </a:p>
        </p:txBody>
      </p:sp>
      <p:sp>
        <p:nvSpPr>
          <p:cNvPr id="20" name="">
            <a:extLst xmlns:a="http://schemas.openxmlformats.org/drawingml/2006/main">
              <a:ext uri="{FF2B5EF4-FFF2-40B4-BE49-F238E27FC236}">
                <a16:creationId xmlns:a16="http://schemas.microsoft.com/office/drawing/2014/main" id="{2B782708-9BF4-4C14-8218-EAC4CFE43471}"/>
              </a:ext>
            </a:extLst>
          </p:cNvPr>
          <p:cNvSpPr>
            <a:spLocks xmlns:a="http://schemas.openxmlformats.org/drawingml/2006/main" noGrp="1"/>
          </p:cNvSpPr>
          <p:nvPr/>
        </p:nvSpPr>
        <p:spPr>
          <a:xfrm xmlns:a="http://schemas.openxmlformats.org/drawingml/2006/main">
            <a:off x="742950" y="36576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Các module đang bật</a:t>
            </a:r>
          </a:p>
        </p:txBody>
      </p:sp>
      <p:sp>
        <p:nvSpPr>
          <p:cNvPr id="21" name="">
            <a:extLst xmlns:a="http://schemas.openxmlformats.org/drawingml/2006/main">
              <a:ext uri="{FF2B5EF4-FFF2-40B4-BE49-F238E27FC236}">
                <a16:creationId xmlns:a16="http://schemas.microsoft.com/office/drawing/2014/main" id="{68B4C417-CF92-4EC1-9105-694A0184EA55}"/>
              </a:ext>
            </a:extLst>
          </p:cNvPr>
          <p:cNvSpPr>
            <a:spLocks xmlns:a="http://schemas.openxmlformats.org/drawingml/2006/main" noGrp="1"/>
          </p:cNvSpPr>
          <p:nvPr/>
        </p:nvSpPr>
        <p:spPr>
          <a:xfrm xmlns:a="http://schemas.openxmlformats.org/drawingml/2006/main">
            <a:off x="2362200" y="3409950"/>
            <a:ext cx="2381250" cy="190500"/>
          </a:xfrm>
          <a:prstGeom xmlns:a="http://schemas.openxmlformats.org/drawingml/2006/main" prst="roundRect">
            <a:avLst>
              <a:gd name="adj" fmla="val 25000"/>
            </a:avLst>
          </a:prstGeom>
          <a:solidFill xmlns:a="http://schemas.openxmlformats.org/drawingml/2006/main">
            <a:srgbClr val="E6EBF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58BA64-06EC-497B-9063-1CBE4C559FA0}"/>
              </a:ext>
            </a:extLst>
          </p:cNvPr>
          <p:cNvSpPr>
            <a:spLocks xmlns:a="http://schemas.openxmlformats.org/drawingml/2006/main" noGrp="1"/>
          </p:cNvSpPr>
          <p:nvPr/>
        </p:nvSpPr>
        <p:spPr>
          <a:xfrm xmlns:a="http://schemas.openxmlformats.org/drawingml/2006/main">
            <a:off x="2362200" y="3409950"/>
            <a:ext cx="2221706" cy="1905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A3CF674-D03C-4DD7-A0B7-46105368A556}"/>
              </a:ext>
            </a:extLst>
          </p:cNvPr>
          <p:cNvSpPr>
            <a:spLocks xmlns:a="http://schemas.openxmlformats.org/drawingml/2006/main" noGrp="1"/>
          </p:cNvSpPr>
          <p:nvPr/>
        </p:nvSpPr>
        <p:spPr>
          <a:xfrm xmlns:a="http://schemas.openxmlformats.org/drawingml/2006/main">
            <a:off x="2362200" y="36480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4233B"/>
                </a:solidFill>
                <a:latin typeface="Arial"/>
                <a:ea typeface="Arial"/>
                <a:cs typeface="Arial"/>
              </a:defRPr>
            </a:defPPr>
          </a:lstStyle>
          <a:p xmlns:a="http://schemas.openxmlformats.org/drawingml/2006/main">
            <a:pPr algn="l">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28/30 · 93,3%</a:t>
            </a:r>
          </a:p>
        </p:txBody>
      </p:sp>
      <p:sp>
        <p:nvSpPr>
          <p:cNvPr id="24" name="">
            <a:extLst xmlns:a="http://schemas.openxmlformats.org/drawingml/2006/main">
              <a:ext uri="{FF2B5EF4-FFF2-40B4-BE49-F238E27FC236}">
                <a16:creationId xmlns:a16="http://schemas.microsoft.com/office/drawing/2014/main" id="{B9D39F01-88B3-4B54-ADF3-974CA8827D99}"/>
              </a:ext>
            </a:extLst>
          </p:cNvPr>
          <p:cNvSpPr>
            <a:spLocks xmlns:a="http://schemas.openxmlformats.org/drawingml/2006/main" noGrp="1"/>
          </p:cNvSpPr>
          <p:nvPr/>
        </p:nvSpPr>
        <p:spPr>
          <a:xfrm xmlns:a="http://schemas.openxmlformats.org/drawingml/2006/main">
            <a:off x="5048250" y="3409950"/>
            <a:ext cx="2381250" cy="190500"/>
          </a:xfrm>
          <a:prstGeom xmlns:a="http://schemas.openxmlformats.org/drawingml/2006/main" prst="roundRect">
            <a:avLst>
              <a:gd name="adj" fmla="val 25000"/>
            </a:avLst>
          </a:prstGeom>
          <a:solidFill xmlns:a="http://schemas.openxmlformats.org/drawingml/2006/main">
            <a:srgbClr val="E6EBF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09D3648-6340-4E02-8E34-169118164A15}"/>
              </a:ext>
            </a:extLst>
          </p:cNvPr>
          <p:cNvSpPr>
            <a:spLocks xmlns:a="http://schemas.openxmlformats.org/drawingml/2006/main" noGrp="1"/>
          </p:cNvSpPr>
          <p:nvPr/>
        </p:nvSpPr>
        <p:spPr>
          <a:xfrm xmlns:a="http://schemas.openxmlformats.org/drawingml/2006/main">
            <a:off x="5048250" y="3409950"/>
            <a:ext cx="2302669" cy="190500"/>
          </a:xfrm>
          <a:prstGeom xmlns:a="http://schemas.openxmlformats.org/drawingml/2006/main" prst="roundRect">
            <a:avLst>
              <a:gd name="adj" fmla="val 25000"/>
            </a:avLst>
          </a:prstGeom>
          <a:solidFill xmlns:a="http://schemas.openxmlformats.org/drawingml/2006/main">
            <a:srgbClr val="0F8B8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60F066-390D-4E6A-9156-4A69417270BA}"/>
              </a:ext>
            </a:extLst>
          </p:cNvPr>
          <p:cNvSpPr>
            <a:spLocks xmlns:a="http://schemas.openxmlformats.org/drawingml/2006/main" noGrp="1"/>
          </p:cNvSpPr>
          <p:nvPr/>
        </p:nvSpPr>
        <p:spPr>
          <a:xfrm xmlns:a="http://schemas.openxmlformats.org/drawingml/2006/main">
            <a:off x="5048250" y="36480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4233B"/>
                </a:solidFill>
                <a:latin typeface="Arial"/>
                <a:ea typeface="Arial"/>
                <a:cs typeface="Arial"/>
              </a:defRPr>
            </a:defPPr>
          </a:lstStyle>
          <a:p xmlns:a="http://schemas.openxmlformats.org/drawingml/2006/main">
            <a:pPr algn="l">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29/30 · 96,7%</a:t>
            </a:r>
          </a:p>
        </p:txBody>
      </p:sp>
      <p:sp>
        <p:nvSpPr>
          <p:cNvPr id="27" name="">
            <a:extLst xmlns:a="http://schemas.openxmlformats.org/drawingml/2006/main">
              <a:ext uri="{FF2B5EF4-FFF2-40B4-BE49-F238E27FC236}">
                <a16:creationId xmlns:a16="http://schemas.microsoft.com/office/drawing/2014/main" id="{0715CFE2-DAA7-4ABF-B6AC-259A8E8F5A34}"/>
              </a:ext>
            </a:extLst>
          </p:cNvPr>
          <p:cNvSpPr>
            <a:spLocks xmlns:a="http://schemas.openxmlformats.org/drawingml/2006/main" noGrp="1"/>
          </p:cNvSpPr>
          <p:nvPr/>
        </p:nvSpPr>
        <p:spPr>
          <a:xfrm xmlns:a="http://schemas.openxmlformats.org/drawingml/2006/main">
            <a:off x="2362200" y="4029075"/>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Tỉ lệ bài được Dafny xác minh</a:t>
            </a:r>
          </a:p>
        </p:txBody>
      </p:sp>
      <p:sp>
        <p:nvSpPr>
          <p:cNvPr id="28" name="">
            <a:extLst xmlns:a="http://schemas.openxmlformats.org/drawingml/2006/main">
              <a:ext uri="{FF2B5EF4-FFF2-40B4-BE49-F238E27FC236}">
                <a16:creationId xmlns:a16="http://schemas.microsoft.com/office/drawing/2014/main" id="{8CAB8B36-F03F-4096-A2BB-3AA426A6D95F}"/>
              </a:ext>
            </a:extLst>
          </p:cNvPr>
          <p:cNvSpPr>
            <a:spLocks xmlns:a="http://schemas.openxmlformats.org/drawingml/2006/main" noGrp="1"/>
          </p:cNvSpPr>
          <p:nvPr/>
        </p:nvSpPr>
        <p:spPr>
          <a:xfrm xmlns:a="http://schemas.openxmlformats.org/drawingml/2006/main">
            <a:off x="7924800" y="2038350"/>
            <a:ext cx="3676650" cy="2647950"/>
          </a:xfrm>
          <a:prstGeom xmlns:a="http://schemas.openxmlformats.org/drawingml/2006/main" prst="roundRect">
            <a:avLst>
              <a:gd name="adj" fmla="val 5036"/>
            </a:avLst>
          </a:prstGeom>
          <a:solidFill xmlns:a="http://schemas.openxmlformats.org/drawingml/2006/main">
            <a:srgbClr val="F0F3F8"/>
          </a:solidFill>
          <a:ln xmlns:a="http://schemas.openxmlformats.org/drawingml/2006/main" w="9525">
            <a:solidFill>
              <a:srgbClr val="D8E0EA"/>
            </a:solidFill>
            <a:prstDash val="solid"/>
          </a:ln>
        </p:spPr>
      </p:sp>
      <p:sp>
        <p:nvSpPr>
          <p:cNvPr id="29" name="">
            <a:extLst xmlns:a="http://schemas.openxmlformats.org/drawingml/2006/main">
              <a:ext uri="{FF2B5EF4-FFF2-40B4-BE49-F238E27FC236}">
                <a16:creationId xmlns:a16="http://schemas.microsoft.com/office/drawing/2014/main" id="{B91281BF-85FA-4AE0-8D7B-B265EBF278DF}"/>
              </a:ext>
            </a:extLst>
          </p:cNvPr>
          <p:cNvSpPr>
            <a:spLocks xmlns:a="http://schemas.openxmlformats.org/drawingml/2006/main" noGrp="1"/>
          </p:cNvSpPr>
          <p:nvPr/>
        </p:nvSpPr>
        <p:spPr>
          <a:xfrm xmlns:a="http://schemas.openxmlformats.org/drawingml/2006/main">
            <a:off x="8134350" y="2209800"/>
            <a:ext cx="3286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2563EB"/>
                </a:solidFill>
                <a:latin typeface="Arial"/>
                <a:ea typeface="Arial"/>
                <a:cs typeface="Arial"/>
              </a:defRPr>
            </a:defPPr>
          </a:lstStyle>
          <a:p xmlns:a="http://schemas.openxmlformats.org/drawingml/2006/main">
            <a:pPr algn="l">
              <a:lnSpc>
                <a:spcPct val="100000"/>
              </a:lnSpc>
              <a:buNone/>
              <a:defRPr sz="1050" b="1">
                <a:solidFill>
                  <a:srgbClr val="2563EB"/>
                </a:solidFill>
                <a:latin typeface="Arial"/>
                <a:ea typeface="Arial"/>
                <a:cs typeface="Arial"/>
              </a:defRPr>
            </a:pPr>
            <a:r>
              <a:rPr sz="1050" b="1">
                <a:solidFill>
                  <a:srgbClr val="2563EB"/>
                </a:solidFill>
                <a:latin typeface="Arial"/>
                <a:ea typeface="Arial"/>
                <a:cs typeface="Arial"/>
              </a:rPr>
              <a:t>CHÊNH LỆCH GIỮA HAI CẤU HÌNH</a:t>
            </a:r>
          </a:p>
        </p:txBody>
      </p:sp>
      <p:sp>
        <p:nvSpPr>
          <p:cNvPr id="30" name="">
            <a:extLst xmlns:a="http://schemas.openxmlformats.org/drawingml/2006/main">
              <a:ext uri="{FF2B5EF4-FFF2-40B4-BE49-F238E27FC236}">
                <a16:creationId xmlns:a16="http://schemas.microsoft.com/office/drawing/2014/main" id="{5EC3D2AC-D1D0-4672-87E2-36EE94E84952}"/>
              </a:ext>
            </a:extLst>
          </p:cNvPr>
          <p:cNvSpPr>
            <a:spLocks xmlns:a="http://schemas.openxmlformats.org/drawingml/2006/main" noGrp="1"/>
          </p:cNvSpPr>
          <p:nvPr/>
        </p:nvSpPr>
        <p:spPr>
          <a:xfrm xmlns:a="http://schemas.openxmlformats.org/drawingml/2006/main">
            <a:off x="8134350" y="2581275"/>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2563EB"/>
                </a:solidFill>
                <a:latin typeface="Arial"/>
                <a:ea typeface="Arial"/>
                <a:cs typeface="Arial"/>
              </a:defRPr>
            </a:defPPr>
          </a:lstStyle>
          <a:p xmlns:a="http://schemas.openxmlformats.org/drawingml/2006/main">
            <a:pPr algn="l">
              <a:lnSpc>
                <a:spcPct val="100000"/>
              </a:lnSpc>
              <a:buNone/>
              <a:defRPr sz="2025" b="1">
                <a:solidFill>
                  <a:srgbClr val="2563EB"/>
                </a:solidFill>
                <a:latin typeface="Arial"/>
                <a:ea typeface="Arial"/>
                <a:cs typeface="Arial"/>
              </a:defRPr>
            </a:pPr>
            <a:r>
              <a:rPr sz="2025" b="1">
                <a:solidFill>
                  <a:srgbClr val="2563EB"/>
                </a:solidFill>
                <a:latin typeface="Arial"/>
                <a:ea typeface="Arial"/>
                <a:cs typeface="Arial"/>
              </a:rPr>
              <a:t>+76,6 điểm %</a:t>
            </a:r>
          </a:p>
        </p:txBody>
      </p:sp>
      <p:sp>
        <p:nvSpPr>
          <p:cNvPr id="31" name="">
            <a:extLst xmlns:a="http://schemas.openxmlformats.org/drawingml/2006/main">
              <a:ext uri="{FF2B5EF4-FFF2-40B4-BE49-F238E27FC236}">
                <a16:creationId xmlns:a16="http://schemas.microsoft.com/office/drawing/2014/main" id="{A674C361-76DE-4A04-96D6-FA259FF04F20}"/>
              </a:ext>
            </a:extLst>
          </p:cNvPr>
          <p:cNvSpPr>
            <a:spLocks xmlns:a="http://schemas.openxmlformats.org/drawingml/2006/main" noGrp="1"/>
          </p:cNvSpPr>
          <p:nvPr/>
        </p:nvSpPr>
        <p:spPr>
          <a:xfrm xmlns:a="http://schemas.openxmlformats.org/drawingml/2006/main">
            <a:off x="8134350" y="29527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4233B"/>
                </a:solidFill>
                <a:latin typeface="Arial"/>
                <a:ea typeface="Arial"/>
                <a:cs typeface="Arial"/>
              </a:defRPr>
            </a:defPPr>
          </a:lstStyle>
          <a:p xmlns:a="http://schemas.openxmlformats.org/drawingml/2006/main">
            <a:pPr algn="l">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Pass@1  ·  +76,7 điểm % Pass@3</a:t>
            </a:r>
          </a:p>
        </p:txBody>
      </p:sp>
      <p:sp>
        <p:nvSpPr>
          <p:cNvPr id="32" name="">
            <a:extLst xmlns:a="http://schemas.openxmlformats.org/drawingml/2006/main">
              <a:ext uri="{FF2B5EF4-FFF2-40B4-BE49-F238E27FC236}">
                <a16:creationId xmlns:a16="http://schemas.microsoft.com/office/drawing/2014/main" id="{3416A6D8-AFA3-438A-A7B1-1EB51A736D39}"/>
              </a:ext>
            </a:extLst>
          </p:cNvPr>
          <p:cNvSpPr>
            <a:spLocks xmlns:a="http://schemas.openxmlformats.org/drawingml/2006/main" noGrp="1"/>
          </p:cNvSpPr>
          <p:nvPr/>
        </p:nvSpPr>
        <p:spPr>
          <a:xfrm xmlns:a="http://schemas.openxmlformats.org/drawingml/2006/main">
            <a:off x="8134350" y="3314700"/>
            <a:ext cx="3209925"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33" name="">
            <a:extLst xmlns:a="http://schemas.openxmlformats.org/drawingml/2006/main">
              <a:ext uri="{FF2B5EF4-FFF2-40B4-BE49-F238E27FC236}">
                <a16:creationId xmlns:a16="http://schemas.microsoft.com/office/drawing/2014/main" id="{97E03697-33E7-413F-82B9-7B41C37628F3}"/>
              </a:ext>
            </a:extLst>
          </p:cNvPr>
          <p:cNvSpPr>
            <a:spLocks xmlns:a="http://schemas.openxmlformats.org/drawingml/2006/main" noGrp="1"/>
          </p:cNvSpPr>
          <p:nvPr/>
        </p:nvSpPr>
        <p:spPr>
          <a:xfrm xmlns:a="http://schemas.openxmlformats.org/drawingml/2006/main">
            <a:off x="8134350" y="34861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Tác động riêng của lượt sửa</a:t>
            </a:r>
          </a:p>
        </p:txBody>
      </p:sp>
      <p:sp>
        <p:nvSpPr>
          <p:cNvPr id="34" name="">
            <a:extLst xmlns:a="http://schemas.openxmlformats.org/drawingml/2006/main">
              <a:ext uri="{FF2B5EF4-FFF2-40B4-BE49-F238E27FC236}">
                <a16:creationId xmlns:a16="http://schemas.microsoft.com/office/drawing/2014/main" id="{DFE5C806-8D98-4AF3-828D-9345B4F03228}"/>
              </a:ext>
            </a:extLst>
          </p:cNvPr>
          <p:cNvSpPr>
            <a:spLocks xmlns:a="http://schemas.openxmlformats.org/drawingml/2006/main" noGrp="1"/>
          </p:cNvSpPr>
          <p:nvPr/>
        </p:nvSpPr>
        <p:spPr>
          <a:xfrm xmlns:a="http://schemas.openxmlformats.org/drawingml/2006/main">
            <a:off x="8134350" y="377190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4233B"/>
                </a:solidFill>
                <a:latin typeface="Arial"/>
                <a:ea typeface="Arial"/>
                <a:cs typeface="Arial"/>
              </a:defRPr>
            </a:defPPr>
          </a:lstStyle>
          <a:p xmlns:a="http://schemas.openxmlformats.org/drawingml/2006/main">
            <a:pPr algn="l">
              <a:lnSpc>
                <a:spcPct val="108000"/>
              </a:lnSpc>
              <a:buNone/>
              <a:defRPr sz="1200" b="0">
                <a:solidFill>
                  <a:srgbClr val="14233B"/>
                </a:solidFill>
                <a:latin typeface="Arial"/>
                <a:ea typeface="Arial"/>
                <a:cs typeface="Arial"/>
              </a:defRPr>
            </a:pPr>
            <a:r>
              <a:rPr sz="1200" b="0">
                <a:solidFill>
                  <a:srgbClr val="14233B"/>
                </a:solidFill>
                <a:latin typeface="Arial"/>
                <a:ea typeface="Arial"/>
                <a:cs typeface="Arial"/>
              </a:rPr>
              <a:t>Trong pipeline đầy đủ, lượt 2 cứu thêm 1/30 bài: 031-is-prime. Pass@1 lên Pass@3 tăng 3,3 điểm %. </a:t>
            </a:r>
          </a:p>
        </p:txBody>
      </p:sp>
      <p:sp>
        <p:nvSpPr>
          <p:cNvPr id="35" name="">
            <a:extLst xmlns:a="http://schemas.openxmlformats.org/drawingml/2006/main">
              <a:ext uri="{FF2B5EF4-FFF2-40B4-BE49-F238E27FC236}">
                <a16:creationId xmlns:a16="http://schemas.microsoft.com/office/drawing/2014/main" id="{11F89669-0B20-470A-A5A3-9F96B523BB38}"/>
              </a:ext>
            </a:extLst>
          </p:cNvPr>
          <p:cNvSpPr>
            <a:spLocks xmlns:a="http://schemas.openxmlformats.org/drawingml/2006/main" noGrp="1"/>
          </p:cNvSpPr>
          <p:nvPr/>
        </p:nvSpPr>
        <p:spPr>
          <a:xfrm xmlns:a="http://schemas.openxmlformats.org/drawingml/2006/main">
            <a:off x="742950" y="4476750"/>
            <a:ext cx="676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So sánh cấu hình chưa tách riêng tác động từng module.</a:t>
            </a:r>
          </a:p>
        </p:txBody>
      </p:sp>
      <p:sp>
        <p:nvSpPr>
          <p:cNvPr id="36" name="">
            <a:extLst xmlns:a="http://schemas.openxmlformats.org/drawingml/2006/main">
              <a:ext uri="{FF2B5EF4-FFF2-40B4-BE49-F238E27FC236}">
                <a16:creationId xmlns:a16="http://schemas.microsoft.com/office/drawing/2014/main" id="{DFA41383-884A-4F11-B535-A7A803396C1D}"/>
              </a:ext>
            </a:extLst>
          </p:cNvPr>
          <p:cNvSpPr>
            <a:spLocks xmlns:a="http://schemas.openxmlformats.org/drawingml/2006/main" noGrp="1"/>
          </p:cNvSpPr>
          <p:nvPr/>
        </p:nvSpPr>
        <p:spPr>
          <a:xfrm xmlns:a="http://schemas.openxmlformats.org/drawingml/2006/main">
            <a:off x="742950" y="5029200"/>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47A11"/>
                </a:solidFill>
                <a:latin typeface="Arial"/>
                <a:ea typeface="Arial"/>
                <a:cs typeface="Arial"/>
              </a:defRPr>
            </a:defPPr>
          </a:lstStyle>
          <a:p xmlns:a="http://schemas.openxmlformats.org/drawingml/2006/main">
            <a:pPr algn="l">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Ảnh tùy chọn: log hai lượt của 031-is-prime để minh họa.</a:t>
            </a:r>
          </a:p>
        </p:txBody>
      </p:sp>
      <p:sp>
        <p:nvSpPr>
          <p:cNvPr id="37" name="">
            <a:extLst xmlns:a="http://schemas.openxmlformats.org/drawingml/2006/main">
              <a:ext uri="{FF2B5EF4-FFF2-40B4-BE49-F238E27FC236}">
                <a16:creationId xmlns:a16="http://schemas.microsoft.com/office/drawing/2014/main" id="{45A62633-278C-4F74-9D61-D1966167C175}"/>
              </a:ext>
            </a:extLst>
          </p:cNvPr>
          <p:cNvSpPr>
            <a:spLocks xmlns:a="http://schemas.openxmlformats.org/drawingml/2006/main" noGrp="1"/>
          </p:cNvSpPr>
          <p:nvPr/>
        </p:nvSpPr>
        <p:spPr>
          <a:xfrm xmlns:a="http://schemas.openxmlformats.org/drawingml/2006/main">
            <a:off x="742950" y="53625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Một lần chạy sơ bộ; chưa đủ cơ sở khái quát hóa kết quả.</a:t>
            </a:r>
          </a:p>
        </p:txBody>
      </p:sp>
    </p:spTree>
    <p:extLst>
      <p:ext uri="{BB962C8B-B14F-4D97-AF65-F5344CB8AC3E}">
        <p14:creationId xmlns:p14="http://schemas.microsoft.com/office/powerpoint/2010/main" val="67539375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A30FEBF-F82B-410A-AF4A-1089B67901F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E5CBF3-4B82-443C-9497-B2AE51B65361}"/>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781F2494-EDA6-47D9-8B56-B867A99E45EB}"/>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 hoạch triển khai nghiên cứu</a:t>
            </a:r>
          </a:p>
        </p:txBody>
      </p:sp>
      <p:sp>
        <p:nvSpPr>
          <p:cNvPr id="4" name="">
            <a:extLst xmlns:a="http://schemas.openxmlformats.org/drawingml/2006/main">
              <a:ext uri="{FF2B5EF4-FFF2-40B4-BE49-F238E27FC236}">
                <a16:creationId xmlns:a16="http://schemas.microsoft.com/office/drawing/2014/main" id="{42DFBCDD-68E7-4105-9EC1-63E933E83FFF}"/>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2AA23585-6277-4020-A4E5-061306D55FA5}"/>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06  /  07</a:t>
            </a:r>
          </a:p>
        </p:txBody>
      </p:sp>
      <p:sp>
        <p:nvSpPr>
          <p:cNvPr id="6" name="">
            <a:extLst xmlns:a="http://schemas.openxmlformats.org/drawingml/2006/main">
              <a:ext uri="{FF2B5EF4-FFF2-40B4-BE49-F238E27FC236}">
                <a16:creationId xmlns:a16="http://schemas.microsoft.com/office/drawing/2014/main" id="{BC7B3A67-5E93-4532-BF69-71956ECC0840}"/>
              </a:ext>
            </a:extLst>
          </p:cNvPr>
          <p:cNvSpPr>
            <a:spLocks xmlns:a="http://schemas.openxmlformats.org/drawingml/2006/main" noGrp="1"/>
          </p:cNvSpPr>
          <p:nvPr/>
        </p:nvSpPr>
        <p:spPr>
          <a:xfrm xmlns:a="http://schemas.openxmlformats.org/drawingml/2006/main">
            <a:off x="590550" y="2114550"/>
            <a:ext cx="2286000" cy="2133600"/>
          </a:xfrm>
          <a:prstGeom xmlns:a="http://schemas.openxmlformats.org/drawingml/2006/main" prst="roundRect">
            <a:avLst>
              <a:gd name="adj" fmla="val 6250"/>
            </a:avLst>
          </a:prstGeom>
          <a:solidFill xmlns:a="http://schemas.openxmlformats.org/drawingml/2006/main">
            <a:srgbClr val="E8F0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873CCA9-0CAC-446E-A03E-F9598D680560}"/>
              </a:ext>
            </a:extLst>
          </p:cNvPr>
          <p:cNvSpPr>
            <a:spLocks xmlns:a="http://schemas.openxmlformats.org/drawingml/2006/main" noGrp="1"/>
          </p:cNvSpPr>
          <p:nvPr/>
        </p:nvSpPr>
        <p:spPr>
          <a:xfrm xmlns:a="http://schemas.openxmlformats.org/drawingml/2006/main">
            <a:off x="7620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563EB"/>
                </a:solidFill>
                <a:latin typeface="Arial"/>
                <a:ea typeface="Arial"/>
                <a:cs typeface="Arial"/>
              </a:defRPr>
            </a:defPPr>
          </a:lstStyle>
          <a:p xmlns:a="http://schemas.openxmlformats.org/drawingml/2006/main">
            <a:pPr algn="l">
              <a:lnSpc>
                <a:spcPct val="100000"/>
              </a:lnSpc>
              <a:buNone/>
              <a:defRPr sz="2100" b="1">
                <a:solidFill>
                  <a:srgbClr val="2563EB"/>
                </a:solidFill>
                <a:latin typeface="Arial"/>
                <a:ea typeface="Arial"/>
                <a:cs typeface="Arial"/>
              </a:defRPr>
            </a:pPr>
            <a:r>
              <a:rPr sz="210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DCF09A91-58F7-4345-8EDB-3B3CB9DEAABD}"/>
              </a:ext>
            </a:extLst>
          </p:cNvPr>
          <p:cNvSpPr>
            <a:spLocks xmlns:a="http://schemas.openxmlformats.org/drawingml/2006/main" noGrp="1"/>
          </p:cNvSpPr>
          <p:nvPr/>
        </p:nvSpPr>
        <p:spPr>
          <a:xfrm xmlns:a="http://schemas.openxmlformats.org/drawingml/2006/main">
            <a:off x="7620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563EB"/>
                </a:solidFill>
                <a:latin typeface="Arial"/>
                <a:ea typeface="Arial"/>
                <a:cs typeface="Arial"/>
              </a:defRPr>
            </a:defPPr>
          </a:lstStyle>
          <a:p xmlns:a="http://schemas.openxmlformats.org/drawingml/2006/main">
            <a:pPr algn="l">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CHỐT TẬP BÀI</a:t>
            </a:r>
          </a:p>
        </p:txBody>
      </p:sp>
      <p:sp>
        <p:nvSpPr>
          <p:cNvPr id="9" name="">
            <a:extLst xmlns:a="http://schemas.openxmlformats.org/drawingml/2006/main">
              <a:ext uri="{FF2B5EF4-FFF2-40B4-BE49-F238E27FC236}">
                <a16:creationId xmlns:a16="http://schemas.microsoft.com/office/drawing/2014/main" id="{F2A470A3-D1A1-49F8-9ED1-D0E2EC276A75}"/>
              </a:ext>
            </a:extLst>
          </p:cNvPr>
          <p:cNvSpPr>
            <a:spLocks xmlns:a="http://schemas.openxmlformats.org/drawingml/2006/main" noGrp="1"/>
          </p:cNvSpPr>
          <p:nvPr/>
        </p:nvSpPr>
        <p:spPr>
          <a:xfrm xmlns:a="http://schemas.openxmlformats.org/drawingml/2006/main">
            <a:off x="7620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Manifest + nguồn</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Rà soát đặc tả</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Chốt bài được tính</a:t>
            </a:r>
          </a:p>
        </p:txBody>
      </p:sp>
      <p:sp>
        <p:nvSpPr>
          <p:cNvPr id="10" name="">
            <a:extLst xmlns:a="http://schemas.openxmlformats.org/drawingml/2006/main">
              <a:ext uri="{FF2B5EF4-FFF2-40B4-BE49-F238E27FC236}">
                <a16:creationId xmlns:a16="http://schemas.microsoft.com/office/drawing/2014/main" id="{DD3D455E-3FEF-4B89-854A-1B621D1D1EF6}"/>
              </a:ext>
            </a:extLst>
          </p:cNvPr>
          <p:cNvSpPr>
            <a:spLocks xmlns:a="http://schemas.openxmlformats.org/drawingml/2006/main" noGrp="1"/>
          </p:cNvSpPr>
          <p:nvPr/>
        </p:nvSpPr>
        <p:spPr>
          <a:xfrm xmlns:a="http://schemas.openxmlformats.org/drawingml/2006/main">
            <a:off x="3333750" y="2114550"/>
            <a:ext cx="2286000" cy="2133600"/>
          </a:xfrm>
          <a:prstGeom xmlns:a="http://schemas.openxmlformats.org/drawingml/2006/main" prst="roundRect">
            <a:avLst>
              <a:gd name="adj" fmla="val 6250"/>
            </a:avLst>
          </a:prstGeom>
          <a:solidFill xmlns:a="http://schemas.openxmlformats.org/drawingml/2006/main">
            <a:srgbClr val="E3F5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D2FEF44-AE4F-4FCE-89CA-372DCE2A578C}"/>
              </a:ext>
            </a:extLst>
          </p:cNvPr>
          <p:cNvSpPr>
            <a:spLocks xmlns:a="http://schemas.openxmlformats.org/drawingml/2006/main" noGrp="1"/>
          </p:cNvSpPr>
          <p:nvPr/>
        </p:nvSpPr>
        <p:spPr>
          <a:xfrm xmlns:a="http://schemas.openxmlformats.org/drawingml/2006/main">
            <a:off x="35052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8B8D"/>
                </a:solidFill>
                <a:latin typeface="Arial"/>
                <a:ea typeface="Arial"/>
                <a:cs typeface="Arial"/>
              </a:defRPr>
            </a:defPPr>
          </a:lstStyle>
          <a:p xmlns:a="http://schemas.openxmlformats.org/drawingml/2006/main">
            <a:pPr algn="l">
              <a:lnSpc>
                <a:spcPct val="100000"/>
              </a:lnSpc>
              <a:buNone/>
              <a:defRPr sz="2100" b="1">
                <a:solidFill>
                  <a:srgbClr val="0F8B8D"/>
                </a:solidFill>
                <a:latin typeface="Arial"/>
                <a:ea typeface="Arial"/>
                <a:cs typeface="Arial"/>
              </a:defRPr>
            </a:pPr>
            <a:r>
              <a:rPr sz="2100" b="1">
                <a:solidFill>
                  <a:srgbClr val="0F8B8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998A48EB-0C59-4319-8A91-B5184FF0EEC2}"/>
              </a:ext>
            </a:extLst>
          </p:cNvPr>
          <p:cNvSpPr>
            <a:spLocks xmlns:a="http://schemas.openxmlformats.org/drawingml/2006/main" noGrp="1"/>
          </p:cNvSpPr>
          <p:nvPr/>
        </p:nvSpPr>
        <p:spPr>
          <a:xfrm xmlns:a="http://schemas.openxmlformats.org/drawingml/2006/main">
            <a:off x="35052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0F8B8D"/>
                </a:solidFill>
                <a:latin typeface="Arial"/>
                <a:ea typeface="Arial"/>
                <a:cs typeface="Arial"/>
              </a:defRPr>
            </a:defPPr>
          </a:lstStyle>
          <a:p xmlns:a="http://schemas.openxmlformats.org/drawingml/2006/main">
            <a:pPr algn="l">
              <a:lnSpc>
                <a:spcPct val="100000"/>
              </a:lnSpc>
              <a:buNone/>
              <a:defRPr sz="1125" b="1">
                <a:solidFill>
                  <a:srgbClr val="0F8B8D"/>
                </a:solidFill>
                <a:latin typeface="Arial"/>
                <a:ea typeface="Arial"/>
                <a:cs typeface="Arial"/>
              </a:defRPr>
            </a:pPr>
            <a:r>
              <a:rPr sz="1125" b="1">
                <a:solidFill>
                  <a:srgbClr val="0F8B8D"/>
                </a:solidFill>
                <a:latin typeface="Arial"/>
                <a:ea typeface="Arial"/>
                <a:cs typeface="Arial"/>
              </a:rPr>
              <a:t>CHẠY SO SÁNH</a:t>
            </a:r>
          </a:p>
        </p:txBody>
      </p:sp>
      <p:sp>
        <p:nvSpPr>
          <p:cNvPr id="13" name="">
            <a:extLst xmlns:a="http://schemas.openxmlformats.org/drawingml/2006/main">
              <a:ext uri="{FF2B5EF4-FFF2-40B4-BE49-F238E27FC236}">
                <a16:creationId xmlns:a16="http://schemas.microsoft.com/office/drawing/2014/main" id="{DBCCD3CA-5180-4C7B-A956-3104A79A303C}"/>
              </a:ext>
            </a:extLst>
          </p:cNvPr>
          <p:cNvSpPr>
            <a:spLocks xmlns:a="http://schemas.openxmlformats.org/drawingml/2006/main" noGrp="1"/>
          </p:cNvSpPr>
          <p:nvPr/>
        </p:nvSpPr>
        <p:spPr>
          <a:xfrm xmlns:a="http://schemas.openxmlformats.org/drawingml/2006/main">
            <a:off x="35052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Sinh một lần</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Feedback Dafny</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Pipeline đầy đủ</a:t>
            </a:r>
          </a:p>
        </p:txBody>
      </p:sp>
      <p:sp>
        <p:nvSpPr>
          <p:cNvPr id="14" name="">
            <a:extLst xmlns:a="http://schemas.openxmlformats.org/drawingml/2006/main">
              <a:ext uri="{FF2B5EF4-FFF2-40B4-BE49-F238E27FC236}">
                <a16:creationId xmlns:a16="http://schemas.microsoft.com/office/drawing/2014/main" id="{9BDA51F1-5BDF-4F9F-9335-05D9D3FF8171}"/>
              </a:ext>
            </a:extLst>
          </p:cNvPr>
          <p:cNvSpPr>
            <a:spLocks xmlns:a="http://schemas.openxmlformats.org/drawingml/2006/main" noGrp="1"/>
          </p:cNvSpPr>
          <p:nvPr/>
        </p:nvSpPr>
        <p:spPr>
          <a:xfrm xmlns:a="http://schemas.openxmlformats.org/drawingml/2006/main">
            <a:off x="6076950" y="2114550"/>
            <a:ext cx="2286000" cy="2133600"/>
          </a:xfrm>
          <a:prstGeom xmlns:a="http://schemas.openxmlformats.org/drawingml/2006/main" prst="roundRect">
            <a:avLst>
              <a:gd name="adj" fmla="val 6250"/>
            </a:avLst>
          </a:prstGeom>
          <a:solidFill xmlns:a="http://schemas.openxmlformats.org/drawingml/2006/main">
            <a:srgbClr val="FFF2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94BA4D7-F9A1-45D9-9A38-2F56EAD5D8B3}"/>
              </a:ext>
            </a:extLst>
          </p:cNvPr>
          <p:cNvSpPr>
            <a:spLocks xmlns:a="http://schemas.openxmlformats.org/drawingml/2006/main" noGrp="1"/>
          </p:cNvSpPr>
          <p:nvPr/>
        </p:nvSpPr>
        <p:spPr>
          <a:xfrm xmlns:a="http://schemas.openxmlformats.org/drawingml/2006/main">
            <a:off x="62484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47A11"/>
                </a:solidFill>
                <a:latin typeface="Arial"/>
                <a:ea typeface="Arial"/>
                <a:cs typeface="Arial"/>
              </a:defRPr>
            </a:defPPr>
          </a:lstStyle>
          <a:p xmlns:a="http://schemas.openxmlformats.org/drawingml/2006/main">
            <a:pPr algn="l">
              <a:lnSpc>
                <a:spcPct val="100000"/>
              </a:lnSpc>
              <a:buNone/>
              <a:defRPr sz="2100" b="1">
                <a:solidFill>
                  <a:srgbClr val="C47A11"/>
                </a:solidFill>
                <a:latin typeface="Arial"/>
                <a:ea typeface="Arial"/>
                <a:cs typeface="Arial"/>
              </a:defRPr>
            </a:pPr>
            <a:r>
              <a:rPr sz="2100" b="1">
                <a:solidFill>
                  <a:srgbClr val="C47A11"/>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10BB1F9E-0ABF-48B0-B5C3-A850629A0820}"/>
              </a:ext>
            </a:extLst>
          </p:cNvPr>
          <p:cNvSpPr>
            <a:spLocks xmlns:a="http://schemas.openxmlformats.org/drawingml/2006/main" noGrp="1"/>
          </p:cNvSpPr>
          <p:nvPr/>
        </p:nvSpPr>
        <p:spPr>
          <a:xfrm xmlns:a="http://schemas.openxmlformats.org/drawingml/2006/main">
            <a:off x="62484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47A11"/>
                </a:solidFill>
                <a:latin typeface="Arial"/>
                <a:ea typeface="Arial"/>
                <a:cs typeface="Arial"/>
              </a:defRPr>
            </a:defPPr>
          </a:lstStyle>
          <a:p xmlns:a="http://schemas.openxmlformats.org/drawingml/2006/main">
            <a:pPr algn="l">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ĐO VÀ PHÂN TÍCH</a:t>
            </a:r>
          </a:p>
        </p:txBody>
      </p:sp>
      <p:sp>
        <p:nvSpPr>
          <p:cNvPr id="17" name="">
            <a:extLst xmlns:a="http://schemas.openxmlformats.org/drawingml/2006/main">
              <a:ext uri="{FF2B5EF4-FFF2-40B4-BE49-F238E27FC236}">
                <a16:creationId xmlns:a16="http://schemas.microsoft.com/office/drawing/2014/main" id="{770ED77B-E5B8-4C84-92C3-4C131B98D4FD}"/>
              </a:ext>
            </a:extLst>
          </p:cNvPr>
          <p:cNvSpPr>
            <a:spLocks xmlns:a="http://schemas.openxmlformats.org/drawingml/2006/main" noGrp="1"/>
          </p:cNvSpPr>
          <p:nvPr/>
        </p:nvSpPr>
        <p:spPr>
          <a:xfrm xmlns:a="http://schemas.openxmlformats.org/drawingml/2006/main">
            <a:off x="62484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Pass@1 / Pass@K</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Thời gian / token</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Phân loại lỗi</a:t>
            </a:r>
          </a:p>
        </p:txBody>
      </p:sp>
      <p:sp>
        <p:nvSpPr>
          <p:cNvPr id="18" name="">
            <a:extLst xmlns:a="http://schemas.openxmlformats.org/drawingml/2006/main">
              <a:ext uri="{FF2B5EF4-FFF2-40B4-BE49-F238E27FC236}">
                <a16:creationId xmlns:a16="http://schemas.microsoft.com/office/drawing/2014/main" id="{2D82867D-D252-43EB-99F6-0781DF1A64BB}"/>
              </a:ext>
            </a:extLst>
          </p:cNvPr>
          <p:cNvSpPr>
            <a:spLocks xmlns:a="http://schemas.openxmlformats.org/drawingml/2006/main" noGrp="1"/>
          </p:cNvSpPr>
          <p:nvPr/>
        </p:nvSpPr>
        <p:spPr>
          <a:xfrm xmlns:a="http://schemas.openxmlformats.org/drawingml/2006/main">
            <a:off x="8820150" y="2114550"/>
            <a:ext cx="2286000" cy="2133600"/>
          </a:xfrm>
          <a:prstGeom xmlns:a="http://schemas.openxmlformats.org/drawingml/2006/main" prst="roundRect">
            <a:avLst>
              <a:gd name="adj" fmla="val 6250"/>
            </a:avLst>
          </a:prstGeom>
          <a:solidFill xmlns:a="http://schemas.openxmlformats.org/drawingml/2006/main">
            <a:srgbClr val="E4F4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75FA677-B9EF-4180-9249-9728BECAE4F6}"/>
              </a:ext>
            </a:extLst>
          </p:cNvPr>
          <p:cNvSpPr>
            <a:spLocks xmlns:a="http://schemas.openxmlformats.org/drawingml/2006/main" noGrp="1"/>
          </p:cNvSpPr>
          <p:nvPr/>
        </p:nvSpPr>
        <p:spPr>
          <a:xfrm xmlns:a="http://schemas.openxmlformats.org/drawingml/2006/main">
            <a:off x="89916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3805A"/>
                </a:solidFill>
                <a:latin typeface="Arial"/>
                <a:ea typeface="Arial"/>
                <a:cs typeface="Arial"/>
              </a:defRPr>
            </a:defPPr>
          </a:lstStyle>
          <a:p xmlns:a="http://schemas.openxmlformats.org/drawingml/2006/main">
            <a:pPr algn="l">
              <a:lnSpc>
                <a:spcPct val="100000"/>
              </a:lnSpc>
              <a:buNone/>
              <a:defRPr sz="2100" b="1">
                <a:solidFill>
                  <a:srgbClr val="23805A"/>
                </a:solidFill>
                <a:latin typeface="Arial"/>
                <a:ea typeface="Arial"/>
                <a:cs typeface="Arial"/>
              </a:defRPr>
            </a:pPr>
            <a:r>
              <a:rPr sz="2100" b="1">
                <a:solidFill>
                  <a:srgbClr val="23805A"/>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6FB9D456-AF4A-41CF-841F-590527961E9D}"/>
              </a:ext>
            </a:extLst>
          </p:cNvPr>
          <p:cNvSpPr>
            <a:spLocks xmlns:a="http://schemas.openxmlformats.org/drawingml/2006/main" noGrp="1"/>
          </p:cNvSpPr>
          <p:nvPr/>
        </p:nvSpPr>
        <p:spPr>
          <a:xfrm xmlns:a="http://schemas.openxmlformats.org/drawingml/2006/main">
            <a:off x="89916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3805A"/>
                </a:solidFill>
                <a:latin typeface="Arial"/>
                <a:ea typeface="Arial"/>
                <a:cs typeface="Arial"/>
              </a:defRPr>
            </a:defPPr>
          </a:lstStyle>
          <a:p xmlns:a="http://schemas.openxmlformats.org/drawingml/2006/main">
            <a:pPr algn="l">
              <a:lnSpc>
                <a:spcPct val="100000"/>
              </a:lnSpc>
              <a:buNone/>
              <a:defRPr sz="1125" b="1">
                <a:solidFill>
                  <a:srgbClr val="23805A"/>
                </a:solidFill>
                <a:latin typeface="Arial"/>
                <a:ea typeface="Arial"/>
                <a:cs typeface="Arial"/>
              </a:defRPr>
            </a:pPr>
            <a:r>
              <a:rPr sz="1125" b="1">
                <a:solidFill>
                  <a:srgbClr val="23805A"/>
                </a:solidFill>
                <a:latin typeface="Arial"/>
                <a:ea typeface="Arial"/>
                <a:cs typeface="Arial"/>
              </a:rPr>
              <a:t>TÁI LẬP, BÁO CÁO</a:t>
            </a:r>
          </a:p>
        </p:txBody>
      </p:sp>
      <p:sp>
        <p:nvSpPr>
          <p:cNvPr id="21" name="">
            <a:extLst xmlns:a="http://schemas.openxmlformats.org/drawingml/2006/main">
              <a:ext uri="{FF2B5EF4-FFF2-40B4-BE49-F238E27FC236}">
                <a16:creationId xmlns:a16="http://schemas.microsoft.com/office/drawing/2014/main" id="{DC6460E7-E0F9-48BF-AF7E-F179BBE8E73A}"/>
              </a:ext>
            </a:extLst>
          </p:cNvPr>
          <p:cNvSpPr>
            <a:spLocks xmlns:a="http://schemas.openxmlformats.org/drawingml/2006/main" noGrp="1"/>
          </p:cNvSpPr>
          <p:nvPr/>
        </p:nvSpPr>
        <p:spPr>
          <a:xfrm xmlns:a="http://schemas.openxmlformats.org/drawingml/2006/main">
            <a:off x="89916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Lưu log đầy đủ</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Kiểm tra kết quả</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Demo và báo cáo</a:t>
            </a:r>
          </a:p>
        </p:txBody>
      </p:sp>
      <p:sp>
        <p:nvSpPr>
          <p:cNvPr id="22" name="">
            <a:extLst xmlns:a="http://schemas.openxmlformats.org/drawingml/2006/main">
              <a:ext uri="{FF2B5EF4-FFF2-40B4-BE49-F238E27FC236}">
                <a16:creationId xmlns:a16="http://schemas.microsoft.com/office/drawing/2014/main" id="{845E480B-E862-4C51-BAA5-41958DE6ABA4}"/>
              </a:ext>
            </a:extLst>
          </p:cNvPr>
          <p:cNvSpPr>
            <a:spLocks xmlns:a="http://schemas.openxmlformats.org/drawingml/2006/main" noGrp="1"/>
          </p:cNvSpPr>
          <p:nvPr/>
        </p:nvSpPr>
        <p:spPr>
          <a:xfrm xmlns:a="http://schemas.openxmlformats.org/drawingml/2006/main">
            <a:off x="28765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3" name="">
            <a:extLst xmlns:a="http://schemas.openxmlformats.org/drawingml/2006/main">
              <a:ext uri="{FF2B5EF4-FFF2-40B4-BE49-F238E27FC236}">
                <a16:creationId xmlns:a16="http://schemas.microsoft.com/office/drawing/2014/main" id="{EA27715E-6A50-40EA-BA48-FB4237D36E59}"/>
              </a:ext>
            </a:extLst>
          </p:cNvPr>
          <p:cNvSpPr>
            <a:spLocks xmlns:a="http://schemas.openxmlformats.org/drawingml/2006/main" noGrp="1"/>
          </p:cNvSpPr>
          <p:nvPr/>
        </p:nvSpPr>
        <p:spPr>
          <a:xfrm xmlns:a="http://schemas.openxmlformats.org/drawingml/2006/main">
            <a:off x="56197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4" name="">
            <a:extLst xmlns:a="http://schemas.openxmlformats.org/drawingml/2006/main">
              <a:ext uri="{FF2B5EF4-FFF2-40B4-BE49-F238E27FC236}">
                <a16:creationId xmlns:a16="http://schemas.microsoft.com/office/drawing/2014/main" id="{91497CDE-BD20-4D78-AE4C-6E696BA5878A}"/>
              </a:ext>
            </a:extLst>
          </p:cNvPr>
          <p:cNvSpPr>
            <a:spLocks xmlns:a="http://schemas.openxmlformats.org/drawingml/2006/main" noGrp="1"/>
          </p:cNvSpPr>
          <p:nvPr/>
        </p:nvSpPr>
        <p:spPr>
          <a:xfrm xmlns:a="http://schemas.openxmlformats.org/drawingml/2006/main">
            <a:off x="83629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5" name="">
            <a:extLst xmlns:a="http://schemas.openxmlformats.org/drawingml/2006/main">
              <a:ext uri="{FF2B5EF4-FFF2-40B4-BE49-F238E27FC236}">
                <a16:creationId xmlns:a16="http://schemas.microsoft.com/office/drawing/2014/main" id="{BDF7B8A5-D744-4DA0-AD4C-86CAD1660BD8}"/>
              </a:ext>
            </a:extLst>
          </p:cNvPr>
          <p:cNvSpPr>
            <a:spLocks xmlns:a="http://schemas.openxmlformats.org/drawingml/2006/main" noGrp="1"/>
          </p:cNvSpPr>
          <p:nvPr/>
        </p:nvSpPr>
        <p:spPr>
          <a:xfrm xmlns:a="http://schemas.openxmlformats.org/drawingml/2006/main">
            <a:off x="590550" y="4600575"/>
            <a:ext cx="11010900"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FDFB91B4-2F26-46C8-B890-0040EE5FA969}"/>
              </a:ext>
            </a:extLst>
          </p:cNvPr>
          <p:cNvSpPr>
            <a:spLocks xmlns:a="http://schemas.openxmlformats.org/drawingml/2006/main" noGrp="1"/>
          </p:cNvSpPr>
          <p:nvPr/>
        </p:nvSpPr>
        <p:spPr>
          <a:xfrm xmlns:a="http://schemas.openxmlformats.org/drawingml/2006/main">
            <a:off x="800100" y="47434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ĐIỀU KIỆN SO SÁNH CÔNG BẰNG</a:t>
            </a:r>
          </a:p>
        </p:txBody>
      </p:sp>
      <p:sp>
        <p:nvSpPr>
          <p:cNvPr id="27" name="">
            <a:extLst xmlns:a="http://schemas.openxmlformats.org/drawingml/2006/main">
              <a:ext uri="{FF2B5EF4-FFF2-40B4-BE49-F238E27FC236}">
                <a16:creationId xmlns:a16="http://schemas.microsoft.com/office/drawing/2014/main" id="{89A0F529-03C2-4E3B-86E5-C98A7DEC1783}"/>
              </a:ext>
            </a:extLst>
          </p:cNvPr>
          <p:cNvSpPr>
            <a:spLocks xmlns:a="http://schemas.openxmlformats.org/drawingml/2006/main" noGrp="1"/>
          </p:cNvSpPr>
          <p:nvPr/>
        </p:nvSpPr>
        <p:spPr>
          <a:xfrm xmlns:a="http://schemas.openxmlformats.org/drawingml/2006/main">
            <a:off x="800100" y="51530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233B"/>
                </a:solidFill>
                <a:latin typeface="Arial"/>
                <a:ea typeface="Arial"/>
                <a:cs typeface="Arial"/>
              </a:defRPr>
            </a:defPPr>
          </a:lstStyle>
          <a:p xmlns:a="http://schemas.openxmlformats.org/drawingml/2006/main">
            <a:pPr algn="l">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Cùng tập benchmark</a:t>
            </a:r>
          </a:p>
        </p:txBody>
      </p:sp>
      <p:sp>
        <p:nvSpPr>
          <p:cNvPr id="28" name="">
            <a:extLst xmlns:a="http://schemas.openxmlformats.org/drawingml/2006/main">
              <a:ext uri="{FF2B5EF4-FFF2-40B4-BE49-F238E27FC236}">
                <a16:creationId xmlns:a16="http://schemas.microsoft.com/office/drawing/2014/main" id="{77477D36-765E-47C0-A570-59B3765E22A2}"/>
              </a:ext>
            </a:extLst>
          </p:cNvPr>
          <p:cNvSpPr>
            <a:spLocks xmlns:a="http://schemas.openxmlformats.org/drawingml/2006/main" noGrp="1"/>
          </p:cNvSpPr>
          <p:nvPr/>
        </p:nvSpPr>
        <p:spPr>
          <a:xfrm xmlns:a="http://schemas.openxmlformats.org/drawingml/2006/main">
            <a:off x="4191000" y="5153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233B"/>
                </a:solidFill>
                <a:latin typeface="Arial"/>
                <a:ea typeface="Arial"/>
                <a:cs typeface="Arial"/>
              </a:defRPr>
            </a:defPPr>
          </a:lstStyle>
          <a:p xmlns:a="http://schemas.openxmlformats.org/drawingml/2006/main">
            <a:pPr algn="l">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Cùng model và prompt</a:t>
            </a:r>
          </a:p>
        </p:txBody>
      </p:sp>
      <p:sp>
        <p:nvSpPr>
          <p:cNvPr id="29" name="">
            <a:extLst xmlns:a="http://schemas.openxmlformats.org/drawingml/2006/main">
              <a:ext uri="{FF2B5EF4-FFF2-40B4-BE49-F238E27FC236}">
                <a16:creationId xmlns:a16="http://schemas.microsoft.com/office/drawing/2014/main" id="{FB5EE88E-ACD8-4B0B-B28B-E787E5DA8122}"/>
              </a:ext>
            </a:extLst>
          </p:cNvPr>
          <p:cNvSpPr>
            <a:spLocks xmlns:a="http://schemas.openxmlformats.org/drawingml/2006/main" noGrp="1"/>
          </p:cNvSpPr>
          <p:nvPr/>
        </p:nvSpPr>
        <p:spPr>
          <a:xfrm xmlns:a="http://schemas.openxmlformats.org/drawingml/2006/main">
            <a:off x="7886700" y="51530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233B"/>
                </a:solidFill>
                <a:latin typeface="Arial"/>
                <a:ea typeface="Arial"/>
                <a:cs typeface="Arial"/>
              </a:defRPr>
            </a:defPPr>
          </a:lstStyle>
          <a:p xmlns:a="http://schemas.openxmlformats.org/drawingml/2006/main">
            <a:pPr algn="l">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Cùng K và timeout</a:t>
            </a:r>
          </a:p>
        </p:txBody>
      </p:sp>
      <p:sp>
        <p:nvSpPr>
          <p:cNvPr id="30" name="">
            <a:extLst xmlns:a="http://schemas.openxmlformats.org/drawingml/2006/main">
              <a:ext uri="{FF2B5EF4-FFF2-40B4-BE49-F238E27FC236}">
                <a16:creationId xmlns:a16="http://schemas.microsoft.com/office/drawing/2014/main" id="{7DD35E69-9ECD-4C34-962D-EA5C28BB5782}"/>
              </a:ext>
            </a:extLst>
          </p:cNvPr>
          <p:cNvSpPr>
            <a:spLocks xmlns:a="http://schemas.openxmlformats.org/drawingml/2006/main" noGrp="1"/>
          </p:cNvSpPr>
          <p:nvPr/>
        </p:nvSpPr>
        <p:spPr>
          <a:xfrm xmlns:a="http://schemas.openxmlformats.org/drawingml/2006/main">
            <a:off x="590550" y="58483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563EB"/>
                </a:solidFill>
                <a:latin typeface="Arial"/>
                <a:ea typeface="Arial"/>
                <a:cs typeface="Arial"/>
              </a:defRPr>
            </a:defPPr>
          </a:lstStyle>
          <a:p xmlns:a="http://schemas.openxmlformats.org/drawingml/2006/main">
            <a:pPr algn="l">
              <a:lnSpc>
                <a:spcPct val="100000"/>
              </a:lnSpc>
              <a:buNone/>
              <a:defRPr sz="1200" b="1">
                <a:solidFill>
                  <a:srgbClr val="2563EB"/>
                </a:solidFill>
                <a:latin typeface="Arial"/>
                <a:ea typeface="Arial"/>
                <a:cs typeface="Arial"/>
              </a:defRPr>
            </a:pPr>
            <a:r>
              <a:rPr sz="1200" b="1">
                <a:solidFill>
                  <a:srgbClr val="2563EB"/>
                </a:solidFill>
                <a:latin typeface="Arial"/>
                <a:ea typeface="Arial"/>
                <a:cs typeface="Arial"/>
              </a:rPr>
              <a:t>Kết quả dự kiến: prototype, benchmark có manifest, dữ liệu/log và báo cáo thực nghiệm.</a:t>
            </a:r>
          </a:p>
        </p:txBody>
      </p:sp>
    </p:spTree>
    <p:extLst>
      <p:ext uri="{BB962C8B-B14F-4D97-AF65-F5344CB8AC3E}">
        <p14:creationId xmlns:p14="http://schemas.microsoft.com/office/powerpoint/2010/main" val="129233286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D03F07F-30F0-49D9-887A-E2296BCCDEA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DD5776-30EB-47F8-AE95-985A26B67165}"/>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3C94A08A-41DA-4C3E-A0CE-30867423A217}"/>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Kết quả dự kiến và giới hạn</a:t>
            </a:r>
          </a:p>
        </p:txBody>
      </p:sp>
      <p:sp>
        <p:nvSpPr>
          <p:cNvPr id="4" name="">
            <a:extLst xmlns:a="http://schemas.openxmlformats.org/drawingml/2006/main">
              <a:ext uri="{FF2B5EF4-FFF2-40B4-BE49-F238E27FC236}">
                <a16:creationId xmlns:a16="http://schemas.microsoft.com/office/drawing/2014/main" id="{A7C0C32B-D77B-4A80-BB11-0351FC01C1D8}"/>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35D5589B-1B7A-41A0-917C-2E0E526F205D}"/>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07  /  07</a:t>
            </a:r>
          </a:p>
        </p:txBody>
      </p:sp>
      <p:sp>
        <p:nvSpPr>
          <p:cNvPr id="6" name="">
            <a:extLst xmlns:a="http://schemas.openxmlformats.org/drawingml/2006/main">
              <a:ext uri="{FF2B5EF4-FFF2-40B4-BE49-F238E27FC236}">
                <a16:creationId xmlns:a16="http://schemas.microsoft.com/office/drawing/2014/main" id="{E6D8F9C4-383D-470B-B206-490899F70D56}"/>
              </a:ext>
            </a:extLst>
          </p:cNvPr>
          <p:cNvSpPr>
            <a:spLocks xmlns:a="http://schemas.openxmlformats.org/drawingml/2006/main" noGrp="1"/>
          </p:cNvSpPr>
          <p:nvPr/>
        </p:nvSpPr>
        <p:spPr>
          <a:xfrm xmlns:a="http://schemas.openxmlformats.org/drawingml/2006/main">
            <a:off x="590550" y="1581150"/>
            <a:ext cx="347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lnSpc>
                <a:spcPct val="100000"/>
              </a:lnSpc>
              <a:buNone/>
              <a:defRPr sz="1350" b="1">
                <a:solidFill>
                  <a:srgbClr val="2563EB"/>
                </a:solidFill>
                <a:latin typeface="Arial"/>
                <a:ea typeface="Arial"/>
                <a:cs typeface="Arial"/>
              </a:defRPr>
            </a:pPr>
            <a:r>
              <a:rPr sz="1350" b="1">
                <a:solidFill>
                  <a:srgbClr val="2563EB"/>
                </a:solidFill>
                <a:latin typeface="Arial"/>
                <a:ea typeface="Arial"/>
                <a:cs typeface="Arial"/>
              </a:rPr>
              <a:t>Đầu ra dự kiến</a:t>
            </a:r>
          </a:p>
        </p:txBody>
      </p:sp>
      <p:sp>
        <p:nvSpPr>
          <p:cNvPr id="7" name="">
            <a:extLst xmlns:a="http://schemas.openxmlformats.org/drawingml/2006/main">
              <a:ext uri="{FF2B5EF4-FFF2-40B4-BE49-F238E27FC236}">
                <a16:creationId xmlns:a16="http://schemas.microsoft.com/office/drawing/2014/main" id="{E477A986-0645-497D-AC9C-66F8DEEABBD6}"/>
              </a:ext>
            </a:extLst>
          </p:cNvPr>
          <p:cNvSpPr>
            <a:spLocks xmlns:a="http://schemas.openxmlformats.org/drawingml/2006/main" noGrp="1"/>
          </p:cNvSpPr>
          <p:nvPr/>
        </p:nvSpPr>
        <p:spPr>
          <a:xfrm xmlns:a="http://schemas.openxmlformats.org/drawingml/2006/main">
            <a:off x="647700" y="203835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08FFB0-0175-4663-94D6-65813F9FBAA5}"/>
              </a:ext>
            </a:extLst>
          </p:cNvPr>
          <p:cNvSpPr>
            <a:spLocks xmlns:a="http://schemas.openxmlformats.org/drawingml/2006/main" noGrp="1"/>
          </p:cNvSpPr>
          <p:nvPr/>
        </p:nvSpPr>
        <p:spPr>
          <a:xfrm xmlns:a="http://schemas.openxmlformats.org/drawingml/2006/main">
            <a:off x="971550" y="200025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Prototype</a:t>
            </a:r>
          </a:p>
        </p:txBody>
      </p:sp>
      <p:sp>
        <p:nvSpPr>
          <p:cNvPr id="9" name="">
            <a:extLst xmlns:a="http://schemas.openxmlformats.org/drawingml/2006/main">
              <a:ext uri="{FF2B5EF4-FFF2-40B4-BE49-F238E27FC236}">
                <a16:creationId xmlns:a16="http://schemas.microsoft.com/office/drawing/2014/main" id="{BD890A74-EC55-44DF-8271-BC954027C53E}"/>
              </a:ext>
            </a:extLst>
          </p:cNvPr>
          <p:cNvSpPr>
            <a:spLocks xmlns:a="http://schemas.openxmlformats.org/drawingml/2006/main" noGrp="1"/>
          </p:cNvSpPr>
          <p:nvPr/>
        </p:nvSpPr>
        <p:spPr>
          <a:xfrm xmlns:a="http://schemas.openxmlformats.org/drawingml/2006/main">
            <a:off x="971550" y="22955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Pipeline sinh mã và kiểm chứng Dafny/Z3</a:t>
            </a:r>
          </a:p>
        </p:txBody>
      </p:sp>
      <p:sp>
        <p:nvSpPr>
          <p:cNvPr id="10" name="">
            <a:extLst xmlns:a="http://schemas.openxmlformats.org/drawingml/2006/main">
              <a:ext uri="{FF2B5EF4-FFF2-40B4-BE49-F238E27FC236}">
                <a16:creationId xmlns:a16="http://schemas.microsoft.com/office/drawing/2014/main" id="{77E92369-7316-4CF9-BDFA-0F52B6A9904B}"/>
              </a:ext>
            </a:extLst>
          </p:cNvPr>
          <p:cNvSpPr>
            <a:spLocks xmlns:a="http://schemas.openxmlformats.org/drawingml/2006/main" noGrp="1"/>
          </p:cNvSpPr>
          <p:nvPr/>
        </p:nvSpPr>
        <p:spPr>
          <a:xfrm xmlns:a="http://schemas.openxmlformats.org/drawingml/2006/main">
            <a:off x="647700" y="27813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BBCF81-C240-43FF-AE21-6B197A326F7C}"/>
              </a:ext>
            </a:extLst>
          </p:cNvPr>
          <p:cNvSpPr>
            <a:spLocks xmlns:a="http://schemas.openxmlformats.org/drawingml/2006/main" noGrp="1"/>
          </p:cNvSpPr>
          <p:nvPr/>
        </p:nvSpPr>
        <p:spPr>
          <a:xfrm xmlns:a="http://schemas.openxmlformats.org/drawingml/2006/main">
            <a:off x="971550" y="274320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Benchmark tái lập</a:t>
            </a:r>
          </a:p>
        </p:txBody>
      </p:sp>
      <p:sp>
        <p:nvSpPr>
          <p:cNvPr id="12" name="">
            <a:extLst xmlns:a="http://schemas.openxmlformats.org/drawingml/2006/main">
              <a:ext uri="{FF2B5EF4-FFF2-40B4-BE49-F238E27FC236}">
                <a16:creationId xmlns:a16="http://schemas.microsoft.com/office/drawing/2014/main" id="{E83660FC-9D8B-478C-9D65-FB14A40FDDD7}"/>
              </a:ext>
            </a:extLst>
          </p:cNvPr>
          <p:cNvSpPr>
            <a:spLocks xmlns:a="http://schemas.openxmlformats.org/drawingml/2006/main" noGrp="1"/>
          </p:cNvSpPr>
          <p:nvPr/>
        </p:nvSpPr>
        <p:spPr>
          <a:xfrm xmlns:a="http://schemas.openxmlformats.org/drawingml/2006/main">
            <a:off x="971550" y="30384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Manifest, nguồn, đặc tả và cấu hình chạy</a:t>
            </a:r>
          </a:p>
        </p:txBody>
      </p:sp>
      <p:sp>
        <p:nvSpPr>
          <p:cNvPr id="13" name="">
            <a:extLst xmlns:a="http://schemas.openxmlformats.org/drawingml/2006/main">
              <a:ext uri="{FF2B5EF4-FFF2-40B4-BE49-F238E27FC236}">
                <a16:creationId xmlns:a16="http://schemas.microsoft.com/office/drawing/2014/main" id="{D1458A19-8767-43CD-AAE3-9A06D38109B9}"/>
              </a:ext>
            </a:extLst>
          </p:cNvPr>
          <p:cNvSpPr>
            <a:spLocks xmlns:a="http://schemas.openxmlformats.org/drawingml/2006/main" noGrp="1"/>
          </p:cNvSpPr>
          <p:nvPr/>
        </p:nvSpPr>
        <p:spPr>
          <a:xfrm xmlns:a="http://schemas.openxmlformats.org/drawingml/2006/main">
            <a:off x="647700" y="352425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93385D-D728-4A23-958E-7EDA840D5011}"/>
              </a:ext>
            </a:extLst>
          </p:cNvPr>
          <p:cNvSpPr>
            <a:spLocks xmlns:a="http://schemas.openxmlformats.org/drawingml/2006/main" noGrp="1"/>
          </p:cNvSpPr>
          <p:nvPr/>
        </p:nvSpPr>
        <p:spPr>
          <a:xfrm xmlns:a="http://schemas.openxmlformats.org/drawingml/2006/main">
            <a:off x="971550" y="348615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Báo cáo NCKH</a:t>
            </a:r>
          </a:p>
        </p:txBody>
      </p:sp>
      <p:sp>
        <p:nvSpPr>
          <p:cNvPr id="15" name="">
            <a:extLst xmlns:a="http://schemas.openxmlformats.org/drawingml/2006/main">
              <a:ext uri="{FF2B5EF4-FFF2-40B4-BE49-F238E27FC236}">
                <a16:creationId xmlns:a16="http://schemas.microsoft.com/office/drawing/2014/main" id="{D3651D6B-5A13-4A88-873F-A8A79574CF8F}"/>
              </a:ext>
            </a:extLst>
          </p:cNvPr>
          <p:cNvSpPr>
            <a:spLocks xmlns:a="http://schemas.openxmlformats.org/drawingml/2006/main" noGrp="1"/>
          </p:cNvSpPr>
          <p:nvPr/>
        </p:nvSpPr>
        <p:spPr>
          <a:xfrm xmlns:a="http://schemas.openxmlformats.org/drawingml/2006/main">
            <a:off x="971550" y="37814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So sánh, phân tích lỗi và giới hạn</a:t>
            </a:r>
          </a:p>
        </p:txBody>
      </p:sp>
      <p:sp>
        <p:nvSpPr>
          <p:cNvPr id="16" name="">
            <a:extLst xmlns:a="http://schemas.openxmlformats.org/drawingml/2006/main">
              <a:ext uri="{FF2B5EF4-FFF2-40B4-BE49-F238E27FC236}">
                <a16:creationId xmlns:a16="http://schemas.microsoft.com/office/drawing/2014/main" id="{FADA06AC-928A-4F2A-AA56-9F1DD5CFB3C4}"/>
              </a:ext>
            </a:extLst>
          </p:cNvPr>
          <p:cNvSpPr>
            <a:spLocks xmlns:a="http://schemas.openxmlformats.org/drawingml/2006/main" noGrp="1"/>
          </p:cNvSpPr>
          <p:nvPr/>
        </p:nvSpPr>
        <p:spPr>
          <a:xfrm xmlns:a="http://schemas.openxmlformats.org/drawingml/2006/main">
            <a:off x="647700" y="42672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45E459F-A61A-4B74-8496-00A6C330253B}"/>
              </a:ext>
            </a:extLst>
          </p:cNvPr>
          <p:cNvSpPr>
            <a:spLocks xmlns:a="http://schemas.openxmlformats.org/drawingml/2006/main" noGrp="1"/>
          </p:cNvSpPr>
          <p:nvPr/>
        </p:nvSpPr>
        <p:spPr>
          <a:xfrm xmlns:a="http://schemas.openxmlformats.org/drawingml/2006/main">
            <a:off x="971550" y="422910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Bản thảo bài báo</a:t>
            </a:r>
          </a:p>
        </p:txBody>
      </p:sp>
      <p:sp>
        <p:nvSpPr>
          <p:cNvPr id="18" name="">
            <a:extLst xmlns:a="http://schemas.openxmlformats.org/drawingml/2006/main">
              <a:ext uri="{FF2B5EF4-FFF2-40B4-BE49-F238E27FC236}">
                <a16:creationId xmlns:a16="http://schemas.microsoft.com/office/drawing/2014/main" id="{627EAFC4-0EFA-45B8-9E03-04F94CCB7D65}"/>
              </a:ext>
            </a:extLst>
          </p:cNvPr>
          <p:cNvSpPr>
            <a:spLocks xmlns:a="http://schemas.openxmlformats.org/drawingml/2006/main" noGrp="1"/>
          </p:cNvSpPr>
          <p:nvPr/>
        </p:nvSpPr>
        <p:spPr>
          <a:xfrm xmlns:a="http://schemas.openxmlformats.org/drawingml/2006/main">
            <a:off x="971550" y="45243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Mục tiêu nếu phù hợp thời hạn / quy định</a:t>
            </a:r>
          </a:p>
        </p:txBody>
      </p:sp>
      <p:sp>
        <p:nvSpPr>
          <p:cNvPr id="19" name="">
            <a:extLst xmlns:a="http://schemas.openxmlformats.org/drawingml/2006/main">
              <a:ext uri="{FF2B5EF4-FFF2-40B4-BE49-F238E27FC236}">
                <a16:creationId xmlns:a16="http://schemas.microsoft.com/office/drawing/2014/main" id="{84DF12B9-6AC1-4BFD-9B47-2E32DD82A44C}"/>
              </a:ext>
            </a:extLst>
          </p:cNvPr>
          <p:cNvSpPr>
            <a:spLocks xmlns:a="http://schemas.openxmlformats.org/drawingml/2006/main" noGrp="1"/>
          </p:cNvSpPr>
          <p:nvPr/>
        </p:nvSpPr>
        <p:spPr>
          <a:xfrm xmlns:a="http://schemas.openxmlformats.org/drawingml/2006/main">
            <a:off x="6572250" y="1571625"/>
            <a:ext cx="5029200" cy="2667000"/>
          </a:xfrm>
          <a:prstGeom xmlns:a="http://schemas.openxmlformats.org/drawingml/2006/main" prst="roundRect">
            <a:avLst>
              <a:gd name="adj" fmla="val 5000"/>
            </a:avLst>
          </a:prstGeom>
          <a:solidFill xmlns:a="http://schemas.openxmlformats.org/drawingml/2006/main">
            <a:srgbClr val="FFF2D9"/>
          </a:solidFill>
          <a:ln xmlns:a="http://schemas.openxmlformats.org/drawingml/2006/main" w="9525">
            <a:solidFill>
              <a:srgbClr val="EAD29E"/>
            </a:solidFill>
            <a:prstDash val="solid"/>
          </a:ln>
        </p:spPr>
      </p:sp>
      <p:sp>
        <p:nvSpPr>
          <p:cNvPr id="20" name="">
            <a:extLst xmlns:a="http://schemas.openxmlformats.org/drawingml/2006/main">
              <a:ext uri="{FF2B5EF4-FFF2-40B4-BE49-F238E27FC236}">
                <a16:creationId xmlns:a16="http://schemas.microsoft.com/office/drawing/2014/main" id="{BF79CE2C-DBBE-4D00-9E55-918ADECD6D5C}"/>
              </a:ext>
            </a:extLst>
          </p:cNvPr>
          <p:cNvSpPr>
            <a:spLocks xmlns:a="http://schemas.openxmlformats.org/drawingml/2006/main" noGrp="1"/>
          </p:cNvSpPr>
          <p:nvPr/>
        </p:nvSpPr>
        <p:spPr>
          <a:xfrm xmlns:a="http://schemas.openxmlformats.org/drawingml/2006/main">
            <a:off x="6838950" y="17907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47A11"/>
                </a:solidFill>
                <a:latin typeface="Arial"/>
                <a:ea typeface="Arial"/>
                <a:cs typeface="Arial"/>
              </a:defRPr>
            </a:defPPr>
          </a:lstStyle>
          <a:p xmlns:a="http://schemas.openxmlformats.org/drawingml/2006/main">
            <a:pPr algn="l">
              <a:lnSpc>
                <a:spcPct val="100000"/>
              </a:lnSpc>
              <a:buNone/>
              <a:defRPr sz="1200" b="1">
                <a:solidFill>
                  <a:srgbClr val="C47A11"/>
                </a:solidFill>
                <a:latin typeface="Arial"/>
                <a:ea typeface="Arial"/>
                <a:cs typeface="Arial"/>
              </a:defRPr>
            </a:pPr>
            <a:r>
              <a:rPr sz="1200" b="1">
                <a:solidFill>
                  <a:srgbClr val="C47A11"/>
                </a:solidFill>
                <a:latin typeface="Arial"/>
                <a:ea typeface="Arial"/>
                <a:cs typeface="Arial"/>
              </a:rPr>
              <a:t>GIỚI HẠN CẦN NÊU</a:t>
            </a:r>
          </a:p>
        </p:txBody>
      </p:sp>
      <p:sp>
        <p:nvSpPr>
          <p:cNvPr id="21" name="">
            <a:extLst xmlns:a="http://schemas.openxmlformats.org/drawingml/2006/main">
              <a:ext uri="{FF2B5EF4-FFF2-40B4-BE49-F238E27FC236}">
                <a16:creationId xmlns:a16="http://schemas.microsoft.com/office/drawing/2014/main" id="{B9A8EBA6-FA5A-4447-A2DE-E7F7972460F6}"/>
              </a:ext>
            </a:extLst>
          </p:cNvPr>
          <p:cNvSpPr>
            <a:spLocks xmlns:a="http://schemas.openxmlformats.org/drawingml/2006/main" noGrp="1"/>
          </p:cNvSpPr>
          <p:nvPr/>
        </p:nvSpPr>
        <p:spPr>
          <a:xfrm xmlns:a="http://schemas.openxmlformats.org/drawingml/2006/main">
            <a:off x="6838950" y="2247900"/>
            <a:ext cx="44005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4233B"/>
                </a:solidFill>
                <a:latin typeface="Arial"/>
                <a:ea typeface="Arial"/>
                <a:cs typeface="Arial"/>
              </a:defRPr>
            </a:defPPr>
          </a:lstStyle>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Đặc tả có thể chưa bao quát ý định</a:t>
            </a:r>
          </a:p>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30 bài là một tập nhỏ, một lần chạy</a:t>
            </a:r>
          </a:p>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Chưa kiểm tra ngôn ngữ triển khai khác</a:t>
            </a:r>
          </a:p>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Verified chỉ áp dụng cho mã và đặc tả Dafny</a:t>
            </a:r>
          </a:p>
        </p:txBody>
      </p:sp>
      <p:sp>
        <p:nvSpPr>
          <p:cNvPr id="22" name="">
            <a:extLst xmlns:a="http://schemas.openxmlformats.org/drawingml/2006/main">
              <a:ext uri="{FF2B5EF4-FFF2-40B4-BE49-F238E27FC236}">
                <a16:creationId xmlns:a16="http://schemas.microsoft.com/office/drawing/2014/main" id="{6A46B024-3E23-4894-8F9B-35FCF82A8EE0}"/>
              </a:ext>
            </a:extLst>
          </p:cNvPr>
          <p:cNvSpPr>
            <a:spLocks xmlns:a="http://schemas.openxmlformats.org/drawingml/2006/main" noGrp="1"/>
          </p:cNvSpPr>
          <p:nvPr/>
        </p:nvSpPr>
        <p:spPr>
          <a:xfrm xmlns:a="http://schemas.openxmlformats.org/drawingml/2006/main">
            <a:off x="590550" y="5219700"/>
            <a:ext cx="11010900" cy="552450"/>
          </a:xfrm>
          <a:prstGeom xmlns:a="http://schemas.openxmlformats.org/drawingml/2006/main" prst="roundRect">
            <a:avLst>
              <a:gd name="adj" fmla="val 24138"/>
            </a:avLst>
          </a:prstGeom>
          <a:solidFill xmlns:a="http://schemas.openxmlformats.org/drawingml/2006/main">
            <a:srgbClr val="1423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492669B-A88E-46AF-9DBA-EE5D764E67BC}"/>
              </a:ext>
            </a:extLst>
          </p:cNvPr>
          <p:cNvSpPr>
            <a:spLocks xmlns:a="http://schemas.openxmlformats.org/drawingml/2006/main" noGrp="1"/>
          </p:cNvSpPr>
          <p:nvPr/>
        </p:nvSpPr>
        <p:spPr>
          <a:xfrm xmlns:a="http://schemas.openxmlformats.org/drawingml/2006/main">
            <a:off x="857250" y="5305425"/>
            <a:ext cx="10429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Xin góp ý: tập benchmark  |  baseline  |  tiêu chí nghiệm thu</a:t>
            </a:r>
          </a:p>
        </p:txBody>
      </p:sp>
      <p:sp>
        <p:nvSpPr>
          <p:cNvPr id="24" name="">
            <a:extLst xmlns:a="http://schemas.openxmlformats.org/drawingml/2006/main">
              <a:ext uri="{FF2B5EF4-FFF2-40B4-BE49-F238E27FC236}">
                <a16:creationId xmlns:a16="http://schemas.microsoft.com/office/drawing/2014/main" id="{AF0A5434-B810-44ED-A009-57F49F72573F}"/>
              </a:ext>
            </a:extLst>
          </p:cNvPr>
          <p:cNvSpPr>
            <a:spLocks xmlns:a="http://schemas.openxmlformats.org/drawingml/2006/main" noGrp="1"/>
          </p:cNvSpPr>
          <p:nvPr/>
        </p:nvSpPr>
        <p:spPr>
          <a:xfrm xmlns:a="http://schemas.openxmlformats.org/drawingml/2006/main">
            <a:off x="590550" y="5943600"/>
            <a:ext cx="1101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F8B8D"/>
                </a:solidFill>
                <a:latin typeface="Arial"/>
                <a:ea typeface="Arial"/>
                <a:cs typeface="Arial"/>
              </a:defRPr>
            </a:defPPr>
          </a:lstStyle>
          <a:p xmlns:a="http://schemas.openxmlformats.org/drawingml/2006/main">
            <a:pPr algn="ctr">
              <a:lnSpc>
                <a:spcPct val="100000"/>
              </a:lnSpc>
              <a:buNone/>
              <a:defRPr sz="1350" b="1">
                <a:solidFill>
                  <a:srgbClr val="0F8B8D"/>
                </a:solidFill>
                <a:latin typeface="Arial"/>
                <a:ea typeface="Arial"/>
                <a:cs typeface="Arial"/>
              </a:defRPr>
            </a:pPr>
            <a:r>
              <a:rPr sz="1350" b="1">
                <a:solidFill>
                  <a:srgbClr val="0F8B8D"/>
                </a:solidFill>
                <a:latin typeface="Arial"/>
                <a:ea typeface="Arial"/>
                <a:cs typeface="Arial"/>
              </a:rPr>
              <a:t>Cảm ơn Thầy/Cô</a:t>
            </a:r>
          </a:p>
        </p:txBody>
      </p:sp>
    </p:spTree>
    <p:extLst>
      <p:ext uri="{BB962C8B-B14F-4D97-AF65-F5344CB8AC3E}">
        <p14:creationId xmlns:p14="http://schemas.microsoft.com/office/powerpoint/2010/main" val="723411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2026-10-15T12:57:20.9520000Z</dcterms:created>
  <dcterms:modified xsi:type="dcterms:W3CDTF">2026-10-15T12:57:20.9520000Z</dcterms:modified>
</coreProperties>
</file>