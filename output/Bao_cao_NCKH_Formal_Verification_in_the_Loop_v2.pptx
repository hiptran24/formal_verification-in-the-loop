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b5a1e70bea64ebf" /><Relationship Type="http://schemas.openxmlformats.org/officeDocument/2006/relationships/extended-properties" Target="/docProps/app.xml" Id="Rb126667326f14b7b" /><Relationship Type="http://schemas.openxmlformats.org/officeDocument/2006/relationships/officeDocument" Target="/ppt/presentation.xml" Id="R4cb1bcb867294f5d" /></Relationships>
</file>

<file path=ppt/presentation.xml><?xml version="1.0" encoding="utf-8"?>
<p:presentation xmlns:p="http://schemas.openxmlformats.org/presentationml/2006/main">
  <p:sldMasterIdLst>
    <p:sldMasterId xmlns:r="http://schemas.openxmlformats.org/officeDocument/2006/relationships" id="2147483648" r:id="Ra19b5a8cf99c49d7"/>
  </p:sldMasterIdLst>
  <p:notesMasterIdLst>
    <p:notesMasterId xmlns:r="http://schemas.openxmlformats.org/officeDocument/2006/relationships" r:id="R56d07ea98b3f4467"/>
  </p:notesMasterIdLst>
  <p:sldIdLst>
    <p:sldId xmlns:r="http://schemas.openxmlformats.org/officeDocument/2006/relationships" id="256" r:id="R5964200a0e7c4f9f"/>
    <p:sldId xmlns:r="http://schemas.openxmlformats.org/officeDocument/2006/relationships" id="257" r:id="R308d7e9d4cb647b8"/>
    <p:sldId xmlns:r="http://schemas.openxmlformats.org/officeDocument/2006/relationships" id="258" r:id="R6f5a046177744158"/>
    <p:sldId xmlns:r="http://schemas.openxmlformats.org/officeDocument/2006/relationships" id="259" r:id="Rbe90ab1a745f44a2"/>
    <p:sldId xmlns:r="http://schemas.openxmlformats.org/officeDocument/2006/relationships" id="260" r:id="R19bc99800d484716"/>
    <p:sldId xmlns:r="http://schemas.openxmlformats.org/officeDocument/2006/relationships" id="261" r:id="R878b9986d8e44e79"/>
    <p:sldId xmlns:r="http://schemas.openxmlformats.org/officeDocument/2006/relationships" id="262" r:id="Rd028be4719534df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8a7e1c153b4438b" /><Relationship Type="http://schemas.openxmlformats.org/officeDocument/2006/relationships/slideMaster" Target="/ppt/slideMasters/slideMaster1.xml" Id="Ra19b5a8cf99c49d7" /><Relationship Type="http://schemas.openxmlformats.org/officeDocument/2006/relationships/notesMaster" Target="/ppt/notesMasters/notesMaster1.xml" Id="R56d07ea98b3f4467" /><Relationship Type="http://schemas.openxmlformats.org/officeDocument/2006/relationships/presProps" Target="/ppt/presProps.xml" Id="Re37342add9cf4a99" /><Relationship Type="http://schemas.openxmlformats.org/officeDocument/2006/relationships/tableStyles" Target="/ppt/tableStyles.xml" Id="R7746db099e7c4834" /><Relationship Type="http://schemas.openxmlformats.org/officeDocument/2006/relationships/slide" Target="/ppt/slides/slide1.xml" Id="R5964200a0e7c4f9f" /><Relationship Type="http://schemas.openxmlformats.org/officeDocument/2006/relationships/slide" Target="/ppt/slides/slide2.xml" Id="R308d7e9d4cb647b8" /><Relationship Type="http://schemas.openxmlformats.org/officeDocument/2006/relationships/slide" Target="/ppt/slides/slide3.xml" Id="R6f5a046177744158" /><Relationship Type="http://schemas.openxmlformats.org/officeDocument/2006/relationships/slide" Target="/ppt/slides/slide4.xml" Id="Rbe90ab1a745f44a2" /><Relationship Type="http://schemas.openxmlformats.org/officeDocument/2006/relationships/slide" Target="/ppt/slides/slide5.xml" Id="R19bc99800d484716" /><Relationship Type="http://schemas.openxmlformats.org/officeDocument/2006/relationships/slide" Target="/ppt/slides/slide6.xml" Id="R878b9986d8e44e79" /><Relationship Type="http://schemas.openxmlformats.org/officeDocument/2006/relationships/slide" Target="/ppt/slides/slide7.xml" Id="Rd028be4719534df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d51e9b9061e4bf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65e07f43f86442d" /><Relationship Type="http://schemas.openxmlformats.org/officeDocument/2006/relationships/notesMaster" Target="/ppt/notesMasters/notesMaster1.xml" Id="R129e202dd9974705" /></Relationships>
</file>

<file path=ppt/notesSlides/_rels/notesSlide2.xml.rels>&#65279;<?xml version="1.0" encoding="utf-8"?><Relationships xmlns="http://schemas.openxmlformats.org/package/2006/relationships"><Relationship Type="http://schemas.openxmlformats.org/officeDocument/2006/relationships/slide" Target="/ppt/slides/slide2.xml" Id="R79b2dc32f81d4ed4" /><Relationship Type="http://schemas.openxmlformats.org/officeDocument/2006/relationships/notesMaster" Target="/ppt/notesMasters/notesMaster1.xml" Id="Rc43ad129ff4c4053" /></Relationships>
</file>

<file path=ppt/notesSlides/_rels/notesSlide3.xml.rels>&#65279;<?xml version="1.0" encoding="utf-8"?><Relationships xmlns="http://schemas.openxmlformats.org/package/2006/relationships"><Relationship Type="http://schemas.openxmlformats.org/officeDocument/2006/relationships/slide" Target="/ppt/slides/slide3.xml" Id="Rdeb6f601502d40b1" /><Relationship Type="http://schemas.openxmlformats.org/officeDocument/2006/relationships/notesMaster" Target="/ppt/notesMasters/notesMaster1.xml" Id="R45abe7404d734976" /></Relationships>
</file>

<file path=ppt/notesSlides/_rels/notesSlide4.xml.rels>&#65279;<?xml version="1.0" encoding="utf-8"?><Relationships xmlns="http://schemas.openxmlformats.org/package/2006/relationships"><Relationship Type="http://schemas.openxmlformats.org/officeDocument/2006/relationships/slide" Target="/ppt/slides/slide4.xml" Id="R064a2650718a40e7" /><Relationship Type="http://schemas.openxmlformats.org/officeDocument/2006/relationships/notesMaster" Target="/ppt/notesMasters/notesMaster1.xml" Id="Rd5cd4c86bd6f45b0" /></Relationships>
</file>

<file path=ppt/notesSlides/_rels/notesSlide5.xml.rels>&#65279;<?xml version="1.0" encoding="utf-8"?><Relationships xmlns="http://schemas.openxmlformats.org/package/2006/relationships"><Relationship Type="http://schemas.openxmlformats.org/officeDocument/2006/relationships/slide" Target="/ppt/slides/slide5.xml" Id="R9ea1b8f55ddd4285" /><Relationship Type="http://schemas.openxmlformats.org/officeDocument/2006/relationships/notesMaster" Target="/ppt/notesMasters/notesMaster1.xml" Id="Rbbcdd3cb4d364d77" /></Relationships>
</file>

<file path=ppt/notesSlides/_rels/notesSlide6.xml.rels>&#65279;<?xml version="1.0" encoding="utf-8"?><Relationships xmlns="http://schemas.openxmlformats.org/package/2006/relationships"><Relationship Type="http://schemas.openxmlformats.org/officeDocument/2006/relationships/slide" Target="/ppt/slides/slide6.xml" Id="R3f5092e022de4d11" /><Relationship Type="http://schemas.openxmlformats.org/officeDocument/2006/relationships/notesMaster" Target="/ppt/notesMasters/notesMaster1.xml" Id="R39732eddacd94d5a" /></Relationships>
</file>

<file path=ppt/notesSlides/_rels/notesSlide7.xml.rels>&#65279;<?xml version="1.0" encoding="utf-8"?><Relationships xmlns="http://schemas.openxmlformats.org/package/2006/relationships"><Relationship Type="http://schemas.openxmlformats.org/officeDocument/2006/relationships/slide" Target="/ppt/slides/slide7.xml" Id="Rc0141ef69b694a8d" /><Relationship Type="http://schemas.openxmlformats.org/officeDocument/2006/relationships/notesMaster" Target="/ppt/notesMasters/notesMaster1.xml" Id="R2a2937551872424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20 giây.</a:t>
            </a:r>
          </a:p>
          <a:p xmlns:a="http://schemas.openxmlformats.org/drawingml/2006/main">
            <a:r>
              <a:t>Em là Nguyễn Võ Lê Khoa, đại diện nhóm. Nhóm xin trình bày đề tài về khung sinh mã và tự sửa lỗi có vòng kiểm chứng hình thức. GV hướng dẫn là ThS. Bùi Phú Khuyên.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40 giây.</a:t>
            </a:r>
          </a:p>
          <a:p xmlns:a="http://schemas.openxmlformats.org/drawingml/2006/main">
            <a:r>
              <a:t>LLM có thể tạo mã nhìn hợp lý nhưng sai logic ở đầu vào chưa thử. Unit test kiểm tra các đầu vào cụ thể; đặc tả Dafny có thể nêu tính chất tổng quát, chẳng hạn mọi chỉ số hợp lệ. Dafny xác minh nghĩa vụ suy ra từ đặc tả, trong phạm vi mô hình và giả định công cụ. Điều này vẫn phụ thuộc vào việc đặc tả có đúng và đủ hay không.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35 giây.</a:t>
            </a:r>
          </a:p>
          <a:p xmlns:a="http://schemas.openxmlformats.org/drawingml/2006/main">
            <a:r>
              <a:t>Mục tiêu là đánh giá tác động của phản hồi verifier, không tuyên bố đã giải quyết hoàn toàn hallucination. Câu hỏi chính là liệu vòng phản hồi có tăng Pass@K khi giữ cố định mô hình, tập bài và ngân sách hay không. Nhóm cũng theo dõi số lượt sửa, thời gian và nguyên nhân thất bại.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60 giây.</a:t>
            </a:r>
          </a:p>
          <a:p xmlns:a="http://schemas.openxmlformats.org/drawingml/2006/main">
            <a:r>
              <a:t>Đầu tiên, nhóm lấy đặc tả gốc và nhận diện dạng bài để gợi ý cấu trúc. LLM sinh mã Dafny. Hệ thống chuẩn hóa cú pháp và SpecLocker kiểm tra rằng đặc tả gốc không bị thay đổi. Sau đó Dafny/Z3 xác minh ứng viên. Nếu đạt, báo Verified theo đặc tả. Nếu chưa đạt, Diagnostic Parser phân loại lỗi rồi gửi phản hồi cho lượt sửa tiếp theo, tối đa K lượt. Pipeline có nhánh trích xuất phản ví dụ, nhưng không phải lỗi nào cũng có phản ví dụ; phần đó cần được đo riêng.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55 giây.</a:t>
            </a:r>
          </a:p>
          <a:p xmlns:a="http://schemas.openxmlformats.org/drawingml/2006/main">
            <a:r>
              <a:t>Lần chạy gần nhất được lưu ngày 15 tháng 10 lúc 17:14, dùng Qwen2.5-Coder-7B trên bộ 30 bài cốt lõi với tối đa ba lượt. 28 bài đạt ở lượt đầu, 031-is-prime đạt ở lượt hai sau lỗi hậu điều kiện, và sorted_insert chưa đạt sau ba lượt. Tổng cộng 29/30 được Dafny xác minh. Đây là một lần chạy sơ bộ, chưa phải kết luận tổng quát. [Bổ sung ảnh chụp giao diện hoặc lịch sử thật của 031-is-prime vào khung.]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55 giây.</a:t>
            </a:r>
          </a:p>
          <a:p xmlns:a="http://schemas.openxmlformats.org/drawingml/2006/main">
            <a:r>
              <a:t>Giai đoạn một chốt manifest, nguồn, đặc tả và mẫu số. Giai đoạn hai chạy ba cấu hình: sinh một lần, sửa theo thông báo lỗi Dafny, và pipeline đầy đủ. So sánh phải giữ cùng tập bài, mô hình, prompt cơ sở, K và timeout. Giai đoạn ba phân tích Pass@1, Pass@K, thời gian, token và loại lỗi. Cuối cùng lưu log để tái lập và viết báo cáo.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35 giây.</a:t>
            </a:r>
          </a:p>
          <a:p xmlns:a="http://schemas.openxmlformats.org/drawingml/2006/main">
            <a:r>
              <a:t>Đầu ra gồm prototype, benchmark có manifest, dữ liệu và log, cùng báo cáo NCKH. Bản thảo bài báo là mục tiêu nếu phù hợp thời hạn và quy định. Giới hạn hiện tại là tập bài nhỏ, một lần chạy, và kết quả phụ thuộc độ đúng đủ của đặc tả. Nhóm xin góp ý về benchmark, baseline và tiêu chí nghiệm thu. Em xin cảm ơn Thầy Cô.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d62978c13e6492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ed6a13be1f8414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fc0a015b1124b6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c5efe96e1024d5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b6f19a8797d4ef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bf2ca30b6784a3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E3030D3-B812-4C53-8FAA-993CB2B7F5F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5D25BBD-BAB5-43FA-B0C3-DF25C9CFFD9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C74675D-5442-419D-9B2B-DE042A8AA35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5F8156F-0EE7-4293-8727-3D34FB59533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13D93BE-2D29-44FE-BD99-9A85F847BA5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1C512CF-1843-49CC-BAFF-76EDE76B2A8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EB08FCD-482D-4E4D-BBD2-3AA70EBE60A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8CADCB6-FFB9-4961-B3C6-8E128498370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8213984-B966-4E71-8C05-7FAD3E93DCD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DD83D04-38B0-4CA9-808E-A2F41894758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585030622b24b37" /><Relationship Type="http://schemas.openxmlformats.org/officeDocument/2006/relationships/slideLayout" Target="/ppt/slideLayouts/slideLayout1.xml" Id="R082b02fb7b534d60" /><Relationship Type="http://schemas.openxmlformats.org/officeDocument/2006/relationships/slideLayout" Target="/ppt/slideLayouts/slideLayout2.xml" Id="R8d40ac04cae64416" /><Relationship Type="http://schemas.openxmlformats.org/officeDocument/2006/relationships/slideLayout" Target="/ppt/slideLayouts/slideLayout3.xml" Id="Rcf1d74633e994585" /><Relationship Type="http://schemas.openxmlformats.org/officeDocument/2006/relationships/slideLayout" Target="/ppt/slideLayouts/slideLayout4.xml" Id="R77908701a1604d55" /><Relationship Type="http://schemas.openxmlformats.org/officeDocument/2006/relationships/slideLayout" Target="/ppt/slideLayouts/slideLayout5.xml" Id="R9f59ae3a74ca4a50" /><Relationship Type="http://schemas.openxmlformats.org/officeDocument/2006/relationships/slideLayout" Target="/ppt/slideLayouts/slideLayout6.xml" Id="Rb92adaf53aaf463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82b02fb7b534d60"/>
    <p:sldLayoutId xmlns:r="http://schemas.openxmlformats.org/officeDocument/2006/relationships" id="2147483650" r:id="R8d40ac04cae64416"/>
    <p:sldLayoutId xmlns:r="http://schemas.openxmlformats.org/officeDocument/2006/relationships" id="2147483651" r:id="Rcf1d74633e994585"/>
    <p:sldLayoutId xmlns:r="http://schemas.openxmlformats.org/officeDocument/2006/relationships" id="2147483652" r:id="R77908701a1604d55"/>
    <p:sldLayoutId xmlns:r="http://schemas.openxmlformats.org/officeDocument/2006/relationships" id="2147483653" r:id="R9f59ae3a74ca4a50"/>
    <p:sldLayoutId xmlns:r="http://schemas.openxmlformats.org/officeDocument/2006/relationships" id="2147483654" r:id="Rb92adaf53aaf463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331d3c50aa94bc7" /><Relationship Type="http://schemas.openxmlformats.org/officeDocument/2006/relationships/notesSlide" Target="/ppt/notesSlides/notesSlide1.xml" Id="R9bc9a35a0130406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8dbbda4662c40b5" /><Relationship Type="http://schemas.openxmlformats.org/officeDocument/2006/relationships/notesSlide" Target="/ppt/notesSlides/notesSlide2.xml" Id="Red74692694d845c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a55bc0d40c5419e" /><Relationship Type="http://schemas.openxmlformats.org/officeDocument/2006/relationships/notesSlide" Target="/ppt/notesSlides/notesSlide3.xml" Id="Rb93c5f155db9497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731a50f1f314c97" /><Relationship Type="http://schemas.openxmlformats.org/officeDocument/2006/relationships/notesSlide" Target="/ppt/notesSlides/notesSlide4.xml" Id="R610752c7a276438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21bbc20be5e4e07" /><Relationship Type="http://schemas.openxmlformats.org/officeDocument/2006/relationships/notesSlide" Target="/ppt/notesSlides/notesSlide5.xml" Id="R35b6842260ac452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2c9fdf8174e4c67" /><Relationship Type="http://schemas.openxmlformats.org/officeDocument/2006/relationships/notesSlide" Target="/ppt/notesSlides/notesSlide6.xml" Id="R18e1003a96f746b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6e9910a5f454e88" /><Relationship Type="http://schemas.openxmlformats.org/officeDocument/2006/relationships/notesSlide" Target="/ppt/notesSlides/notesSlide7.xml" Id="R95f20a1c96174083" /></Relationships>
</file>

<file path=ppt/slides/slide1.xml><?xml version="1.0" encoding="utf-8"?>
<p:sld xmlns:p="http://schemas.openxmlformats.org/presentationml/2006/main">
  <p:cSld>
    <p:bg>
      <p:bgPr>
        <a:solidFill xmlns:a="http://schemas.openxmlformats.org/drawingml/2006/main">
          <a:srgbClr val="14233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0EB758D-CE6A-4601-869E-D15FFE28959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F5DA711-5BE6-466D-9B72-00E38B639178}"/>
              </a:ext>
            </a:extLst>
          </p:cNvPr>
          <p:cNvSpPr>
            <a:spLocks xmlns:a="http://schemas.openxmlformats.org/drawingml/2006/main" noGrp="1"/>
          </p:cNvSpPr>
          <p:nvPr/>
        </p:nvSpPr>
        <p:spPr>
          <a:xfrm xmlns:a="http://schemas.openxmlformats.org/drawingml/2006/main">
            <a:off x="685800" y="552450"/>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8CC8FF"/>
                </a:solidFill>
                <a:latin typeface="Arial"/>
                <a:ea typeface="Arial"/>
                <a:cs typeface="Arial"/>
              </a:defRPr>
            </a:defPPr>
          </a:lstStyle>
          <a:p xmlns:a="http://schemas.openxmlformats.org/drawingml/2006/main">
            <a:pPr algn="l">
              <a:lnSpc>
                <a:spcPct val="100000"/>
              </a:lnSpc>
              <a:buNone/>
              <a:defRPr sz="1200" b="1">
                <a:solidFill>
                  <a:srgbClr val="8CC8FF"/>
                </a:solidFill>
                <a:latin typeface="Arial"/>
                <a:ea typeface="Arial"/>
                <a:cs typeface="Arial"/>
              </a:defRPr>
            </a:pPr>
            <a:r>
              <a:rPr sz="1200" b="1">
                <a:solidFill>
                  <a:srgbClr val="8CC8FF"/>
                </a:solidFill>
                <a:latin typeface="Arial"/>
                <a:ea typeface="Arial"/>
                <a:cs typeface="Arial"/>
              </a:rPr>
              <a:t>NGHIÊN CỨU KHOA HỌC SINH VIÊN 2026</a:t>
            </a:r>
          </a:p>
        </p:txBody>
      </p:sp>
      <p:sp>
        <p:nvSpPr>
          <p:cNvPr id="3" name="">
            <a:extLst xmlns:a="http://schemas.openxmlformats.org/drawingml/2006/main">
              <a:ext uri="{FF2B5EF4-FFF2-40B4-BE49-F238E27FC236}">
                <a16:creationId xmlns:a16="http://schemas.microsoft.com/office/drawing/2014/main" id="{C6D0B9C0-87FA-4293-AE3D-587F4E692EC3}"/>
              </a:ext>
            </a:extLst>
          </p:cNvPr>
          <p:cNvSpPr>
            <a:spLocks xmlns:a="http://schemas.openxmlformats.org/drawingml/2006/main" noGrp="1"/>
          </p:cNvSpPr>
          <p:nvPr/>
        </p:nvSpPr>
        <p:spPr>
          <a:xfrm xmlns:a="http://schemas.openxmlformats.org/drawingml/2006/main">
            <a:off x="685800" y="1257300"/>
            <a:ext cx="10001250" cy="1962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700" b="1">
                <a:solidFill>
                  <a:srgbClr val="FFFFFF"/>
                </a:solidFill>
                <a:latin typeface="Arial"/>
                <a:ea typeface="Arial"/>
                <a:cs typeface="Arial"/>
              </a:defRPr>
            </a:defPPr>
          </a:lstStyle>
          <a:p xmlns:a="http://schemas.openxmlformats.org/drawingml/2006/main">
            <a:pPr algn="l">
              <a:lnSpc>
                <a:spcPct val="103000"/>
              </a:lnSpc>
              <a:buNone/>
              <a:defRPr sz="2700" b="1">
                <a:solidFill>
                  <a:srgbClr val="FFFFFF"/>
                </a:solidFill>
                <a:latin typeface="Arial"/>
                <a:ea typeface="Arial"/>
                <a:cs typeface="Arial"/>
              </a:defRPr>
            </a:pPr>
            <a:r>
              <a:rPr sz="2700" b="1">
                <a:solidFill>
                  <a:srgbClr val="FFFFFF"/>
                </a:solidFill>
                <a:latin typeface="Arial"/>
                <a:ea typeface="Arial"/>
                <a:cs typeface="Arial"/>
              </a:rPr>
              <a:t>Nghiên cứu khung sinh mã nguồn</a:t>
            </a:r>
          </a:p>
          <a:p xmlns:a="http://schemas.openxmlformats.org/drawingml/2006/main">
            <a:pPr algn="l">
              <a:lnSpc>
                <a:spcPct val="103000"/>
              </a:lnSpc>
              <a:buNone/>
              <a:defRPr sz="2700" b="1">
                <a:solidFill>
                  <a:srgbClr val="FFFFFF"/>
                </a:solidFill>
                <a:latin typeface="Arial"/>
                <a:ea typeface="Arial"/>
                <a:cs typeface="Arial"/>
              </a:defRPr>
            </a:pPr>
            <a:r>
              <a:rPr sz="2700" b="1">
                <a:solidFill>
                  <a:srgbClr val="FFFFFF"/>
                </a:solidFill>
                <a:latin typeface="Arial"/>
                <a:ea typeface="Arial"/>
                <a:cs typeface="Arial"/>
              </a:rPr>
              <a:t>và tự sửa lỗi tự động loại bỏ ảo giác</a:t>
            </a:r>
          </a:p>
          <a:p xmlns:a="http://schemas.openxmlformats.org/drawingml/2006/main">
            <a:pPr algn="l">
              <a:lnSpc>
                <a:spcPct val="103000"/>
              </a:lnSpc>
              <a:buNone/>
              <a:defRPr sz="2700" b="1">
                <a:solidFill>
                  <a:srgbClr val="FFFFFF"/>
                </a:solidFill>
                <a:latin typeface="Arial"/>
                <a:ea typeface="Arial"/>
                <a:cs typeface="Arial"/>
              </a:defRPr>
            </a:pPr>
            <a:r>
              <a:rPr sz="2700" b="1">
                <a:solidFill>
                  <a:srgbClr val="FFFFFF"/>
                </a:solidFill>
                <a:latin typeface="Arial"/>
                <a:ea typeface="Arial"/>
                <a:cs typeface="Arial"/>
              </a:rPr>
              <a:t>dựa trên kiểm định logic hình thức</a:t>
            </a:r>
          </a:p>
        </p:txBody>
      </p:sp>
      <p:sp>
        <p:nvSpPr>
          <p:cNvPr id="4" name="">
            <a:extLst xmlns:a="http://schemas.openxmlformats.org/drawingml/2006/main">
              <a:ext uri="{FF2B5EF4-FFF2-40B4-BE49-F238E27FC236}">
                <a16:creationId xmlns:a16="http://schemas.microsoft.com/office/drawing/2014/main" id="{84393F6E-BB30-4677-80B9-FF63FC309D53}"/>
              </a:ext>
            </a:extLst>
          </p:cNvPr>
          <p:cNvSpPr>
            <a:spLocks xmlns:a="http://schemas.openxmlformats.org/drawingml/2006/main" noGrp="1"/>
          </p:cNvSpPr>
          <p:nvPr/>
        </p:nvSpPr>
        <p:spPr>
          <a:xfrm xmlns:a="http://schemas.openxmlformats.org/drawingml/2006/main">
            <a:off x="704850" y="3371850"/>
            <a:ext cx="819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0">
                <a:solidFill>
                  <a:srgbClr val="A9D8E8"/>
                </a:solidFill>
                <a:latin typeface="Arial"/>
                <a:ea typeface="Arial"/>
                <a:cs typeface="Arial"/>
              </a:defRPr>
            </a:defPPr>
          </a:lstStyle>
          <a:p xmlns:a="http://schemas.openxmlformats.org/drawingml/2006/main">
            <a:pPr algn="l">
              <a:lnSpc>
                <a:spcPct val="100000"/>
              </a:lnSpc>
              <a:buNone/>
              <a:defRPr sz="1800" b="0">
                <a:solidFill>
                  <a:srgbClr val="A9D8E8"/>
                </a:solidFill>
                <a:latin typeface="Arial"/>
                <a:ea typeface="Arial"/>
                <a:cs typeface="Arial"/>
              </a:defRPr>
            </a:pPr>
            <a:r>
              <a:rPr sz="1800" b="0">
                <a:solidFill>
                  <a:srgbClr val="A9D8E8"/>
                </a:solidFill>
                <a:latin typeface="Arial"/>
                <a:ea typeface="Arial"/>
                <a:cs typeface="Arial"/>
              </a:rPr>
              <a:t>Formal Verification-in-the-Loop</a:t>
            </a:r>
          </a:p>
        </p:txBody>
      </p:sp>
      <p:sp>
        <p:nvSpPr>
          <p:cNvPr id="5" name="">
            <a:extLst xmlns:a="http://schemas.openxmlformats.org/drawingml/2006/main">
              <a:ext uri="{FF2B5EF4-FFF2-40B4-BE49-F238E27FC236}">
                <a16:creationId xmlns:a16="http://schemas.microsoft.com/office/drawing/2014/main" id="{551BB42D-EE1E-416A-A365-FE66B9714874}"/>
              </a:ext>
            </a:extLst>
          </p:cNvPr>
          <p:cNvSpPr>
            <a:spLocks xmlns:a="http://schemas.openxmlformats.org/drawingml/2006/main" noGrp="1"/>
          </p:cNvSpPr>
          <p:nvPr/>
        </p:nvSpPr>
        <p:spPr>
          <a:xfrm xmlns:a="http://schemas.openxmlformats.org/drawingml/2006/main">
            <a:off x="704850" y="4000500"/>
            <a:ext cx="4762500" cy="0"/>
          </a:xfrm>
          <a:prstGeom xmlns:a="http://schemas.openxmlformats.org/drawingml/2006/main" prst="line">
            <a:avLst/>
          </a:prstGeom>
          <a:noFill xmlns:a="http://schemas.openxmlformats.org/drawingml/2006/main"/>
          <a:ln xmlns:a="http://schemas.openxmlformats.org/drawingml/2006/main" w="9525">
            <a:solidFill>
              <a:srgbClr val="496078"/>
            </a:solidFill>
            <a:prstDash val="solid"/>
          </a:ln>
        </p:spPr>
      </p:sp>
      <p:sp>
        <p:nvSpPr>
          <p:cNvPr id="6" name="">
            <a:extLst xmlns:a="http://schemas.openxmlformats.org/drawingml/2006/main">
              <a:ext uri="{FF2B5EF4-FFF2-40B4-BE49-F238E27FC236}">
                <a16:creationId xmlns:a16="http://schemas.microsoft.com/office/drawing/2014/main" id="{FD382CF6-C2C0-453D-87F8-407A49919119}"/>
              </a:ext>
            </a:extLst>
          </p:cNvPr>
          <p:cNvSpPr>
            <a:spLocks xmlns:a="http://schemas.openxmlformats.org/drawingml/2006/main" noGrp="1"/>
          </p:cNvSpPr>
          <p:nvPr/>
        </p:nvSpPr>
        <p:spPr>
          <a:xfrm xmlns:a="http://schemas.openxmlformats.org/drawingml/2006/main">
            <a:off x="704850" y="424815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9FB2C6"/>
                </a:solidFill>
                <a:latin typeface="Arial"/>
                <a:ea typeface="Arial"/>
                <a:cs typeface="Arial"/>
              </a:defRPr>
            </a:defPPr>
          </a:lstStyle>
          <a:p xmlns:a="http://schemas.openxmlformats.org/drawingml/2006/main">
            <a:pPr algn="l">
              <a:lnSpc>
                <a:spcPct val="100000"/>
              </a:lnSpc>
              <a:buNone/>
              <a:defRPr sz="1125" b="0">
                <a:solidFill>
                  <a:srgbClr val="9FB2C6"/>
                </a:solidFill>
                <a:latin typeface="Arial"/>
                <a:ea typeface="Arial"/>
                <a:cs typeface="Arial"/>
              </a:defRPr>
            </a:pPr>
            <a:r>
              <a:rPr sz="1125" b="0">
                <a:solidFill>
                  <a:srgbClr val="9FB2C6"/>
                </a:solidFill>
                <a:latin typeface="Arial"/>
                <a:ea typeface="Arial"/>
                <a:cs typeface="Arial"/>
              </a:rPr>
              <a:t>GV hướng dẫn</a:t>
            </a:r>
          </a:p>
        </p:txBody>
      </p:sp>
      <p:sp>
        <p:nvSpPr>
          <p:cNvPr id="7" name="">
            <a:extLst xmlns:a="http://schemas.openxmlformats.org/drawingml/2006/main">
              <a:ext uri="{FF2B5EF4-FFF2-40B4-BE49-F238E27FC236}">
                <a16:creationId xmlns:a16="http://schemas.microsoft.com/office/drawing/2014/main" id="{74EEB3E6-1545-4C0B-B00B-AFFC33131A85}"/>
              </a:ext>
            </a:extLst>
          </p:cNvPr>
          <p:cNvSpPr>
            <a:spLocks xmlns:a="http://schemas.openxmlformats.org/drawingml/2006/main" noGrp="1"/>
          </p:cNvSpPr>
          <p:nvPr/>
        </p:nvSpPr>
        <p:spPr>
          <a:xfrm xmlns:a="http://schemas.openxmlformats.org/drawingml/2006/main">
            <a:off x="704850" y="4524375"/>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FFFFFF"/>
                </a:solidFill>
                <a:latin typeface="Arial"/>
                <a:ea typeface="Arial"/>
                <a:cs typeface="Arial"/>
              </a:defRPr>
            </a:defPPr>
          </a:lstStyle>
          <a:p xmlns:a="http://schemas.openxmlformats.org/drawingml/2006/main">
            <a:pPr algn="l">
              <a:lnSpc>
                <a:spcPct val="100000"/>
              </a:lnSpc>
              <a:buNone/>
              <a:defRPr sz="1650" b="1">
                <a:solidFill>
                  <a:srgbClr val="FFFFFF"/>
                </a:solidFill>
                <a:latin typeface="Arial"/>
                <a:ea typeface="Arial"/>
                <a:cs typeface="Arial"/>
              </a:defRPr>
            </a:pPr>
            <a:r>
              <a:rPr sz="1650" b="1">
                <a:solidFill>
                  <a:srgbClr val="FFFFFF"/>
                </a:solidFill>
                <a:latin typeface="Arial"/>
                <a:ea typeface="Arial"/>
                <a:cs typeface="Arial"/>
              </a:rPr>
              <a:t>ThS. Bùi Phú Khuyên</a:t>
            </a:r>
          </a:p>
        </p:txBody>
      </p:sp>
      <p:sp>
        <p:nvSpPr>
          <p:cNvPr id="8" name="">
            <a:extLst xmlns:a="http://schemas.openxmlformats.org/drawingml/2006/main">
              <a:ext uri="{FF2B5EF4-FFF2-40B4-BE49-F238E27FC236}">
                <a16:creationId xmlns:a16="http://schemas.microsoft.com/office/drawing/2014/main" id="{CF1BDC22-EDEB-41B3-9743-B381BE75E478}"/>
              </a:ext>
            </a:extLst>
          </p:cNvPr>
          <p:cNvSpPr>
            <a:spLocks xmlns:a="http://schemas.openxmlformats.org/drawingml/2006/main" noGrp="1"/>
          </p:cNvSpPr>
          <p:nvPr/>
        </p:nvSpPr>
        <p:spPr>
          <a:xfrm xmlns:a="http://schemas.openxmlformats.org/drawingml/2006/main">
            <a:off x="704850" y="5153025"/>
            <a:ext cx="666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DCE6F0"/>
                </a:solidFill>
                <a:latin typeface="Arial"/>
                <a:ea typeface="Arial"/>
                <a:cs typeface="Arial"/>
              </a:defRPr>
            </a:defPPr>
          </a:lstStyle>
          <a:p xmlns:a="http://schemas.openxmlformats.org/drawingml/2006/main">
            <a:pPr algn="l">
              <a:lnSpc>
                <a:spcPct val="120000"/>
              </a:lnSpc>
              <a:buNone/>
              <a:defRPr sz="1350" b="0">
                <a:solidFill>
                  <a:srgbClr val="DCE6F0"/>
                </a:solidFill>
                <a:latin typeface="Arial"/>
                <a:ea typeface="Arial"/>
                <a:cs typeface="Arial"/>
              </a:defRPr>
            </a:pPr>
            <a:r>
              <a:rPr sz="1350" b="0">
                <a:solidFill>
                  <a:srgbClr val="DCE6F0"/>
                </a:solidFill>
                <a:latin typeface="Arial"/>
                <a:ea typeface="Arial"/>
                <a:cs typeface="Arial"/>
              </a:rPr>
              <a:t>Nguyễn Võ Lê Khoa  ·  Trần Thanh Hiệp</a:t>
            </a:r>
          </a:p>
          <a:p xmlns:a="http://schemas.openxmlformats.org/drawingml/2006/main">
            <a:pPr algn="l">
              <a:lnSpc>
                <a:spcPct val="120000"/>
              </a:lnSpc>
              <a:buNone/>
              <a:defRPr sz="1350" b="0">
                <a:solidFill>
                  <a:srgbClr val="DCE6F0"/>
                </a:solidFill>
                <a:latin typeface="Arial"/>
                <a:ea typeface="Arial"/>
                <a:cs typeface="Arial"/>
              </a:defRPr>
            </a:pPr>
            <a:r>
              <a:rPr sz="1350" b="0">
                <a:solidFill>
                  <a:srgbClr val="DCE6F0"/>
                </a:solidFill>
                <a:latin typeface="Arial"/>
                <a:ea typeface="Arial"/>
                <a:cs typeface="Arial"/>
              </a:rPr>
              <a:t>Nguyễn Thành Nhất Nam  ·  Trần Đức Huy</a:t>
            </a:r>
          </a:p>
        </p:txBody>
      </p:sp>
      <p:sp>
        <p:nvSpPr>
          <p:cNvPr id="9" name="">
            <a:extLst xmlns:a="http://schemas.openxmlformats.org/drawingml/2006/main">
              <a:ext uri="{FF2B5EF4-FFF2-40B4-BE49-F238E27FC236}">
                <a16:creationId xmlns:a16="http://schemas.microsoft.com/office/drawing/2014/main" id="{8E50B5F6-3108-4683-86F9-CA904822DD0E}"/>
              </a:ext>
            </a:extLst>
          </p:cNvPr>
          <p:cNvSpPr>
            <a:spLocks xmlns:a="http://schemas.openxmlformats.org/drawingml/2006/main" noGrp="1"/>
          </p:cNvSpPr>
          <p:nvPr/>
        </p:nvSpPr>
        <p:spPr>
          <a:xfrm xmlns:a="http://schemas.openxmlformats.org/drawingml/2006/main">
            <a:off x="7848600" y="5829300"/>
            <a:ext cx="3524250" cy="304800"/>
          </a:xfrm>
          <a:prstGeom xmlns:a="http://schemas.openxmlformats.org/drawingml/2006/main" prst="roundRect">
            <a:avLst>
              <a:gd name="adj" fmla="val 50000"/>
            </a:avLst>
          </a:prstGeom>
          <a:solidFill xmlns:a="http://schemas.openxmlformats.org/drawingml/2006/main">
            <a:srgbClr val="20385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758DBFA-00D8-4EEB-8C79-92D80BAE5021}"/>
              </a:ext>
            </a:extLst>
          </p:cNvPr>
          <p:cNvSpPr>
            <a:spLocks xmlns:a="http://schemas.openxmlformats.org/drawingml/2006/main" noGrp="1"/>
          </p:cNvSpPr>
          <p:nvPr/>
        </p:nvSpPr>
        <p:spPr>
          <a:xfrm xmlns:a="http://schemas.openxmlformats.org/drawingml/2006/main">
            <a:off x="7943850" y="5838825"/>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A9D8E8"/>
                </a:solidFill>
                <a:latin typeface="Arial"/>
                <a:ea typeface="Arial"/>
                <a:cs typeface="Arial"/>
              </a:defRPr>
            </a:defPPr>
          </a:lstStyle>
          <a:p xmlns:a="http://schemas.openxmlformats.org/drawingml/2006/main">
            <a:pPr algn="ctr">
              <a:lnSpc>
                <a:spcPct val="100000"/>
              </a:lnSpc>
              <a:buNone/>
              <a:defRPr sz="1050" b="1">
                <a:solidFill>
                  <a:srgbClr val="A9D8E8"/>
                </a:solidFill>
                <a:latin typeface="Arial"/>
                <a:ea typeface="Arial"/>
                <a:cs typeface="Arial"/>
              </a:defRPr>
            </a:pPr>
            <a:r>
              <a:rPr sz="1050" b="1">
                <a:solidFill>
                  <a:srgbClr val="A9D8E8"/>
                </a:solidFill>
                <a:latin typeface="Arial"/>
                <a:ea typeface="Arial"/>
                <a:cs typeface="Arial"/>
              </a:rPr>
              <a:t>THUYẾT TRÌNH: NGUYỄN VÕ LÊ KHOA</a:t>
            </a:r>
          </a:p>
        </p:txBody>
      </p:sp>
    </p:spTree>
    <p:extLst>
      <p:ext uri="{BB962C8B-B14F-4D97-AF65-F5344CB8AC3E}">
        <p14:creationId xmlns:p14="http://schemas.microsoft.com/office/powerpoint/2010/main" val="2019501567"/>
      </p:ext>
    </p:extLst>
  </p:cSld>
</p:sld>
</file>

<file path=ppt/slides/slide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F332B90-1BF8-44B3-A993-16B41A5C05E3}"/>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563E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75B1B07-F28B-4667-A5DF-2334BA041F5F}"/>
              </a:ext>
            </a:extLst>
          </p:cNvPr>
          <p:cNvSpPr>
            <a:spLocks xmlns:a="http://schemas.openxmlformats.org/drawingml/2006/main" noGrp="1"/>
          </p:cNvSpPr>
          <p:nvPr/>
        </p:nvSpPr>
        <p:spPr>
          <a:xfrm xmlns:a="http://schemas.openxmlformats.org/drawingml/2006/main">
            <a:off x="590550" y="3238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2563EB"/>
                </a:solidFill>
                <a:latin typeface="Arial"/>
                <a:ea typeface="Arial"/>
                <a:cs typeface="Arial"/>
              </a:defRPr>
            </a:defPPr>
          </a:lstStyle>
          <a:p xmlns:a="http://schemas.openxmlformats.org/drawingml/2006/main">
            <a:pPr algn="l">
              <a:lnSpc>
                <a:spcPct val="100000"/>
              </a:lnSpc>
              <a:buNone/>
              <a:defRPr sz="975" b="1">
                <a:solidFill>
                  <a:srgbClr val="2563EB"/>
                </a:solidFill>
                <a:latin typeface="Arial"/>
                <a:ea typeface="Arial"/>
                <a:cs typeface="Arial"/>
              </a:defRPr>
            </a:pPr>
            <a:r>
              <a:rPr sz="975" b="1">
                <a:solidFill>
                  <a:srgbClr val="2563EB"/>
                </a:solidFill>
                <a:latin typeface="Arial"/>
                <a:ea typeface="Arial"/>
                <a:cs typeface="Arial"/>
              </a:rPr>
              <a:t>NCKH SINH VIÊN 2026</a:t>
            </a:r>
          </a:p>
        </p:txBody>
      </p:sp>
      <p:sp>
        <p:nvSpPr>
          <p:cNvPr id="3" name="">
            <a:extLst xmlns:a="http://schemas.openxmlformats.org/drawingml/2006/main">
              <a:ext uri="{FF2B5EF4-FFF2-40B4-BE49-F238E27FC236}">
                <a16:creationId xmlns:a16="http://schemas.microsoft.com/office/drawing/2014/main" id="{C95872D9-243A-4D0C-A4F3-F19160F7B7DD}"/>
              </a:ext>
            </a:extLst>
          </p:cNvPr>
          <p:cNvSpPr>
            <a:spLocks xmlns:a="http://schemas.openxmlformats.org/drawingml/2006/main" noGrp="1"/>
          </p:cNvSpPr>
          <p:nvPr/>
        </p:nvSpPr>
        <p:spPr>
          <a:xfrm xmlns:a="http://schemas.openxmlformats.org/drawingml/2006/main">
            <a:off x="590550" y="666750"/>
            <a:ext cx="11010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550" b="1">
                <a:solidFill>
                  <a:srgbClr val="14233B"/>
                </a:solidFill>
                <a:latin typeface="Arial"/>
                <a:ea typeface="Arial"/>
                <a:cs typeface="Arial"/>
              </a:defRPr>
            </a:defPPr>
          </a:lstStyle>
          <a:p xmlns:a="http://schemas.openxmlformats.org/drawingml/2006/main">
            <a:pPr algn="l">
              <a:lnSpc>
                <a:spcPct val="100000"/>
              </a:lnSpc>
              <a:buNone/>
              <a:defRPr sz="2550" b="1">
                <a:solidFill>
                  <a:srgbClr val="14233B"/>
                </a:solidFill>
                <a:latin typeface="Arial"/>
                <a:ea typeface="Arial"/>
                <a:cs typeface="Arial"/>
              </a:defRPr>
            </a:pPr>
            <a:r>
              <a:rPr sz="2550" b="1">
                <a:solidFill>
                  <a:srgbClr val="14233B"/>
                </a:solidFill>
                <a:latin typeface="Arial"/>
                <a:ea typeface="Arial"/>
                <a:cs typeface="Arial"/>
              </a:rPr>
              <a:t>Vấn đề nghiên cứu</a:t>
            </a:r>
          </a:p>
        </p:txBody>
      </p:sp>
      <p:sp>
        <p:nvSpPr>
          <p:cNvPr id="4" name="">
            <a:extLst xmlns:a="http://schemas.openxmlformats.org/drawingml/2006/main">
              <a:ext uri="{FF2B5EF4-FFF2-40B4-BE49-F238E27FC236}">
                <a16:creationId xmlns:a16="http://schemas.microsoft.com/office/drawing/2014/main" id="{BD55FE5D-C85E-477F-A350-2F51F6C3EA9E}"/>
              </a:ext>
            </a:extLst>
          </p:cNvPr>
          <p:cNvSpPr>
            <a:spLocks xmlns:a="http://schemas.openxmlformats.org/drawingml/2006/main" noGrp="1"/>
          </p:cNvSpPr>
          <p:nvPr/>
        </p:nvSpPr>
        <p:spPr>
          <a:xfrm xmlns:a="http://schemas.openxmlformats.org/drawingml/2006/main">
            <a:off x="590550" y="1304925"/>
            <a:ext cx="110109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5" name="">
            <a:extLst xmlns:a="http://schemas.openxmlformats.org/drawingml/2006/main">
              <a:ext uri="{FF2B5EF4-FFF2-40B4-BE49-F238E27FC236}">
                <a16:creationId xmlns:a16="http://schemas.microsoft.com/office/drawing/2014/main" id="{4E862871-19A3-440D-8A40-687D4D8F3137}"/>
              </a:ext>
            </a:extLst>
          </p:cNvPr>
          <p:cNvSpPr>
            <a:spLocks xmlns:a="http://schemas.openxmlformats.org/drawingml/2006/main" noGrp="1"/>
          </p:cNvSpPr>
          <p:nvPr/>
        </p:nvSpPr>
        <p:spPr>
          <a:xfrm xmlns:a="http://schemas.openxmlformats.org/drawingml/2006/main">
            <a:off x="10572750" y="6438900"/>
            <a:ext cx="1028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52647A"/>
                </a:solidFill>
                <a:latin typeface="Arial"/>
                <a:ea typeface="Arial"/>
                <a:cs typeface="Arial"/>
              </a:defRPr>
            </a:defPPr>
          </a:lstStyle>
          <a:p xmlns:a="http://schemas.openxmlformats.org/drawingml/2006/main">
            <a:pPr algn="r">
              <a:lnSpc>
                <a:spcPct val="100000"/>
              </a:lnSpc>
              <a:buNone/>
              <a:defRPr sz="975" b="1">
                <a:solidFill>
                  <a:srgbClr val="52647A"/>
                </a:solidFill>
                <a:latin typeface="Arial"/>
                <a:ea typeface="Arial"/>
                <a:cs typeface="Arial"/>
              </a:defRPr>
            </a:pPr>
            <a:r>
              <a:rPr sz="975" b="1">
                <a:solidFill>
                  <a:srgbClr val="52647A"/>
                </a:solidFill>
                <a:latin typeface="Arial"/>
                <a:ea typeface="Arial"/>
                <a:cs typeface="Arial"/>
              </a:rPr>
              <a:t>02  /  07</a:t>
            </a:r>
          </a:p>
        </p:txBody>
      </p:sp>
      <p:sp>
        <p:nvSpPr>
          <p:cNvPr id="6" name="">
            <a:extLst xmlns:a="http://schemas.openxmlformats.org/drawingml/2006/main">
              <a:ext uri="{FF2B5EF4-FFF2-40B4-BE49-F238E27FC236}">
                <a16:creationId xmlns:a16="http://schemas.microsoft.com/office/drawing/2014/main" id="{EA8CAA22-669E-4856-857F-A5ACD0F7AC34}"/>
              </a:ext>
            </a:extLst>
          </p:cNvPr>
          <p:cNvSpPr>
            <a:spLocks xmlns:a="http://schemas.openxmlformats.org/drawingml/2006/main" noGrp="1"/>
          </p:cNvSpPr>
          <p:nvPr/>
        </p:nvSpPr>
        <p:spPr>
          <a:xfrm xmlns:a="http://schemas.openxmlformats.org/drawingml/2006/main">
            <a:off x="590550" y="1562100"/>
            <a:ext cx="10810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14233B"/>
                </a:solidFill>
                <a:latin typeface="Arial"/>
                <a:ea typeface="Arial"/>
                <a:cs typeface="Arial"/>
              </a:defRPr>
            </a:defPPr>
          </a:lstStyle>
          <a:p xmlns:a="http://schemas.openxmlformats.org/drawingml/2006/main">
            <a:pPr algn="l">
              <a:lnSpc>
                <a:spcPct val="100000"/>
              </a:lnSpc>
              <a:buNone/>
              <a:defRPr sz="1875" b="1">
                <a:solidFill>
                  <a:srgbClr val="14233B"/>
                </a:solidFill>
                <a:latin typeface="Arial"/>
                <a:ea typeface="Arial"/>
                <a:cs typeface="Arial"/>
              </a:defRPr>
            </a:pPr>
            <a:r>
              <a:rPr sz="1875" b="1">
                <a:solidFill>
                  <a:srgbClr val="14233B"/>
                </a:solidFill>
                <a:latin typeface="Arial"/>
                <a:ea typeface="Arial"/>
                <a:cs typeface="Arial"/>
              </a:rPr>
              <a:t>Mã do LLM sinh có thể chạy qua một số ca thử nhưng vẫn vi phạm yêu cầu ở trường hợp khác.</a:t>
            </a:r>
          </a:p>
        </p:txBody>
      </p:sp>
      <p:sp>
        <p:nvSpPr>
          <p:cNvPr id="7" name="">
            <a:extLst xmlns:a="http://schemas.openxmlformats.org/drawingml/2006/main">
              <a:ext uri="{FF2B5EF4-FFF2-40B4-BE49-F238E27FC236}">
                <a16:creationId xmlns:a16="http://schemas.microsoft.com/office/drawing/2014/main" id="{3F14AED4-27A8-4A74-9521-24DD5FCB1FB8}"/>
              </a:ext>
            </a:extLst>
          </p:cNvPr>
          <p:cNvSpPr>
            <a:spLocks xmlns:a="http://schemas.openxmlformats.org/drawingml/2006/main" noGrp="1"/>
          </p:cNvSpPr>
          <p:nvPr/>
        </p:nvSpPr>
        <p:spPr>
          <a:xfrm xmlns:a="http://schemas.openxmlformats.org/drawingml/2006/main">
            <a:off x="590550" y="2476500"/>
            <a:ext cx="4762500" cy="251460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9525">
            <a:solidFill>
              <a:srgbClr val="D8E0EA"/>
            </a:solidFill>
            <a:prstDash val="solid"/>
          </a:ln>
        </p:spPr>
      </p:sp>
      <p:sp>
        <p:nvSpPr>
          <p:cNvPr id="8" name="">
            <a:extLst xmlns:a="http://schemas.openxmlformats.org/drawingml/2006/main">
              <a:ext uri="{FF2B5EF4-FFF2-40B4-BE49-F238E27FC236}">
                <a16:creationId xmlns:a16="http://schemas.microsoft.com/office/drawing/2014/main" id="{A8A4AFA7-73E5-411D-9019-DE89C463B757}"/>
              </a:ext>
            </a:extLst>
          </p:cNvPr>
          <p:cNvSpPr>
            <a:spLocks xmlns:a="http://schemas.openxmlformats.org/drawingml/2006/main" noGrp="1"/>
          </p:cNvSpPr>
          <p:nvPr/>
        </p:nvSpPr>
        <p:spPr>
          <a:xfrm xmlns:a="http://schemas.openxmlformats.org/drawingml/2006/main">
            <a:off x="876300" y="27241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2563EB"/>
                </a:solidFill>
                <a:latin typeface="Arial"/>
                <a:ea typeface="Arial"/>
                <a:cs typeface="Arial"/>
              </a:defRPr>
            </a:defPPr>
          </a:lstStyle>
          <a:p xmlns:a="http://schemas.openxmlformats.org/drawingml/2006/main">
            <a:pPr algn="l">
              <a:lnSpc>
                <a:spcPct val="100000"/>
              </a:lnSpc>
              <a:buNone/>
              <a:defRPr sz="1275" b="1">
                <a:solidFill>
                  <a:srgbClr val="2563EB"/>
                </a:solidFill>
                <a:latin typeface="Arial"/>
                <a:ea typeface="Arial"/>
                <a:cs typeface="Arial"/>
              </a:defRPr>
            </a:pPr>
            <a:r>
              <a:rPr sz="1275" b="1">
                <a:solidFill>
                  <a:srgbClr val="2563EB"/>
                </a:solidFill>
                <a:latin typeface="Arial"/>
                <a:ea typeface="Arial"/>
                <a:cs typeface="Arial"/>
              </a:rPr>
              <a:t>KIỂM THỬ MẪU</a:t>
            </a:r>
          </a:p>
        </p:txBody>
      </p:sp>
      <p:sp>
        <p:nvSpPr>
          <p:cNvPr id="9" name="">
            <a:extLst xmlns:a="http://schemas.openxmlformats.org/drawingml/2006/main">
              <a:ext uri="{FF2B5EF4-FFF2-40B4-BE49-F238E27FC236}">
                <a16:creationId xmlns:a16="http://schemas.microsoft.com/office/drawing/2014/main" id="{A7D903AA-B915-4C4E-8511-F089571A17B9}"/>
              </a:ext>
            </a:extLst>
          </p:cNvPr>
          <p:cNvSpPr>
            <a:spLocks xmlns:a="http://schemas.openxmlformats.org/drawingml/2006/main" noGrp="1"/>
          </p:cNvSpPr>
          <p:nvPr/>
        </p:nvSpPr>
        <p:spPr>
          <a:xfrm xmlns:a="http://schemas.openxmlformats.org/drawingml/2006/main">
            <a:off x="876300" y="319087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14233B"/>
                </a:solidFill>
                <a:latin typeface="Arial"/>
                <a:ea typeface="Arial"/>
                <a:cs typeface="Arial"/>
              </a:defRPr>
            </a:defPPr>
          </a:lstStyle>
          <a:p xmlns:a="http://schemas.openxmlformats.org/drawingml/2006/main">
            <a:pPr algn="l">
              <a:lnSpc>
                <a:spcPct val="100000"/>
              </a:lnSpc>
              <a:buNone/>
              <a:defRPr sz="1650" b="1">
                <a:solidFill>
                  <a:srgbClr val="14233B"/>
                </a:solidFill>
                <a:latin typeface="Arial"/>
                <a:ea typeface="Arial"/>
                <a:cs typeface="Arial"/>
              </a:defRPr>
            </a:pPr>
            <a:r>
              <a:rPr sz="1650" b="1">
                <a:solidFill>
                  <a:srgbClr val="14233B"/>
                </a:solidFill>
                <a:latin typeface="Arial"/>
                <a:ea typeface="Arial"/>
                <a:cs typeface="Arial"/>
              </a:rPr>
              <a:t>Kiểm tra các đầu vào đã chọn</a:t>
            </a:r>
          </a:p>
        </p:txBody>
      </p:sp>
      <p:sp>
        <p:nvSpPr>
          <p:cNvPr id="10" name="">
            <a:extLst xmlns:a="http://schemas.openxmlformats.org/drawingml/2006/main">
              <a:ext uri="{FF2B5EF4-FFF2-40B4-BE49-F238E27FC236}">
                <a16:creationId xmlns:a16="http://schemas.microsoft.com/office/drawing/2014/main" id="{BAF9C9AE-3273-410C-984E-3F9875136027}"/>
              </a:ext>
            </a:extLst>
          </p:cNvPr>
          <p:cNvSpPr>
            <a:spLocks xmlns:a="http://schemas.openxmlformats.org/drawingml/2006/main" noGrp="1"/>
          </p:cNvSpPr>
          <p:nvPr/>
        </p:nvSpPr>
        <p:spPr>
          <a:xfrm xmlns:a="http://schemas.openxmlformats.org/drawingml/2006/main">
            <a:off x="876300" y="3695700"/>
            <a:ext cx="3905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52647A"/>
                </a:solidFill>
                <a:latin typeface="Arial"/>
                <a:ea typeface="Arial"/>
                <a:cs typeface="Arial"/>
              </a:defRPr>
            </a:defPPr>
          </a:lstStyle>
          <a:p xmlns:a="http://schemas.openxmlformats.org/drawingml/2006/main">
            <a:pPr algn="l">
              <a:lnSpc>
                <a:spcPct val="115000"/>
              </a:lnSpc>
              <a:buNone/>
              <a:defRPr sz="1425" b="0">
                <a:solidFill>
                  <a:srgbClr val="52647A"/>
                </a:solidFill>
                <a:latin typeface="Arial"/>
                <a:ea typeface="Arial"/>
                <a:cs typeface="Arial"/>
              </a:defRPr>
            </a:pPr>
            <a:r>
              <a:rPr sz="1425" b="0">
                <a:solidFill>
                  <a:srgbClr val="52647A"/>
                </a:solidFill>
                <a:latin typeface="Arial"/>
                <a:ea typeface="Arial"/>
                <a:cs typeface="Arial"/>
              </a:rPr>
              <a:t>Có ích để phát hiện lỗi, nhưng không bao phủ hết mọi trường hợp đầu vào.</a:t>
            </a:r>
          </a:p>
        </p:txBody>
      </p:sp>
      <p:sp>
        <p:nvSpPr>
          <p:cNvPr id="11" name="">
            <a:extLst xmlns:a="http://schemas.openxmlformats.org/drawingml/2006/main">
              <a:ext uri="{FF2B5EF4-FFF2-40B4-BE49-F238E27FC236}">
                <a16:creationId xmlns:a16="http://schemas.microsoft.com/office/drawing/2014/main" id="{A7ED7C0E-718C-4E42-8ACE-565927F3B4B4}"/>
              </a:ext>
            </a:extLst>
          </p:cNvPr>
          <p:cNvSpPr>
            <a:spLocks xmlns:a="http://schemas.openxmlformats.org/drawingml/2006/main" noGrp="1"/>
          </p:cNvSpPr>
          <p:nvPr/>
        </p:nvSpPr>
        <p:spPr>
          <a:xfrm xmlns:a="http://schemas.openxmlformats.org/drawingml/2006/main">
            <a:off x="5619750" y="2476500"/>
            <a:ext cx="5981700" cy="2514600"/>
          </a:xfrm>
          <a:prstGeom xmlns:a="http://schemas.openxmlformats.org/drawingml/2006/main" prst="roundRect">
            <a:avLst>
              <a:gd name="adj" fmla="val 6061"/>
            </a:avLst>
          </a:prstGeom>
          <a:solidFill xmlns:a="http://schemas.openxmlformats.org/drawingml/2006/main">
            <a:srgbClr val="E3F5F3"/>
          </a:solidFill>
          <a:ln xmlns:a="http://schemas.openxmlformats.org/drawingml/2006/main" w="9525">
            <a:solidFill>
              <a:srgbClr val="B8DFD9"/>
            </a:solidFill>
            <a:prstDash val="solid"/>
          </a:ln>
        </p:spPr>
      </p:sp>
      <p:sp>
        <p:nvSpPr>
          <p:cNvPr id="12" name="">
            <a:extLst xmlns:a="http://schemas.openxmlformats.org/drawingml/2006/main">
              <a:ext uri="{FF2B5EF4-FFF2-40B4-BE49-F238E27FC236}">
                <a16:creationId xmlns:a16="http://schemas.microsoft.com/office/drawing/2014/main" id="{E482E4BA-816B-4D0B-94A5-6313F62E282E}"/>
              </a:ext>
            </a:extLst>
          </p:cNvPr>
          <p:cNvSpPr>
            <a:spLocks xmlns:a="http://schemas.openxmlformats.org/drawingml/2006/main" noGrp="1"/>
          </p:cNvSpPr>
          <p:nvPr/>
        </p:nvSpPr>
        <p:spPr>
          <a:xfrm xmlns:a="http://schemas.openxmlformats.org/drawingml/2006/main">
            <a:off x="5905500" y="2724150"/>
            <a:ext cx="514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0F8B8D"/>
                </a:solidFill>
                <a:latin typeface="Arial"/>
                <a:ea typeface="Arial"/>
                <a:cs typeface="Arial"/>
              </a:defRPr>
            </a:defPPr>
          </a:lstStyle>
          <a:p xmlns:a="http://schemas.openxmlformats.org/drawingml/2006/main">
            <a:pPr algn="l">
              <a:lnSpc>
                <a:spcPct val="100000"/>
              </a:lnSpc>
              <a:buNone/>
              <a:defRPr sz="1275" b="1">
                <a:solidFill>
                  <a:srgbClr val="0F8B8D"/>
                </a:solidFill>
                <a:latin typeface="Arial"/>
                <a:ea typeface="Arial"/>
                <a:cs typeface="Arial"/>
              </a:defRPr>
            </a:pPr>
            <a:r>
              <a:rPr sz="1275" b="1">
                <a:solidFill>
                  <a:srgbClr val="0F8B8D"/>
                </a:solidFill>
                <a:latin typeface="Arial"/>
                <a:ea typeface="Arial"/>
                <a:cs typeface="Arial"/>
              </a:rPr>
              <a:t>KIỂM CHỨNG THEO ĐẶC TẢ</a:t>
            </a:r>
          </a:p>
        </p:txBody>
      </p:sp>
      <p:sp>
        <p:nvSpPr>
          <p:cNvPr id="13" name="">
            <a:extLst xmlns:a="http://schemas.openxmlformats.org/drawingml/2006/main">
              <a:ext uri="{FF2B5EF4-FFF2-40B4-BE49-F238E27FC236}">
                <a16:creationId xmlns:a16="http://schemas.microsoft.com/office/drawing/2014/main" id="{5854C7F6-C3BF-419D-91B1-9BDDAE9BD1E0}"/>
              </a:ext>
            </a:extLst>
          </p:cNvPr>
          <p:cNvSpPr>
            <a:spLocks xmlns:a="http://schemas.openxmlformats.org/drawingml/2006/main" noGrp="1"/>
          </p:cNvSpPr>
          <p:nvPr/>
        </p:nvSpPr>
        <p:spPr>
          <a:xfrm xmlns:a="http://schemas.openxmlformats.org/drawingml/2006/main">
            <a:off x="5905500" y="3190875"/>
            <a:ext cx="514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14233B"/>
                </a:solidFill>
                <a:latin typeface="Arial"/>
                <a:ea typeface="Arial"/>
                <a:cs typeface="Arial"/>
              </a:defRPr>
            </a:defPPr>
          </a:lstStyle>
          <a:p xmlns:a="http://schemas.openxmlformats.org/drawingml/2006/main">
            <a:pPr algn="l">
              <a:lnSpc>
                <a:spcPct val="100000"/>
              </a:lnSpc>
              <a:buNone/>
              <a:defRPr sz="1650" b="1">
                <a:solidFill>
                  <a:srgbClr val="14233B"/>
                </a:solidFill>
                <a:latin typeface="Arial"/>
                <a:ea typeface="Arial"/>
                <a:cs typeface="Arial"/>
              </a:defRPr>
            </a:pPr>
            <a:r>
              <a:rPr sz="1650" b="1">
                <a:solidFill>
                  <a:srgbClr val="14233B"/>
                </a:solidFill>
                <a:latin typeface="Arial"/>
                <a:ea typeface="Arial"/>
                <a:cs typeface="Arial"/>
              </a:rPr>
              <a:t>Dafny tạo nghĩa vụ chứng minh</a:t>
            </a:r>
          </a:p>
        </p:txBody>
      </p:sp>
      <p:sp>
        <p:nvSpPr>
          <p:cNvPr id="14" name="">
            <a:extLst xmlns:a="http://schemas.openxmlformats.org/drawingml/2006/main">
              <a:ext uri="{FF2B5EF4-FFF2-40B4-BE49-F238E27FC236}">
                <a16:creationId xmlns:a16="http://schemas.microsoft.com/office/drawing/2014/main" id="{A60AF91F-88B2-4EDA-9D86-A4508967F038}"/>
              </a:ext>
            </a:extLst>
          </p:cNvPr>
          <p:cNvSpPr>
            <a:spLocks xmlns:a="http://schemas.openxmlformats.org/drawingml/2006/main" noGrp="1"/>
          </p:cNvSpPr>
          <p:nvPr/>
        </p:nvSpPr>
        <p:spPr>
          <a:xfrm xmlns:a="http://schemas.openxmlformats.org/drawingml/2006/main">
            <a:off x="5905500" y="3695700"/>
            <a:ext cx="5048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52647A"/>
                </a:solidFill>
                <a:latin typeface="Arial"/>
                <a:ea typeface="Arial"/>
                <a:cs typeface="Arial"/>
              </a:defRPr>
            </a:defPPr>
          </a:lstStyle>
          <a:p xmlns:a="http://schemas.openxmlformats.org/drawingml/2006/main">
            <a:pPr algn="l">
              <a:lnSpc>
                <a:spcPct val="115000"/>
              </a:lnSpc>
              <a:buNone/>
              <a:defRPr sz="1425" b="0">
                <a:solidFill>
                  <a:srgbClr val="52647A"/>
                </a:solidFill>
                <a:latin typeface="Arial"/>
                <a:ea typeface="Arial"/>
                <a:cs typeface="Arial"/>
              </a:defRPr>
            </a:pPr>
            <a:r>
              <a:rPr sz="1425" b="0">
                <a:solidFill>
                  <a:srgbClr val="52647A"/>
                </a:solidFill>
                <a:latin typeface="Arial"/>
                <a:ea typeface="Arial"/>
                <a:cs typeface="Arial"/>
              </a:rPr>
              <a:t>Nếu verifier xác nhận, mã thỏa các điều kiện đã đặc tả trong phạm vi mô hình và giả định của Dafny.</a:t>
            </a:r>
          </a:p>
        </p:txBody>
      </p:sp>
      <p:sp>
        <p:nvSpPr>
          <p:cNvPr id="15" name="">
            <a:extLst xmlns:a="http://schemas.openxmlformats.org/drawingml/2006/main">
              <a:ext uri="{FF2B5EF4-FFF2-40B4-BE49-F238E27FC236}">
                <a16:creationId xmlns:a16="http://schemas.microsoft.com/office/drawing/2014/main" id="{8058BEB7-1249-42B7-AB54-CA6457195AD3}"/>
              </a:ext>
            </a:extLst>
          </p:cNvPr>
          <p:cNvSpPr>
            <a:spLocks xmlns:a="http://schemas.openxmlformats.org/drawingml/2006/main" noGrp="1"/>
          </p:cNvSpPr>
          <p:nvPr/>
        </p:nvSpPr>
        <p:spPr>
          <a:xfrm xmlns:a="http://schemas.openxmlformats.org/drawingml/2006/main">
            <a:off x="590550" y="5048250"/>
            <a:ext cx="1066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0">
                <a:solidFill>
                  <a:srgbClr val="52647A"/>
                </a:solidFill>
                <a:latin typeface="Arial"/>
                <a:ea typeface="Arial"/>
                <a:cs typeface="Arial"/>
              </a:defRPr>
            </a:defPPr>
          </a:lstStyle>
          <a:p xmlns:a="http://schemas.openxmlformats.org/drawingml/2006/main">
            <a:pPr algn="l">
              <a:lnSpc>
                <a:spcPct val="100000"/>
              </a:lnSpc>
              <a:buNone/>
              <a:defRPr sz="1200" b="0">
                <a:solidFill>
                  <a:srgbClr val="52647A"/>
                </a:solidFill>
                <a:latin typeface="Arial"/>
                <a:ea typeface="Arial"/>
                <a:cs typeface="Arial"/>
              </a:defRPr>
            </a:pPr>
            <a:r>
              <a:rPr sz="1200" b="0">
                <a:solidFill>
                  <a:srgbClr val="52647A"/>
                </a:solidFill>
                <a:latin typeface="Arial"/>
                <a:ea typeface="Arial"/>
                <a:cs typeface="Arial"/>
              </a:rPr>
              <a:t>Ví dụ: kiểm thử chọn vài đầu vào; đặc tả có thể nêu tính chất với mọi chỉ số hợp lệ.</a:t>
            </a:r>
          </a:p>
        </p:txBody>
      </p:sp>
      <p:sp>
        <p:nvSpPr>
          <p:cNvPr id="16" name="">
            <a:extLst xmlns:a="http://schemas.openxmlformats.org/drawingml/2006/main">
              <a:ext uri="{FF2B5EF4-FFF2-40B4-BE49-F238E27FC236}">
                <a16:creationId xmlns:a16="http://schemas.microsoft.com/office/drawing/2014/main" id="{15736B99-7164-494F-BEB0-59D9EC4DD524}"/>
              </a:ext>
            </a:extLst>
          </p:cNvPr>
          <p:cNvSpPr>
            <a:spLocks xmlns:a="http://schemas.openxmlformats.org/drawingml/2006/main" noGrp="1"/>
          </p:cNvSpPr>
          <p:nvPr/>
        </p:nvSpPr>
        <p:spPr>
          <a:xfrm xmlns:a="http://schemas.openxmlformats.org/drawingml/2006/main">
            <a:off x="590550" y="5372100"/>
            <a:ext cx="5619750" cy="304800"/>
          </a:xfrm>
          <a:prstGeom xmlns:a="http://schemas.openxmlformats.org/drawingml/2006/main" prst="roundRect">
            <a:avLst>
              <a:gd name="adj" fmla="val 50000"/>
            </a:avLst>
          </a:prstGeom>
          <a:solidFill xmlns:a="http://schemas.openxmlformats.org/drawingml/2006/main">
            <a:srgbClr val="FFF2D9"/>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8DB486E-A5A3-4896-88E8-84F10DAE010B}"/>
              </a:ext>
            </a:extLst>
          </p:cNvPr>
          <p:cNvSpPr>
            <a:spLocks xmlns:a="http://schemas.openxmlformats.org/drawingml/2006/main" noGrp="1"/>
          </p:cNvSpPr>
          <p:nvPr/>
        </p:nvSpPr>
        <p:spPr>
          <a:xfrm xmlns:a="http://schemas.openxmlformats.org/drawingml/2006/main">
            <a:off x="685800" y="5381625"/>
            <a:ext cx="542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C47A11"/>
                </a:solidFill>
                <a:latin typeface="Arial"/>
                <a:ea typeface="Arial"/>
                <a:cs typeface="Arial"/>
              </a:defRPr>
            </a:defPPr>
          </a:lstStyle>
          <a:p xmlns:a="http://schemas.openxmlformats.org/drawingml/2006/main">
            <a:pPr algn="ctr">
              <a:lnSpc>
                <a:spcPct val="100000"/>
              </a:lnSpc>
              <a:buNone/>
              <a:defRPr sz="1050" b="1">
                <a:solidFill>
                  <a:srgbClr val="C47A11"/>
                </a:solidFill>
                <a:latin typeface="Arial"/>
                <a:ea typeface="Arial"/>
                <a:cs typeface="Arial"/>
              </a:defRPr>
            </a:pPr>
            <a:r>
              <a:rPr sz="1050" b="1">
                <a:solidFill>
                  <a:srgbClr val="C47A11"/>
                </a:solidFill>
                <a:latin typeface="Arial"/>
                <a:ea typeface="Arial"/>
                <a:cs typeface="Arial"/>
              </a:rPr>
              <a:t>ĐẶC TẢ ĐÚNG VÀ ĐỦ LÀ GIẢ ĐỊNH TRỌNG YẾU</a:t>
            </a:r>
          </a:p>
        </p:txBody>
      </p:sp>
      <p:sp>
        <p:nvSpPr>
          <p:cNvPr id="18" name="">
            <a:extLst xmlns:a="http://schemas.openxmlformats.org/drawingml/2006/main">
              <a:ext uri="{FF2B5EF4-FFF2-40B4-BE49-F238E27FC236}">
                <a16:creationId xmlns:a16="http://schemas.microsoft.com/office/drawing/2014/main" id="{0B823F03-606F-4A79-B52A-46E0BFBFF899}"/>
              </a:ext>
            </a:extLst>
          </p:cNvPr>
          <p:cNvSpPr>
            <a:spLocks xmlns:a="http://schemas.openxmlformats.org/drawingml/2006/main" noGrp="1"/>
          </p:cNvSpPr>
          <p:nvPr/>
        </p:nvSpPr>
        <p:spPr>
          <a:xfrm xmlns:a="http://schemas.openxmlformats.org/drawingml/2006/main">
            <a:off x="590550" y="5848350"/>
            <a:ext cx="1000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2647A"/>
                </a:solidFill>
                <a:latin typeface="Arial"/>
                <a:ea typeface="Arial"/>
                <a:cs typeface="Arial"/>
              </a:defRPr>
            </a:defPPr>
          </a:lstStyle>
          <a:p xmlns:a="http://schemas.openxmlformats.org/drawingml/2006/main">
            <a:pPr algn="l">
              <a:lnSpc>
                <a:spcPct val="100000"/>
              </a:lnSpc>
              <a:buNone/>
              <a:defRPr sz="1350" b="0">
                <a:solidFill>
                  <a:srgbClr val="52647A"/>
                </a:solidFill>
                <a:latin typeface="Arial"/>
                <a:ea typeface="Arial"/>
                <a:cs typeface="Arial"/>
              </a:defRPr>
            </a:pPr>
            <a:r>
              <a:rPr sz="1350" b="0">
                <a:solidFill>
                  <a:srgbClr val="52647A"/>
                </a:solidFill>
                <a:latin typeface="Arial"/>
                <a:ea typeface="Arial"/>
                <a:cs typeface="Arial"/>
              </a:rPr>
              <a:t>Xác minh theo đặc tả không tự chứng minh đặc tả phản ánh đầy đủ ý định người dùng.</a:t>
            </a:r>
          </a:p>
        </p:txBody>
      </p:sp>
    </p:spTree>
    <p:extLst>
      <p:ext uri="{BB962C8B-B14F-4D97-AF65-F5344CB8AC3E}">
        <p14:creationId xmlns:p14="http://schemas.microsoft.com/office/powerpoint/2010/main" val="1492725208"/>
      </p:ext>
    </p:extLst>
  </p:cSld>
</p:sld>
</file>

<file path=ppt/slides/slide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0C6E8CF6-D1CF-4FEE-BADB-00982C60AC73}"/>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563E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20F57F7-F2F2-41E0-9F6F-5353536D3502}"/>
              </a:ext>
            </a:extLst>
          </p:cNvPr>
          <p:cNvSpPr>
            <a:spLocks xmlns:a="http://schemas.openxmlformats.org/drawingml/2006/main" noGrp="1"/>
          </p:cNvSpPr>
          <p:nvPr/>
        </p:nvSpPr>
        <p:spPr>
          <a:xfrm xmlns:a="http://schemas.openxmlformats.org/drawingml/2006/main">
            <a:off x="590550" y="3238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2563EB"/>
                </a:solidFill>
                <a:latin typeface="Arial"/>
                <a:ea typeface="Arial"/>
                <a:cs typeface="Arial"/>
              </a:defRPr>
            </a:defPPr>
          </a:lstStyle>
          <a:p xmlns:a="http://schemas.openxmlformats.org/drawingml/2006/main">
            <a:pPr algn="l">
              <a:lnSpc>
                <a:spcPct val="100000"/>
              </a:lnSpc>
              <a:buNone/>
              <a:defRPr sz="975" b="1">
                <a:solidFill>
                  <a:srgbClr val="2563EB"/>
                </a:solidFill>
                <a:latin typeface="Arial"/>
                <a:ea typeface="Arial"/>
                <a:cs typeface="Arial"/>
              </a:defRPr>
            </a:pPr>
            <a:r>
              <a:rPr sz="975" b="1">
                <a:solidFill>
                  <a:srgbClr val="2563EB"/>
                </a:solidFill>
                <a:latin typeface="Arial"/>
                <a:ea typeface="Arial"/>
                <a:cs typeface="Arial"/>
              </a:rPr>
              <a:t>NCKH SINH VIÊN 2026</a:t>
            </a:r>
          </a:p>
        </p:txBody>
      </p:sp>
      <p:sp>
        <p:nvSpPr>
          <p:cNvPr id="3" name="">
            <a:extLst xmlns:a="http://schemas.openxmlformats.org/drawingml/2006/main">
              <a:ext uri="{FF2B5EF4-FFF2-40B4-BE49-F238E27FC236}">
                <a16:creationId xmlns:a16="http://schemas.microsoft.com/office/drawing/2014/main" id="{A6DAF963-621C-453C-A3AF-7AA9204BD76C}"/>
              </a:ext>
            </a:extLst>
          </p:cNvPr>
          <p:cNvSpPr>
            <a:spLocks xmlns:a="http://schemas.openxmlformats.org/drawingml/2006/main" noGrp="1"/>
          </p:cNvSpPr>
          <p:nvPr/>
        </p:nvSpPr>
        <p:spPr>
          <a:xfrm xmlns:a="http://schemas.openxmlformats.org/drawingml/2006/main">
            <a:off x="590550" y="666750"/>
            <a:ext cx="11010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550" b="1">
                <a:solidFill>
                  <a:srgbClr val="14233B"/>
                </a:solidFill>
                <a:latin typeface="Arial"/>
                <a:ea typeface="Arial"/>
                <a:cs typeface="Arial"/>
              </a:defRPr>
            </a:defPPr>
          </a:lstStyle>
          <a:p xmlns:a="http://schemas.openxmlformats.org/drawingml/2006/main">
            <a:pPr algn="l">
              <a:lnSpc>
                <a:spcPct val="100000"/>
              </a:lnSpc>
              <a:buNone/>
              <a:defRPr sz="2550" b="1">
                <a:solidFill>
                  <a:srgbClr val="14233B"/>
                </a:solidFill>
                <a:latin typeface="Arial"/>
                <a:ea typeface="Arial"/>
                <a:cs typeface="Arial"/>
              </a:defRPr>
            </a:pPr>
            <a:r>
              <a:rPr sz="2550" b="1">
                <a:solidFill>
                  <a:srgbClr val="14233B"/>
                </a:solidFill>
                <a:latin typeface="Arial"/>
                <a:ea typeface="Arial"/>
                <a:cs typeface="Arial"/>
              </a:rPr>
              <a:t>Mục tiêu và câu hỏi nghiên cứu</a:t>
            </a:r>
          </a:p>
        </p:txBody>
      </p:sp>
      <p:sp>
        <p:nvSpPr>
          <p:cNvPr id="4" name="">
            <a:extLst xmlns:a="http://schemas.openxmlformats.org/drawingml/2006/main">
              <a:ext uri="{FF2B5EF4-FFF2-40B4-BE49-F238E27FC236}">
                <a16:creationId xmlns:a16="http://schemas.microsoft.com/office/drawing/2014/main" id="{E3A33BDB-8E33-416E-B7BF-D53A7331BDA1}"/>
              </a:ext>
            </a:extLst>
          </p:cNvPr>
          <p:cNvSpPr>
            <a:spLocks xmlns:a="http://schemas.openxmlformats.org/drawingml/2006/main" noGrp="1"/>
          </p:cNvSpPr>
          <p:nvPr/>
        </p:nvSpPr>
        <p:spPr>
          <a:xfrm xmlns:a="http://schemas.openxmlformats.org/drawingml/2006/main">
            <a:off x="590550" y="1304925"/>
            <a:ext cx="110109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5" name="">
            <a:extLst xmlns:a="http://schemas.openxmlformats.org/drawingml/2006/main">
              <a:ext uri="{FF2B5EF4-FFF2-40B4-BE49-F238E27FC236}">
                <a16:creationId xmlns:a16="http://schemas.microsoft.com/office/drawing/2014/main" id="{F806CCA4-E344-44B1-8CF9-782DE4424B5E}"/>
              </a:ext>
            </a:extLst>
          </p:cNvPr>
          <p:cNvSpPr>
            <a:spLocks xmlns:a="http://schemas.openxmlformats.org/drawingml/2006/main" noGrp="1"/>
          </p:cNvSpPr>
          <p:nvPr/>
        </p:nvSpPr>
        <p:spPr>
          <a:xfrm xmlns:a="http://schemas.openxmlformats.org/drawingml/2006/main">
            <a:off x="10572750" y="6438900"/>
            <a:ext cx="1028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52647A"/>
                </a:solidFill>
                <a:latin typeface="Arial"/>
                <a:ea typeface="Arial"/>
                <a:cs typeface="Arial"/>
              </a:defRPr>
            </a:defPPr>
          </a:lstStyle>
          <a:p xmlns:a="http://schemas.openxmlformats.org/drawingml/2006/main">
            <a:pPr algn="r">
              <a:lnSpc>
                <a:spcPct val="100000"/>
              </a:lnSpc>
              <a:buNone/>
              <a:defRPr sz="975" b="1">
                <a:solidFill>
                  <a:srgbClr val="52647A"/>
                </a:solidFill>
                <a:latin typeface="Arial"/>
                <a:ea typeface="Arial"/>
                <a:cs typeface="Arial"/>
              </a:defRPr>
            </a:pPr>
            <a:r>
              <a:rPr sz="975" b="1">
                <a:solidFill>
                  <a:srgbClr val="52647A"/>
                </a:solidFill>
                <a:latin typeface="Arial"/>
                <a:ea typeface="Arial"/>
                <a:cs typeface="Arial"/>
              </a:rPr>
              <a:t>03  /  07</a:t>
            </a:r>
          </a:p>
        </p:txBody>
      </p:sp>
      <p:sp>
        <p:nvSpPr>
          <p:cNvPr id="6" name="">
            <a:extLst xmlns:a="http://schemas.openxmlformats.org/drawingml/2006/main">
              <a:ext uri="{FF2B5EF4-FFF2-40B4-BE49-F238E27FC236}">
                <a16:creationId xmlns:a16="http://schemas.microsoft.com/office/drawing/2014/main" id="{CF0AD74D-7533-4DED-B867-5EC1261FE530}"/>
              </a:ext>
            </a:extLst>
          </p:cNvPr>
          <p:cNvSpPr>
            <a:spLocks xmlns:a="http://schemas.openxmlformats.org/drawingml/2006/main" noGrp="1"/>
          </p:cNvSpPr>
          <p:nvPr/>
        </p:nvSpPr>
        <p:spPr>
          <a:xfrm xmlns:a="http://schemas.openxmlformats.org/drawingml/2006/main">
            <a:off x="590550" y="163830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2563EB"/>
                </a:solidFill>
                <a:latin typeface="Arial"/>
                <a:ea typeface="Arial"/>
                <a:cs typeface="Arial"/>
              </a:defRPr>
            </a:defPPr>
          </a:lstStyle>
          <a:p xmlns:a="http://schemas.openxmlformats.org/drawingml/2006/main">
            <a:pPr algn="l">
              <a:lnSpc>
                <a:spcPct val="100000"/>
              </a:lnSpc>
              <a:buNone/>
              <a:defRPr sz="1350" b="1">
                <a:solidFill>
                  <a:srgbClr val="2563EB"/>
                </a:solidFill>
                <a:latin typeface="Arial"/>
                <a:ea typeface="Arial"/>
                <a:cs typeface="Arial"/>
              </a:defRPr>
            </a:pPr>
            <a:r>
              <a:rPr sz="1350" b="1">
                <a:solidFill>
                  <a:srgbClr val="2563EB"/>
                </a:solidFill>
                <a:latin typeface="Arial"/>
                <a:ea typeface="Arial"/>
                <a:cs typeface="Arial"/>
              </a:rPr>
              <a:t>Mục tiêu</a:t>
            </a:r>
          </a:p>
        </p:txBody>
      </p:sp>
      <p:sp>
        <p:nvSpPr>
          <p:cNvPr id="7" name="">
            <a:extLst xmlns:a="http://schemas.openxmlformats.org/drawingml/2006/main">
              <a:ext uri="{FF2B5EF4-FFF2-40B4-BE49-F238E27FC236}">
                <a16:creationId xmlns:a16="http://schemas.microsoft.com/office/drawing/2014/main" id="{D62A0145-3A97-4D6C-A04E-653E19EA001F}"/>
              </a:ext>
            </a:extLst>
          </p:cNvPr>
          <p:cNvSpPr>
            <a:spLocks xmlns:a="http://schemas.openxmlformats.org/drawingml/2006/main" noGrp="1"/>
          </p:cNvSpPr>
          <p:nvPr/>
        </p:nvSpPr>
        <p:spPr>
          <a:xfrm xmlns:a="http://schemas.openxmlformats.org/drawingml/2006/main">
            <a:off x="590550" y="2028825"/>
            <a:ext cx="1057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250" b="1">
                <a:solidFill>
                  <a:srgbClr val="14233B"/>
                </a:solidFill>
                <a:latin typeface="Arial"/>
                <a:ea typeface="Arial"/>
                <a:cs typeface="Arial"/>
              </a:defRPr>
            </a:defPPr>
          </a:lstStyle>
          <a:p xmlns:a="http://schemas.openxmlformats.org/drawingml/2006/main">
            <a:pPr algn="l">
              <a:lnSpc>
                <a:spcPct val="105000"/>
              </a:lnSpc>
              <a:buNone/>
              <a:defRPr sz="2250" b="1">
                <a:solidFill>
                  <a:srgbClr val="14233B"/>
                </a:solidFill>
                <a:latin typeface="Arial"/>
                <a:ea typeface="Arial"/>
                <a:cs typeface="Arial"/>
              </a:defRPr>
            </a:pPr>
            <a:r>
              <a:rPr sz="2250" b="1">
                <a:solidFill>
                  <a:srgbClr val="14233B"/>
                </a:solidFill>
                <a:latin typeface="Arial"/>
                <a:ea typeface="Arial"/>
                <a:cs typeface="Arial"/>
              </a:rPr>
              <a:t>Đánh giá liệu phản hồi từ Dafny/Z3 có giúp tăng tỷ lệ mã Dafny do LLM sinh được xác minh hay không.</a:t>
            </a:r>
          </a:p>
        </p:txBody>
      </p:sp>
      <p:sp>
        <p:nvSpPr>
          <p:cNvPr id="8" name="">
            <a:extLst xmlns:a="http://schemas.openxmlformats.org/drawingml/2006/main">
              <a:ext uri="{FF2B5EF4-FFF2-40B4-BE49-F238E27FC236}">
                <a16:creationId xmlns:a16="http://schemas.microsoft.com/office/drawing/2014/main" id="{4C07879E-D0C7-4477-BC1D-BD4685A2A5A0}"/>
              </a:ext>
            </a:extLst>
          </p:cNvPr>
          <p:cNvSpPr>
            <a:spLocks xmlns:a="http://schemas.openxmlformats.org/drawingml/2006/main" noGrp="1"/>
          </p:cNvSpPr>
          <p:nvPr/>
        </p:nvSpPr>
        <p:spPr>
          <a:xfrm xmlns:a="http://schemas.openxmlformats.org/drawingml/2006/main">
            <a:off x="590550" y="3152775"/>
            <a:ext cx="110109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9" name="">
            <a:extLst xmlns:a="http://schemas.openxmlformats.org/drawingml/2006/main">
              <a:ext uri="{FF2B5EF4-FFF2-40B4-BE49-F238E27FC236}">
                <a16:creationId xmlns:a16="http://schemas.microsoft.com/office/drawing/2014/main" id="{0B45221B-5625-45CF-BC58-92592F8C1391}"/>
              </a:ext>
            </a:extLst>
          </p:cNvPr>
          <p:cNvSpPr>
            <a:spLocks xmlns:a="http://schemas.openxmlformats.org/drawingml/2006/main" noGrp="1"/>
          </p:cNvSpPr>
          <p:nvPr/>
        </p:nvSpPr>
        <p:spPr>
          <a:xfrm xmlns:a="http://schemas.openxmlformats.org/drawingml/2006/main">
            <a:off x="590550" y="33432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0F8B8D"/>
                </a:solidFill>
                <a:latin typeface="Arial"/>
                <a:ea typeface="Arial"/>
                <a:cs typeface="Arial"/>
              </a:defRPr>
            </a:defPPr>
          </a:lstStyle>
          <a:p xmlns:a="http://schemas.openxmlformats.org/drawingml/2006/main">
            <a:pPr algn="l">
              <a:lnSpc>
                <a:spcPct val="100000"/>
              </a:lnSpc>
              <a:buNone/>
              <a:defRPr sz="1350" b="1">
                <a:solidFill>
                  <a:srgbClr val="0F8B8D"/>
                </a:solidFill>
                <a:latin typeface="Arial"/>
                <a:ea typeface="Arial"/>
                <a:cs typeface="Arial"/>
              </a:defRPr>
            </a:pPr>
            <a:r>
              <a:rPr sz="1350" b="1">
                <a:solidFill>
                  <a:srgbClr val="0F8B8D"/>
                </a:solidFill>
                <a:latin typeface="Arial"/>
                <a:ea typeface="Arial"/>
                <a:cs typeface="Arial"/>
              </a:rPr>
              <a:t>Câu hỏi chính</a:t>
            </a:r>
          </a:p>
        </p:txBody>
      </p:sp>
      <p:sp>
        <p:nvSpPr>
          <p:cNvPr id="10" name="">
            <a:extLst xmlns:a="http://schemas.openxmlformats.org/drawingml/2006/main">
              <a:ext uri="{FF2B5EF4-FFF2-40B4-BE49-F238E27FC236}">
                <a16:creationId xmlns:a16="http://schemas.microsoft.com/office/drawing/2014/main" id="{9A89ACE4-3905-408D-87E7-A424B9002311}"/>
              </a:ext>
            </a:extLst>
          </p:cNvPr>
          <p:cNvSpPr>
            <a:spLocks xmlns:a="http://schemas.openxmlformats.org/drawingml/2006/main" noGrp="1"/>
          </p:cNvSpPr>
          <p:nvPr/>
        </p:nvSpPr>
        <p:spPr>
          <a:xfrm xmlns:a="http://schemas.openxmlformats.org/drawingml/2006/main">
            <a:off x="590550" y="3724275"/>
            <a:ext cx="10382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0">
                <a:solidFill>
                  <a:srgbClr val="14233B"/>
                </a:solidFill>
                <a:latin typeface="Arial"/>
                <a:ea typeface="Arial"/>
                <a:cs typeface="Arial"/>
              </a:defRPr>
            </a:defPPr>
          </a:lstStyle>
          <a:p xmlns:a="http://schemas.openxmlformats.org/drawingml/2006/main">
            <a:pPr algn="l">
              <a:lnSpc>
                <a:spcPct val="110000"/>
              </a:lnSpc>
              <a:buNone/>
              <a:defRPr sz="1875" b="0">
                <a:solidFill>
                  <a:srgbClr val="14233B"/>
                </a:solidFill>
                <a:latin typeface="Arial"/>
                <a:ea typeface="Arial"/>
                <a:cs typeface="Arial"/>
              </a:defRPr>
            </a:pPr>
            <a:r>
              <a:rPr sz="1875" b="0">
                <a:solidFill>
                  <a:srgbClr val="14233B"/>
                </a:solidFill>
                <a:latin typeface="Arial"/>
                <a:ea typeface="Arial"/>
                <a:cs typeface="Arial"/>
              </a:rPr>
              <a:t>Với cùng mô hình, tập bài và ngân sách tối đa K lượt, vòng lặp kiểm chứng có cải thiện Pass@K so với sinh một lần không?</a:t>
            </a:r>
          </a:p>
        </p:txBody>
      </p:sp>
      <p:sp>
        <p:nvSpPr>
          <p:cNvPr id="11" name="">
            <a:extLst xmlns:a="http://schemas.openxmlformats.org/drawingml/2006/main">
              <a:ext uri="{FF2B5EF4-FFF2-40B4-BE49-F238E27FC236}">
                <a16:creationId xmlns:a16="http://schemas.microsoft.com/office/drawing/2014/main" id="{939A218C-FACD-4ECC-A801-3B40617A1B8B}"/>
              </a:ext>
            </a:extLst>
          </p:cNvPr>
          <p:cNvSpPr>
            <a:spLocks xmlns:a="http://schemas.openxmlformats.org/drawingml/2006/main" noGrp="1"/>
          </p:cNvSpPr>
          <p:nvPr/>
        </p:nvSpPr>
        <p:spPr>
          <a:xfrm xmlns:a="http://schemas.openxmlformats.org/drawingml/2006/main">
            <a:off x="590550" y="4610100"/>
            <a:ext cx="110109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12" name="">
            <a:extLst xmlns:a="http://schemas.openxmlformats.org/drawingml/2006/main">
              <a:ext uri="{FF2B5EF4-FFF2-40B4-BE49-F238E27FC236}">
                <a16:creationId xmlns:a16="http://schemas.microsoft.com/office/drawing/2014/main" id="{9F161877-7C38-432C-9F07-8039D310E258}"/>
              </a:ext>
            </a:extLst>
          </p:cNvPr>
          <p:cNvSpPr>
            <a:spLocks xmlns:a="http://schemas.openxmlformats.org/drawingml/2006/main" noGrp="1"/>
          </p:cNvSpPr>
          <p:nvPr/>
        </p:nvSpPr>
        <p:spPr>
          <a:xfrm xmlns:a="http://schemas.openxmlformats.org/drawingml/2006/main">
            <a:off x="590550" y="4810125"/>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52647A"/>
                </a:solidFill>
                <a:latin typeface="Arial"/>
                <a:ea typeface="Arial"/>
                <a:cs typeface="Arial"/>
              </a:defRPr>
            </a:defPPr>
          </a:lstStyle>
          <a:p xmlns:a="http://schemas.openxmlformats.org/drawingml/2006/main">
            <a:pPr algn="l">
              <a:lnSpc>
                <a:spcPct val="100000"/>
              </a:lnSpc>
              <a:buNone/>
              <a:defRPr sz="1275" b="1">
                <a:solidFill>
                  <a:srgbClr val="52647A"/>
                </a:solidFill>
                <a:latin typeface="Arial"/>
                <a:ea typeface="Arial"/>
                <a:cs typeface="Arial"/>
              </a:defRPr>
            </a:pPr>
            <a:r>
              <a:rPr sz="1275" b="1">
                <a:solidFill>
                  <a:srgbClr val="52647A"/>
                </a:solidFill>
                <a:latin typeface="Arial"/>
                <a:ea typeface="Arial"/>
                <a:cs typeface="Arial"/>
              </a:rPr>
              <a:t>Nhóm sẽ đo ba khía cạnh</a:t>
            </a:r>
          </a:p>
        </p:txBody>
      </p:sp>
      <p:sp>
        <p:nvSpPr>
          <p:cNvPr id="13" name="">
            <a:extLst xmlns:a="http://schemas.openxmlformats.org/drawingml/2006/main">
              <a:ext uri="{FF2B5EF4-FFF2-40B4-BE49-F238E27FC236}">
                <a16:creationId xmlns:a16="http://schemas.microsoft.com/office/drawing/2014/main" id="{1493D1A1-B9DF-4B23-9F57-A839C90144E2}"/>
              </a:ext>
            </a:extLst>
          </p:cNvPr>
          <p:cNvSpPr>
            <a:spLocks xmlns:a="http://schemas.openxmlformats.org/drawingml/2006/main" noGrp="1"/>
          </p:cNvSpPr>
          <p:nvPr/>
        </p:nvSpPr>
        <p:spPr>
          <a:xfrm xmlns:a="http://schemas.openxmlformats.org/drawingml/2006/main">
            <a:off x="590550" y="5219700"/>
            <a:ext cx="2286000" cy="304800"/>
          </a:xfrm>
          <a:prstGeom xmlns:a="http://schemas.openxmlformats.org/drawingml/2006/main" prst="roundRect">
            <a:avLst>
              <a:gd name="adj" fmla="val 50000"/>
            </a:avLst>
          </a:prstGeom>
          <a:solidFill xmlns:a="http://schemas.openxmlformats.org/drawingml/2006/main">
            <a:srgbClr val="E8F0F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AF29CDB-71B4-4AE0-8131-1AFBA923769A}"/>
              </a:ext>
            </a:extLst>
          </p:cNvPr>
          <p:cNvSpPr>
            <a:spLocks xmlns:a="http://schemas.openxmlformats.org/drawingml/2006/main" noGrp="1"/>
          </p:cNvSpPr>
          <p:nvPr/>
        </p:nvSpPr>
        <p:spPr>
          <a:xfrm xmlns:a="http://schemas.openxmlformats.org/drawingml/2006/main">
            <a:off x="685800" y="5229225"/>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2563EB"/>
                </a:solidFill>
                <a:latin typeface="Arial"/>
                <a:ea typeface="Arial"/>
                <a:cs typeface="Arial"/>
              </a:defRPr>
            </a:defPPr>
          </a:lstStyle>
          <a:p xmlns:a="http://schemas.openxmlformats.org/drawingml/2006/main">
            <a:pPr algn="ctr">
              <a:lnSpc>
                <a:spcPct val="100000"/>
              </a:lnSpc>
              <a:buNone/>
              <a:defRPr sz="1050" b="1">
                <a:solidFill>
                  <a:srgbClr val="2563EB"/>
                </a:solidFill>
                <a:latin typeface="Arial"/>
                <a:ea typeface="Arial"/>
                <a:cs typeface="Arial"/>
              </a:defRPr>
            </a:pPr>
            <a:r>
              <a:rPr sz="1050" b="1">
                <a:solidFill>
                  <a:srgbClr val="2563EB"/>
                </a:solidFill>
                <a:latin typeface="Arial"/>
                <a:ea typeface="Arial"/>
                <a:cs typeface="Arial"/>
              </a:rPr>
              <a:t>TỶ LỆ XÁC MINH</a:t>
            </a:r>
          </a:p>
        </p:txBody>
      </p:sp>
      <p:sp>
        <p:nvSpPr>
          <p:cNvPr id="15" name="">
            <a:extLst xmlns:a="http://schemas.openxmlformats.org/drawingml/2006/main">
              <a:ext uri="{FF2B5EF4-FFF2-40B4-BE49-F238E27FC236}">
                <a16:creationId xmlns:a16="http://schemas.microsoft.com/office/drawing/2014/main" id="{251EBEF1-5126-4328-AA6A-1722BC93D95F}"/>
              </a:ext>
            </a:extLst>
          </p:cNvPr>
          <p:cNvSpPr>
            <a:spLocks xmlns:a="http://schemas.openxmlformats.org/drawingml/2006/main" noGrp="1"/>
          </p:cNvSpPr>
          <p:nvPr/>
        </p:nvSpPr>
        <p:spPr>
          <a:xfrm xmlns:a="http://schemas.openxmlformats.org/drawingml/2006/main">
            <a:off x="3143250" y="5219700"/>
            <a:ext cx="2190750" cy="304800"/>
          </a:xfrm>
          <a:prstGeom xmlns:a="http://schemas.openxmlformats.org/drawingml/2006/main" prst="roundRect">
            <a:avLst>
              <a:gd name="adj" fmla="val 50000"/>
            </a:avLst>
          </a:prstGeom>
          <a:solidFill xmlns:a="http://schemas.openxmlformats.org/drawingml/2006/main">
            <a:srgbClr val="E3F5F3"/>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8E1316C-A21C-446F-BE0D-08C48ECC9177}"/>
              </a:ext>
            </a:extLst>
          </p:cNvPr>
          <p:cNvSpPr>
            <a:spLocks xmlns:a="http://schemas.openxmlformats.org/drawingml/2006/main" noGrp="1"/>
          </p:cNvSpPr>
          <p:nvPr/>
        </p:nvSpPr>
        <p:spPr>
          <a:xfrm xmlns:a="http://schemas.openxmlformats.org/drawingml/2006/main">
            <a:off x="3238500" y="5229225"/>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0F8B8D"/>
                </a:solidFill>
                <a:latin typeface="Arial"/>
                <a:ea typeface="Arial"/>
                <a:cs typeface="Arial"/>
              </a:defRPr>
            </a:defPPr>
          </a:lstStyle>
          <a:p xmlns:a="http://schemas.openxmlformats.org/drawingml/2006/main">
            <a:pPr algn="ctr">
              <a:lnSpc>
                <a:spcPct val="100000"/>
              </a:lnSpc>
              <a:buNone/>
              <a:defRPr sz="1050" b="1">
                <a:solidFill>
                  <a:srgbClr val="0F8B8D"/>
                </a:solidFill>
                <a:latin typeface="Arial"/>
                <a:ea typeface="Arial"/>
                <a:cs typeface="Arial"/>
              </a:defRPr>
            </a:pPr>
            <a:r>
              <a:rPr sz="1050" b="1">
                <a:solidFill>
                  <a:srgbClr val="0F8B8D"/>
                </a:solidFill>
                <a:latin typeface="Arial"/>
                <a:ea typeface="Arial"/>
                <a:cs typeface="Arial"/>
              </a:rPr>
              <a:t>SỐ LƯỢT SỬA</a:t>
            </a:r>
          </a:p>
        </p:txBody>
      </p:sp>
      <p:sp>
        <p:nvSpPr>
          <p:cNvPr id="17" name="">
            <a:extLst xmlns:a="http://schemas.openxmlformats.org/drawingml/2006/main">
              <a:ext uri="{FF2B5EF4-FFF2-40B4-BE49-F238E27FC236}">
                <a16:creationId xmlns:a16="http://schemas.microsoft.com/office/drawing/2014/main" id="{7E5798FF-F9CD-4F76-B75C-8D3892DF9E16}"/>
              </a:ext>
            </a:extLst>
          </p:cNvPr>
          <p:cNvSpPr>
            <a:spLocks xmlns:a="http://schemas.openxmlformats.org/drawingml/2006/main" noGrp="1"/>
          </p:cNvSpPr>
          <p:nvPr/>
        </p:nvSpPr>
        <p:spPr>
          <a:xfrm xmlns:a="http://schemas.openxmlformats.org/drawingml/2006/main">
            <a:off x="5619750" y="5219700"/>
            <a:ext cx="2857500" cy="304800"/>
          </a:xfrm>
          <a:prstGeom xmlns:a="http://schemas.openxmlformats.org/drawingml/2006/main" prst="roundRect">
            <a:avLst>
              <a:gd name="adj" fmla="val 50000"/>
            </a:avLst>
          </a:prstGeom>
          <a:solidFill xmlns:a="http://schemas.openxmlformats.org/drawingml/2006/main">
            <a:srgbClr val="FFF2D9"/>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F3C38853-8FA0-4D5B-A536-B210A13C3711}"/>
              </a:ext>
            </a:extLst>
          </p:cNvPr>
          <p:cNvSpPr>
            <a:spLocks xmlns:a="http://schemas.openxmlformats.org/drawingml/2006/main" noGrp="1"/>
          </p:cNvSpPr>
          <p:nvPr/>
        </p:nvSpPr>
        <p:spPr>
          <a:xfrm xmlns:a="http://schemas.openxmlformats.org/drawingml/2006/main">
            <a:off x="5715000" y="5229225"/>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C47A11"/>
                </a:solidFill>
                <a:latin typeface="Arial"/>
                <a:ea typeface="Arial"/>
                <a:cs typeface="Arial"/>
              </a:defRPr>
            </a:defPPr>
          </a:lstStyle>
          <a:p xmlns:a="http://schemas.openxmlformats.org/drawingml/2006/main">
            <a:pPr algn="ctr">
              <a:lnSpc>
                <a:spcPct val="100000"/>
              </a:lnSpc>
              <a:buNone/>
              <a:defRPr sz="1050" b="1">
                <a:solidFill>
                  <a:srgbClr val="C47A11"/>
                </a:solidFill>
                <a:latin typeface="Arial"/>
                <a:ea typeface="Arial"/>
                <a:cs typeface="Arial"/>
              </a:defRPr>
            </a:pPr>
            <a:r>
              <a:rPr sz="1050" b="1">
                <a:solidFill>
                  <a:srgbClr val="C47A11"/>
                </a:solidFill>
                <a:latin typeface="Arial"/>
                <a:ea typeface="Arial"/>
                <a:cs typeface="Arial"/>
              </a:rPr>
              <a:t>THỜI GIAN / THẤT BẠI</a:t>
            </a:r>
          </a:p>
        </p:txBody>
      </p:sp>
      <p:sp>
        <p:nvSpPr>
          <p:cNvPr id="19" name="">
            <a:extLst xmlns:a="http://schemas.openxmlformats.org/drawingml/2006/main">
              <a:ext uri="{FF2B5EF4-FFF2-40B4-BE49-F238E27FC236}">
                <a16:creationId xmlns:a16="http://schemas.microsoft.com/office/drawing/2014/main" id="{84FB21B6-C2E7-4F0F-AC2D-B0F03CFEA112}"/>
              </a:ext>
            </a:extLst>
          </p:cNvPr>
          <p:cNvSpPr>
            <a:spLocks xmlns:a="http://schemas.openxmlformats.org/drawingml/2006/main" noGrp="1"/>
          </p:cNvSpPr>
          <p:nvPr/>
        </p:nvSpPr>
        <p:spPr>
          <a:xfrm xmlns:a="http://schemas.openxmlformats.org/drawingml/2006/main">
            <a:off x="590550" y="581025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2563EB"/>
                </a:solidFill>
                <a:latin typeface="Arial"/>
                <a:ea typeface="Arial"/>
                <a:cs typeface="Arial"/>
              </a:defRPr>
            </a:defPPr>
          </a:lstStyle>
          <a:p xmlns:a="http://schemas.openxmlformats.org/drawingml/2006/main">
            <a:pPr algn="l">
              <a:lnSpc>
                <a:spcPct val="100000"/>
              </a:lnSpc>
              <a:buNone/>
              <a:defRPr sz="1275" b="1">
                <a:solidFill>
                  <a:srgbClr val="2563EB"/>
                </a:solidFill>
                <a:latin typeface="Arial"/>
                <a:ea typeface="Arial"/>
                <a:cs typeface="Arial"/>
              </a:defRPr>
            </a:pPr>
            <a:r>
              <a:rPr sz="1275" b="1">
                <a:solidFill>
                  <a:srgbClr val="2563EB"/>
                </a:solidFill>
                <a:latin typeface="Arial"/>
                <a:ea typeface="Arial"/>
                <a:cs typeface="Arial"/>
              </a:rPr>
              <a:t>Giả thuyết cần kiểm tra, chưa phải kết luận.</a:t>
            </a:r>
          </a:p>
        </p:txBody>
      </p:sp>
    </p:spTree>
    <p:extLst>
      <p:ext uri="{BB962C8B-B14F-4D97-AF65-F5344CB8AC3E}">
        <p14:creationId xmlns:p14="http://schemas.microsoft.com/office/powerpoint/2010/main" val="1993915564"/>
      </p:ext>
    </p:extLst>
  </p:cSld>
</p:sld>
</file>

<file path=ppt/slides/slide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cxnSp>
        <p:nvCxnSpPr>
          <p:cNvPr id="30" name="">
            <a:extLst xmlns:a="http://schemas.openxmlformats.org/drawingml/2006/main">
              <a:ext uri="{FF2B5EF4-FFF2-40B4-BE49-F238E27FC236}">
                <a16:creationId xmlns:a16="http://schemas.microsoft.com/office/drawing/2014/main" id="{50576B17-ED5D-4EE5-8776-A2CC745CDBF7}"/>
              </a:ext>
            </a:extLst>
          </p:cNvPr>
          <p:cNvCxnSpPr>
            <a:stCxn xmlns:a="http://schemas.openxmlformats.org/drawingml/2006/main" id="28" idx="2"/>
            <a:endCxn xmlns:a="http://schemas.openxmlformats.org/drawingml/2006/main" id="12" idx="2"/>
          </p:cNvCxnSpPr>
          <p:nvPr/>
        </p:nvCxnSpPr>
        <p:spPr>
          <a:xfrm xmlns:a="http://schemas.openxmlformats.org/drawingml/2006/main" flipH="1" flipV="1">
            <a:off x="5838825" y="3686175"/>
            <a:ext cx="4486275" cy="514350"/>
          </a:xfrm>
          <a:prstGeom xmlns:a="http://schemas.openxmlformats.org/drawingml/2006/main" prst="bentConnector2">
            <a:avLst/>
          </a:prstGeom>
          <a:ln xmlns:a="http://schemas.openxmlformats.org/drawingml/2006/main" w="19050">
            <a:solidFill>
              <a:srgbClr val="C47A11"/>
            </a:solidFill>
            <a:prstDash val="solid"/>
            <a:tailEnd type="arrow" w="sm" len="sm"/>
          </a:ln>
        </p:spPr>
      </p:cxnSp>
      <p:cxnSp>
        <p:nvCxnSpPr>
          <p:cNvPr id="29" name="">
            <a:extLst xmlns:a="http://schemas.openxmlformats.org/drawingml/2006/main">
              <a:ext uri="{FF2B5EF4-FFF2-40B4-BE49-F238E27FC236}">
                <a16:creationId xmlns:a16="http://schemas.microsoft.com/office/drawing/2014/main" id="{BEE445A0-A3D1-4565-924D-54E1CB85D325}"/>
              </a:ext>
            </a:extLst>
          </p:cNvPr>
          <p:cNvCxnSpPr>
            <a:stCxn xmlns:a="http://schemas.openxmlformats.org/drawingml/2006/main" id="18" idx="2"/>
            <a:endCxn xmlns:a="http://schemas.openxmlformats.org/drawingml/2006/main" id="28" idx="0"/>
          </p:cNvCxnSpPr>
          <p:nvPr/>
        </p:nvCxnSpPr>
        <p:spPr>
          <a:xfrm xmlns:a="http://schemas.openxmlformats.org/drawingml/2006/main" flipH="1">
            <a:off x="10401300" y="3686175"/>
            <a:ext cx="38100" cy="438150"/>
          </a:xfrm>
          <a:prstGeom xmlns:a="http://schemas.openxmlformats.org/drawingml/2006/main" prst="straightConnector1">
            <a:avLst/>
          </a:prstGeom>
          <a:ln xmlns:a="http://schemas.openxmlformats.org/drawingml/2006/main" w="19050">
            <a:solidFill>
              <a:srgbClr val="C47A11"/>
            </a:solidFill>
            <a:prstDash val="solid"/>
            <a:tailEnd type="arrow" w="sm" len="sm"/>
          </a:ln>
        </p:spPr>
      </p:cxnSp>
      <p:cxnSp>
        <p:nvCxnSpPr>
          <p:cNvPr id="24" name="">
            <a:extLst xmlns:a="http://schemas.openxmlformats.org/drawingml/2006/main">
              <a:ext uri="{FF2B5EF4-FFF2-40B4-BE49-F238E27FC236}">
                <a16:creationId xmlns:a16="http://schemas.microsoft.com/office/drawing/2014/main" id="{DC64CE21-7838-427E-8C2B-2FEF2E962123}"/>
              </a:ext>
            </a:extLst>
          </p:cNvPr>
          <p:cNvCxnSpPr>
            <a:stCxn xmlns:a="http://schemas.openxmlformats.org/drawingml/2006/main" id="15" idx="3"/>
            <a:endCxn xmlns:a="http://schemas.openxmlformats.org/drawingml/2006/main" id="18" idx="1"/>
          </p:cNvCxnSpPr>
          <p:nvPr/>
        </p:nvCxnSpPr>
        <p:spPr>
          <a:xfrm xmlns:a="http://schemas.openxmlformats.org/drawingml/2006/main">
            <a:off x="8915400" y="3057525"/>
            <a:ext cx="361950" cy="0"/>
          </a:xfrm>
          <a:prstGeom xmlns:a="http://schemas.openxmlformats.org/drawingml/2006/main" prst="straightConnector1">
            <a:avLst/>
          </a:prstGeom>
          <a:ln xmlns:a="http://schemas.openxmlformats.org/drawingml/2006/main" w="19050">
            <a:solidFill>
              <a:srgbClr val="2563EB"/>
            </a:solidFill>
            <a:prstDash val="solid"/>
            <a:tailEnd type="arrow" w="med" len="med"/>
          </a:ln>
        </p:spPr>
      </p:cxnSp>
      <p:cxnSp>
        <p:nvCxnSpPr>
          <p:cNvPr id="23" name="">
            <a:extLst xmlns:a="http://schemas.openxmlformats.org/drawingml/2006/main">
              <a:ext uri="{FF2B5EF4-FFF2-40B4-BE49-F238E27FC236}">
                <a16:creationId xmlns:a16="http://schemas.microsoft.com/office/drawing/2014/main" id="{2E80170C-716B-48B7-B22C-9A9271EB486B}"/>
              </a:ext>
            </a:extLst>
          </p:cNvPr>
          <p:cNvCxnSpPr>
            <a:stCxn xmlns:a="http://schemas.openxmlformats.org/drawingml/2006/main" id="12" idx="3"/>
            <a:endCxn xmlns:a="http://schemas.openxmlformats.org/drawingml/2006/main" id="15" idx="1"/>
          </p:cNvCxnSpPr>
          <p:nvPr/>
        </p:nvCxnSpPr>
        <p:spPr>
          <a:xfrm xmlns:a="http://schemas.openxmlformats.org/drawingml/2006/main">
            <a:off x="6743700" y="3057525"/>
            <a:ext cx="361950" cy="0"/>
          </a:xfrm>
          <a:prstGeom xmlns:a="http://schemas.openxmlformats.org/drawingml/2006/main" prst="straightConnector1">
            <a:avLst/>
          </a:prstGeom>
          <a:ln xmlns:a="http://schemas.openxmlformats.org/drawingml/2006/main" w="19050">
            <a:solidFill>
              <a:srgbClr val="2563EB"/>
            </a:solidFill>
            <a:prstDash val="solid"/>
            <a:tailEnd type="arrow" w="med" len="med"/>
          </a:ln>
        </p:spPr>
      </p:cxnSp>
      <p:cxnSp>
        <p:nvCxnSpPr>
          <p:cNvPr id="22" name="">
            <a:extLst xmlns:a="http://schemas.openxmlformats.org/drawingml/2006/main">
              <a:ext uri="{FF2B5EF4-FFF2-40B4-BE49-F238E27FC236}">
                <a16:creationId xmlns:a16="http://schemas.microsoft.com/office/drawing/2014/main" id="{A7C84F41-2AC3-4E32-B952-ABF4B7B409C8}"/>
              </a:ext>
            </a:extLst>
          </p:cNvPr>
          <p:cNvCxnSpPr>
            <a:stCxn xmlns:a="http://schemas.openxmlformats.org/drawingml/2006/main" id="9" idx="3"/>
            <a:endCxn xmlns:a="http://schemas.openxmlformats.org/drawingml/2006/main" id="12" idx="1"/>
          </p:cNvCxnSpPr>
          <p:nvPr/>
        </p:nvCxnSpPr>
        <p:spPr>
          <a:xfrm xmlns:a="http://schemas.openxmlformats.org/drawingml/2006/main">
            <a:off x="4572000" y="3057525"/>
            <a:ext cx="361950" cy="0"/>
          </a:xfrm>
          <a:prstGeom xmlns:a="http://schemas.openxmlformats.org/drawingml/2006/main" prst="straightConnector1">
            <a:avLst/>
          </a:prstGeom>
          <a:ln xmlns:a="http://schemas.openxmlformats.org/drawingml/2006/main" w="19050">
            <a:solidFill>
              <a:srgbClr val="2563EB"/>
            </a:solidFill>
            <a:prstDash val="solid"/>
            <a:tailEnd type="arrow" w="med" len="med"/>
          </a:ln>
        </p:spPr>
      </p:cxnSp>
      <p:cxnSp>
        <p:nvCxnSpPr>
          <p:cNvPr id="21" name="">
            <a:extLst xmlns:a="http://schemas.openxmlformats.org/drawingml/2006/main">
              <a:ext uri="{FF2B5EF4-FFF2-40B4-BE49-F238E27FC236}">
                <a16:creationId xmlns:a16="http://schemas.microsoft.com/office/drawing/2014/main" id="{1C101019-0FE1-46AB-9ECF-B56BF11C1362}"/>
              </a:ext>
            </a:extLst>
          </p:cNvPr>
          <p:cNvCxnSpPr>
            <a:stCxn xmlns:a="http://schemas.openxmlformats.org/drawingml/2006/main" id="6" idx="3"/>
            <a:endCxn xmlns:a="http://schemas.openxmlformats.org/drawingml/2006/main" id="9" idx="1"/>
          </p:cNvCxnSpPr>
          <p:nvPr/>
        </p:nvCxnSpPr>
        <p:spPr>
          <a:xfrm xmlns:a="http://schemas.openxmlformats.org/drawingml/2006/main">
            <a:off x="2400300" y="3057525"/>
            <a:ext cx="361950" cy="0"/>
          </a:xfrm>
          <a:prstGeom xmlns:a="http://schemas.openxmlformats.org/drawingml/2006/main" prst="straightConnector1">
            <a:avLst/>
          </a:prstGeom>
          <a:ln xmlns:a="http://schemas.openxmlformats.org/drawingml/2006/main" w="19050">
            <a:solidFill>
              <a:srgbClr val="2563EB"/>
            </a:solidFill>
            <a:prstDash val="solid"/>
            <a:tailEnd type="arrow" w="med" len="med"/>
          </a:ln>
        </p:spPr>
      </p:cxnSp>
      <p:sp>
        <p:nvSpPr>
          <p:cNvPr id="32" name="">
            <a:extLst xmlns:a="http://schemas.openxmlformats.org/drawingml/2006/main">
              <a:ext uri="{FF2B5EF4-FFF2-40B4-BE49-F238E27FC236}">
                <a16:creationId xmlns:a16="http://schemas.microsoft.com/office/drawing/2014/main" id="{2CD39789-E722-4267-996F-48105C59B86B}"/>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563E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E291E24-09B4-4BA0-A9EE-D8D12B591639}"/>
              </a:ext>
            </a:extLst>
          </p:cNvPr>
          <p:cNvSpPr>
            <a:spLocks xmlns:a="http://schemas.openxmlformats.org/drawingml/2006/main" noGrp="1"/>
          </p:cNvSpPr>
          <p:nvPr/>
        </p:nvSpPr>
        <p:spPr>
          <a:xfrm xmlns:a="http://schemas.openxmlformats.org/drawingml/2006/main">
            <a:off x="590550" y="3238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2563EB"/>
                </a:solidFill>
                <a:latin typeface="Arial"/>
                <a:ea typeface="Arial"/>
                <a:cs typeface="Arial"/>
              </a:defRPr>
            </a:defPPr>
          </a:lstStyle>
          <a:p xmlns:a="http://schemas.openxmlformats.org/drawingml/2006/main">
            <a:pPr algn="l">
              <a:lnSpc>
                <a:spcPct val="100000"/>
              </a:lnSpc>
              <a:buNone/>
              <a:defRPr sz="975" b="1">
                <a:solidFill>
                  <a:srgbClr val="2563EB"/>
                </a:solidFill>
                <a:latin typeface="Arial"/>
                <a:ea typeface="Arial"/>
                <a:cs typeface="Arial"/>
              </a:defRPr>
            </a:pPr>
            <a:r>
              <a:rPr sz="975" b="1">
                <a:solidFill>
                  <a:srgbClr val="2563EB"/>
                </a:solidFill>
                <a:latin typeface="Arial"/>
                <a:ea typeface="Arial"/>
                <a:cs typeface="Arial"/>
              </a:rPr>
              <a:t>NCKH SINH VIÊN 2026</a:t>
            </a:r>
          </a:p>
        </p:txBody>
      </p:sp>
      <p:sp>
        <p:nvSpPr>
          <p:cNvPr id="3" name="">
            <a:extLst xmlns:a="http://schemas.openxmlformats.org/drawingml/2006/main">
              <a:ext uri="{FF2B5EF4-FFF2-40B4-BE49-F238E27FC236}">
                <a16:creationId xmlns:a16="http://schemas.microsoft.com/office/drawing/2014/main" id="{1A7AA7B7-E4EA-4B6B-9ED7-B89FB8E489FC}"/>
              </a:ext>
            </a:extLst>
          </p:cNvPr>
          <p:cNvSpPr>
            <a:spLocks xmlns:a="http://schemas.openxmlformats.org/drawingml/2006/main" noGrp="1"/>
          </p:cNvSpPr>
          <p:nvPr/>
        </p:nvSpPr>
        <p:spPr>
          <a:xfrm xmlns:a="http://schemas.openxmlformats.org/drawingml/2006/main">
            <a:off x="590550" y="666750"/>
            <a:ext cx="11010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550" b="1">
                <a:solidFill>
                  <a:srgbClr val="14233B"/>
                </a:solidFill>
                <a:latin typeface="Arial"/>
                <a:ea typeface="Arial"/>
                <a:cs typeface="Arial"/>
              </a:defRPr>
            </a:defPPr>
          </a:lstStyle>
          <a:p xmlns:a="http://schemas.openxmlformats.org/drawingml/2006/main">
            <a:pPr algn="l">
              <a:lnSpc>
                <a:spcPct val="100000"/>
              </a:lnSpc>
              <a:buNone/>
              <a:defRPr sz="2550" b="1">
                <a:solidFill>
                  <a:srgbClr val="14233B"/>
                </a:solidFill>
                <a:latin typeface="Arial"/>
                <a:ea typeface="Arial"/>
                <a:cs typeface="Arial"/>
              </a:defRPr>
            </a:pPr>
            <a:r>
              <a:rPr sz="2550" b="1">
                <a:solidFill>
                  <a:srgbClr val="14233B"/>
                </a:solidFill>
                <a:latin typeface="Arial"/>
                <a:ea typeface="Arial"/>
                <a:cs typeface="Arial"/>
              </a:rPr>
              <a:t>Phương pháp: vòng sinh và kiểm chứng</a:t>
            </a:r>
          </a:p>
        </p:txBody>
      </p:sp>
      <p:sp>
        <p:nvSpPr>
          <p:cNvPr id="4" name="">
            <a:extLst xmlns:a="http://schemas.openxmlformats.org/drawingml/2006/main">
              <a:ext uri="{FF2B5EF4-FFF2-40B4-BE49-F238E27FC236}">
                <a16:creationId xmlns:a16="http://schemas.microsoft.com/office/drawing/2014/main" id="{B8B457A2-4494-4628-8AFD-CF4F0937908C}"/>
              </a:ext>
            </a:extLst>
          </p:cNvPr>
          <p:cNvSpPr>
            <a:spLocks xmlns:a="http://schemas.openxmlformats.org/drawingml/2006/main" noGrp="1"/>
          </p:cNvSpPr>
          <p:nvPr/>
        </p:nvSpPr>
        <p:spPr>
          <a:xfrm xmlns:a="http://schemas.openxmlformats.org/drawingml/2006/main">
            <a:off x="590550" y="1304925"/>
            <a:ext cx="110109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5" name="">
            <a:extLst xmlns:a="http://schemas.openxmlformats.org/drawingml/2006/main">
              <a:ext uri="{FF2B5EF4-FFF2-40B4-BE49-F238E27FC236}">
                <a16:creationId xmlns:a16="http://schemas.microsoft.com/office/drawing/2014/main" id="{EFBC4A4B-5516-4F99-8EB0-9A1F6AB55E11}"/>
              </a:ext>
            </a:extLst>
          </p:cNvPr>
          <p:cNvSpPr>
            <a:spLocks xmlns:a="http://schemas.openxmlformats.org/drawingml/2006/main" noGrp="1"/>
          </p:cNvSpPr>
          <p:nvPr/>
        </p:nvSpPr>
        <p:spPr>
          <a:xfrm xmlns:a="http://schemas.openxmlformats.org/drawingml/2006/main">
            <a:off x="10572750" y="6438900"/>
            <a:ext cx="1028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52647A"/>
                </a:solidFill>
                <a:latin typeface="Arial"/>
                <a:ea typeface="Arial"/>
                <a:cs typeface="Arial"/>
              </a:defRPr>
            </a:defPPr>
          </a:lstStyle>
          <a:p xmlns:a="http://schemas.openxmlformats.org/drawingml/2006/main">
            <a:pPr algn="r">
              <a:lnSpc>
                <a:spcPct val="100000"/>
              </a:lnSpc>
              <a:buNone/>
              <a:defRPr sz="975" b="1">
                <a:solidFill>
                  <a:srgbClr val="52647A"/>
                </a:solidFill>
                <a:latin typeface="Arial"/>
                <a:ea typeface="Arial"/>
                <a:cs typeface="Arial"/>
              </a:defRPr>
            </a:pPr>
            <a:r>
              <a:rPr sz="975" b="1">
                <a:solidFill>
                  <a:srgbClr val="52647A"/>
                </a:solidFill>
                <a:latin typeface="Arial"/>
                <a:ea typeface="Arial"/>
                <a:cs typeface="Arial"/>
              </a:rPr>
              <a:t>04  /  07</a:t>
            </a:r>
          </a:p>
        </p:txBody>
      </p:sp>
      <p:sp>
        <p:nvSpPr>
          <p:cNvPr id="6" name="">
            <a:extLst xmlns:a="http://schemas.openxmlformats.org/drawingml/2006/main">
              <a:ext uri="{FF2B5EF4-FFF2-40B4-BE49-F238E27FC236}">
                <a16:creationId xmlns:a16="http://schemas.microsoft.com/office/drawing/2014/main" id="{4F5670A9-99D7-4618-9655-A847B70807BC}"/>
              </a:ext>
            </a:extLst>
          </p:cNvPr>
          <p:cNvSpPr>
            <a:spLocks xmlns:a="http://schemas.openxmlformats.org/drawingml/2006/main" noGrp="1"/>
          </p:cNvSpPr>
          <p:nvPr/>
        </p:nvSpPr>
        <p:spPr>
          <a:xfrm xmlns:a="http://schemas.openxmlformats.org/drawingml/2006/main">
            <a:off x="590550" y="2428875"/>
            <a:ext cx="1809750" cy="1257300"/>
          </a:xfrm>
          <a:prstGeom xmlns:a="http://schemas.openxmlformats.org/drawingml/2006/main" prst="roundRect">
            <a:avLst>
              <a:gd name="adj" fmla="val 10606"/>
            </a:avLst>
          </a:prstGeom>
          <a:solidFill xmlns:a="http://schemas.openxmlformats.org/drawingml/2006/main">
            <a:srgbClr val="E8F0FF"/>
          </a:solidFill>
          <a:ln xmlns:a="http://schemas.openxmlformats.org/drawingml/2006/main" w="9525">
            <a:solidFill>
              <a:srgbClr val="BED2FF"/>
            </a:solidFill>
            <a:prstDash val="solid"/>
          </a:ln>
        </p:spPr>
      </p:sp>
      <p:sp>
        <p:nvSpPr>
          <p:cNvPr id="7" name="">
            <a:extLst xmlns:a="http://schemas.openxmlformats.org/drawingml/2006/main">
              <a:ext uri="{FF2B5EF4-FFF2-40B4-BE49-F238E27FC236}">
                <a16:creationId xmlns:a16="http://schemas.microsoft.com/office/drawing/2014/main" id="{E60A7C63-4C38-4D49-9DE0-ECEDE5D7DAEA}"/>
              </a:ext>
            </a:extLst>
          </p:cNvPr>
          <p:cNvSpPr>
            <a:spLocks xmlns:a="http://schemas.openxmlformats.org/drawingml/2006/main" noGrp="1"/>
          </p:cNvSpPr>
          <p:nvPr/>
        </p:nvSpPr>
        <p:spPr>
          <a:xfrm xmlns:a="http://schemas.openxmlformats.org/drawingml/2006/main">
            <a:off x="733425" y="25908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1">
                <a:solidFill>
                  <a:srgbClr val="2563EB"/>
                </a:solidFill>
                <a:latin typeface="Arial"/>
                <a:ea typeface="Arial"/>
                <a:cs typeface="Arial"/>
              </a:defRPr>
            </a:defPPr>
          </a:lstStyle>
          <a:p xmlns:a="http://schemas.openxmlformats.org/drawingml/2006/main">
            <a:pPr algn="ctr">
              <a:lnSpc>
                <a:spcPct val="100000"/>
              </a:lnSpc>
              <a:buNone/>
              <a:defRPr sz="1125" b="1">
                <a:solidFill>
                  <a:srgbClr val="2563EB"/>
                </a:solidFill>
                <a:latin typeface="Arial"/>
                <a:ea typeface="Arial"/>
                <a:cs typeface="Arial"/>
              </a:defRPr>
            </a:pPr>
            <a:r>
              <a:rPr sz="1125" b="1">
                <a:solidFill>
                  <a:srgbClr val="2563EB"/>
                </a:solidFill>
                <a:latin typeface="Arial"/>
                <a:ea typeface="Arial"/>
                <a:cs typeface="Arial"/>
              </a:rPr>
              <a:t>1 · ĐẶC TẢ</a:t>
            </a:r>
          </a:p>
        </p:txBody>
      </p:sp>
      <p:sp>
        <p:nvSpPr>
          <p:cNvPr id="8" name="">
            <a:extLst xmlns:a="http://schemas.openxmlformats.org/drawingml/2006/main">
              <a:ext uri="{FF2B5EF4-FFF2-40B4-BE49-F238E27FC236}">
                <a16:creationId xmlns:a16="http://schemas.microsoft.com/office/drawing/2014/main" id="{2DF4716F-67B8-42AF-9E93-7D3C861E906A}"/>
              </a:ext>
            </a:extLst>
          </p:cNvPr>
          <p:cNvSpPr>
            <a:spLocks xmlns:a="http://schemas.openxmlformats.org/drawingml/2006/main" noGrp="1"/>
          </p:cNvSpPr>
          <p:nvPr/>
        </p:nvSpPr>
        <p:spPr>
          <a:xfrm xmlns:a="http://schemas.openxmlformats.org/drawingml/2006/main">
            <a:off x="723900" y="2971800"/>
            <a:ext cx="1543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8587"/>
          </a:bodyPr>
          <a:lstStyle xmlns:a="http://schemas.openxmlformats.org/drawingml/2006/main">
            <a:defPPr algn="ctr">
              <a:defRPr sz="1425" b="1">
                <a:solidFill>
                  <a:srgbClr val="14233B"/>
                </a:solidFill>
                <a:latin typeface="Arial"/>
                <a:ea typeface="Arial"/>
                <a:cs typeface="Arial"/>
              </a:defRPr>
            </a:defPPr>
          </a:lstStyle>
          <a:p xmlns:a="http://schemas.openxmlformats.org/drawingml/2006/main">
            <a:pPr algn="ctr">
              <a:lnSpc>
                <a:spcPct val="108000"/>
              </a:lnSpc>
              <a:buNone/>
              <a:defRPr sz="1425" b="1">
                <a:solidFill>
                  <a:srgbClr val="14233B"/>
                </a:solidFill>
                <a:latin typeface="Arial"/>
                <a:ea typeface="Arial"/>
                <a:cs typeface="Arial"/>
              </a:defRPr>
            </a:pPr>
            <a:r>
              <a:rPr sz="1425" b="1">
                <a:solidFill>
                  <a:srgbClr val="14233B"/>
                </a:solidFill>
                <a:latin typeface="Arial"/>
                <a:ea typeface="Arial"/>
                <a:cs typeface="Arial"/>
              </a:rPr>
              <a:t>Đề bài +</a:t>
            </a:r>
          </a:p>
          <a:p xmlns:a="http://schemas.openxmlformats.org/drawingml/2006/main">
            <a:pPr algn="ctr">
              <a:lnSpc>
                <a:spcPct val="108000"/>
              </a:lnSpc>
              <a:buNone/>
              <a:defRPr sz="1425" b="1">
                <a:solidFill>
                  <a:srgbClr val="14233B"/>
                </a:solidFill>
                <a:latin typeface="Arial"/>
                <a:ea typeface="Arial"/>
                <a:cs typeface="Arial"/>
              </a:defRPr>
            </a:pPr>
            <a:r>
              <a:rPr sz="1425" b="1">
                <a:solidFill>
                  <a:srgbClr val="14233B"/>
                </a:solidFill>
                <a:latin typeface="Arial"/>
                <a:ea typeface="Arial"/>
                <a:cs typeface="Arial"/>
              </a:rPr>
              <a:t>requires / ensures</a:t>
            </a:r>
          </a:p>
        </p:txBody>
      </p:sp>
      <p:sp>
        <p:nvSpPr>
          <p:cNvPr id="9" name="">
            <a:extLst xmlns:a="http://schemas.openxmlformats.org/drawingml/2006/main">
              <a:ext uri="{FF2B5EF4-FFF2-40B4-BE49-F238E27FC236}">
                <a16:creationId xmlns:a16="http://schemas.microsoft.com/office/drawing/2014/main" id="{2B30E3EC-B2BE-4BA0-9F98-0135D183D598}"/>
              </a:ext>
            </a:extLst>
          </p:cNvPr>
          <p:cNvSpPr>
            <a:spLocks xmlns:a="http://schemas.openxmlformats.org/drawingml/2006/main" noGrp="1"/>
          </p:cNvSpPr>
          <p:nvPr/>
        </p:nvSpPr>
        <p:spPr>
          <a:xfrm xmlns:a="http://schemas.openxmlformats.org/drawingml/2006/main">
            <a:off x="2762250" y="2428875"/>
            <a:ext cx="1809750" cy="1257300"/>
          </a:xfrm>
          <a:prstGeom xmlns:a="http://schemas.openxmlformats.org/drawingml/2006/main" prst="roundRect">
            <a:avLst>
              <a:gd name="adj" fmla="val 10606"/>
            </a:avLst>
          </a:prstGeom>
          <a:solidFill xmlns:a="http://schemas.openxmlformats.org/drawingml/2006/main">
            <a:srgbClr val="EEF2FA"/>
          </a:solidFill>
          <a:ln xmlns:a="http://schemas.openxmlformats.org/drawingml/2006/main" w="9525">
            <a:solidFill>
              <a:srgbClr val="D3DCE9"/>
            </a:solidFill>
            <a:prstDash val="solid"/>
          </a:ln>
        </p:spPr>
      </p:sp>
      <p:sp>
        <p:nvSpPr>
          <p:cNvPr id="10" name="">
            <a:extLst xmlns:a="http://schemas.openxmlformats.org/drawingml/2006/main">
              <a:ext uri="{FF2B5EF4-FFF2-40B4-BE49-F238E27FC236}">
                <a16:creationId xmlns:a16="http://schemas.microsoft.com/office/drawing/2014/main" id="{04C76991-29F0-44D4-AEDC-57CB9B101CDF}"/>
              </a:ext>
            </a:extLst>
          </p:cNvPr>
          <p:cNvSpPr>
            <a:spLocks xmlns:a="http://schemas.openxmlformats.org/drawingml/2006/main" noGrp="1"/>
          </p:cNvSpPr>
          <p:nvPr/>
        </p:nvSpPr>
        <p:spPr>
          <a:xfrm xmlns:a="http://schemas.openxmlformats.org/drawingml/2006/main">
            <a:off x="2905125" y="25908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1">
                <a:solidFill>
                  <a:srgbClr val="14233B"/>
                </a:solidFill>
                <a:latin typeface="Arial"/>
                <a:ea typeface="Arial"/>
                <a:cs typeface="Arial"/>
              </a:defRPr>
            </a:defPPr>
          </a:lstStyle>
          <a:p xmlns:a="http://schemas.openxmlformats.org/drawingml/2006/main">
            <a:pPr algn="ctr">
              <a:lnSpc>
                <a:spcPct val="100000"/>
              </a:lnSpc>
              <a:buNone/>
              <a:defRPr sz="1125" b="1">
                <a:solidFill>
                  <a:srgbClr val="14233B"/>
                </a:solidFill>
                <a:latin typeface="Arial"/>
                <a:ea typeface="Arial"/>
                <a:cs typeface="Arial"/>
              </a:defRPr>
            </a:pPr>
            <a:r>
              <a:rPr sz="1125" b="1">
                <a:solidFill>
                  <a:srgbClr val="14233B"/>
                </a:solidFill>
                <a:latin typeface="Arial"/>
                <a:ea typeface="Arial"/>
                <a:cs typeface="Arial"/>
              </a:rPr>
              <a:t>2 · PHÂN TÍCH</a:t>
            </a:r>
          </a:p>
        </p:txBody>
      </p:sp>
      <p:sp>
        <p:nvSpPr>
          <p:cNvPr id="11" name="">
            <a:extLst xmlns:a="http://schemas.openxmlformats.org/drawingml/2006/main">
              <a:ext uri="{FF2B5EF4-FFF2-40B4-BE49-F238E27FC236}">
                <a16:creationId xmlns:a16="http://schemas.microsoft.com/office/drawing/2014/main" id="{907059B8-5E50-4BF9-A9EF-9B5234EFF36B}"/>
              </a:ext>
            </a:extLst>
          </p:cNvPr>
          <p:cNvSpPr>
            <a:spLocks xmlns:a="http://schemas.openxmlformats.org/drawingml/2006/main" noGrp="1"/>
          </p:cNvSpPr>
          <p:nvPr/>
        </p:nvSpPr>
        <p:spPr>
          <a:xfrm xmlns:a="http://schemas.openxmlformats.org/drawingml/2006/main">
            <a:off x="2895600" y="2971800"/>
            <a:ext cx="1543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425" b="1">
                <a:solidFill>
                  <a:srgbClr val="14233B"/>
                </a:solidFill>
                <a:latin typeface="Arial"/>
                <a:ea typeface="Arial"/>
                <a:cs typeface="Arial"/>
              </a:defRPr>
            </a:defPPr>
          </a:lstStyle>
          <a:p xmlns:a="http://schemas.openxmlformats.org/drawingml/2006/main">
            <a:pPr algn="ctr">
              <a:lnSpc>
                <a:spcPct val="108000"/>
              </a:lnSpc>
              <a:buNone/>
              <a:defRPr sz="1425" b="1">
                <a:solidFill>
                  <a:srgbClr val="14233B"/>
                </a:solidFill>
                <a:latin typeface="Arial"/>
                <a:ea typeface="Arial"/>
                <a:cs typeface="Arial"/>
              </a:defRPr>
            </a:pPr>
            <a:r>
              <a:rPr sz="1425" b="1">
                <a:solidFill>
                  <a:srgbClr val="14233B"/>
                </a:solidFill>
                <a:latin typeface="Arial"/>
                <a:ea typeface="Arial"/>
                <a:cs typeface="Arial"/>
              </a:rPr>
              <a:t>Topology gợi ý</a:t>
            </a:r>
          </a:p>
          <a:p xmlns:a="http://schemas.openxmlformats.org/drawingml/2006/main">
            <a:pPr algn="ctr">
              <a:lnSpc>
                <a:spcPct val="108000"/>
              </a:lnSpc>
              <a:buNone/>
              <a:defRPr sz="1425" b="1">
                <a:solidFill>
                  <a:srgbClr val="14233B"/>
                </a:solidFill>
                <a:latin typeface="Arial"/>
                <a:ea typeface="Arial"/>
                <a:cs typeface="Arial"/>
              </a:defRPr>
            </a:pPr>
            <a:r>
              <a:rPr sz="1425" b="1">
                <a:solidFill>
                  <a:srgbClr val="14233B"/>
                </a:solidFill>
                <a:latin typeface="Arial"/>
                <a:ea typeface="Arial"/>
                <a:cs typeface="Arial"/>
              </a:rPr>
              <a:t>cấu trúc bài toán</a:t>
            </a:r>
          </a:p>
        </p:txBody>
      </p:sp>
      <p:sp>
        <p:nvSpPr>
          <p:cNvPr id="12" name="">
            <a:extLst xmlns:a="http://schemas.openxmlformats.org/drawingml/2006/main">
              <a:ext uri="{FF2B5EF4-FFF2-40B4-BE49-F238E27FC236}">
                <a16:creationId xmlns:a16="http://schemas.microsoft.com/office/drawing/2014/main" id="{2656BC78-97B3-4CCA-A343-DFE6B8A6717B}"/>
              </a:ext>
            </a:extLst>
          </p:cNvPr>
          <p:cNvSpPr>
            <a:spLocks xmlns:a="http://schemas.openxmlformats.org/drawingml/2006/main" noGrp="1"/>
          </p:cNvSpPr>
          <p:nvPr/>
        </p:nvSpPr>
        <p:spPr>
          <a:xfrm xmlns:a="http://schemas.openxmlformats.org/drawingml/2006/main">
            <a:off x="4933950" y="2428875"/>
            <a:ext cx="1809750" cy="1257300"/>
          </a:xfrm>
          <a:prstGeom xmlns:a="http://schemas.openxmlformats.org/drawingml/2006/main" prst="roundRect">
            <a:avLst>
              <a:gd name="adj" fmla="val 10606"/>
            </a:avLst>
          </a:prstGeom>
          <a:solidFill xmlns:a="http://schemas.openxmlformats.org/drawingml/2006/main">
            <a:srgbClr val="EEF2FA"/>
          </a:solidFill>
          <a:ln xmlns:a="http://schemas.openxmlformats.org/drawingml/2006/main" w="9525">
            <a:solidFill>
              <a:srgbClr val="D3DCE9"/>
            </a:solidFill>
            <a:prstDash val="solid"/>
          </a:ln>
        </p:spPr>
      </p:sp>
      <p:sp>
        <p:nvSpPr>
          <p:cNvPr id="13" name="">
            <a:extLst xmlns:a="http://schemas.openxmlformats.org/drawingml/2006/main">
              <a:ext uri="{FF2B5EF4-FFF2-40B4-BE49-F238E27FC236}">
                <a16:creationId xmlns:a16="http://schemas.microsoft.com/office/drawing/2014/main" id="{43AD93F8-BAD6-42F9-A41E-13F74C9265F6}"/>
              </a:ext>
            </a:extLst>
          </p:cNvPr>
          <p:cNvSpPr>
            <a:spLocks xmlns:a="http://schemas.openxmlformats.org/drawingml/2006/main" noGrp="1"/>
          </p:cNvSpPr>
          <p:nvPr/>
        </p:nvSpPr>
        <p:spPr>
          <a:xfrm xmlns:a="http://schemas.openxmlformats.org/drawingml/2006/main">
            <a:off x="5076825" y="25908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1">
                <a:solidFill>
                  <a:srgbClr val="14233B"/>
                </a:solidFill>
                <a:latin typeface="Arial"/>
                <a:ea typeface="Arial"/>
                <a:cs typeface="Arial"/>
              </a:defRPr>
            </a:defPPr>
          </a:lstStyle>
          <a:p xmlns:a="http://schemas.openxmlformats.org/drawingml/2006/main">
            <a:pPr algn="ctr">
              <a:lnSpc>
                <a:spcPct val="100000"/>
              </a:lnSpc>
              <a:buNone/>
              <a:defRPr sz="1125" b="1">
                <a:solidFill>
                  <a:srgbClr val="14233B"/>
                </a:solidFill>
                <a:latin typeface="Arial"/>
                <a:ea typeface="Arial"/>
                <a:cs typeface="Arial"/>
              </a:defRPr>
            </a:pPr>
            <a:r>
              <a:rPr sz="1125" b="1">
                <a:solidFill>
                  <a:srgbClr val="14233B"/>
                </a:solidFill>
                <a:latin typeface="Arial"/>
                <a:ea typeface="Arial"/>
                <a:cs typeface="Arial"/>
              </a:rPr>
              <a:t>3 · LLM SINH</a:t>
            </a:r>
          </a:p>
        </p:txBody>
      </p:sp>
      <p:sp>
        <p:nvSpPr>
          <p:cNvPr id="14" name="">
            <a:extLst xmlns:a="http://schemas.openxmlformats.org/drawingml/2006/main">
              <a:ext uri="{FF2B5EF4-FFF2-40B4-BE49-F238E27FC236}">
                <a16:creationId xmlns:a16="http://schemas.microsoft.com/office/drawing/2014/main" id="{467E5D1F-0966-46CB-B674-C3744CFA43A7}"/>
              </a:ext>
            </a:extLst>
          </p:cNvPr>
          <p:cNvSpPr>
            <a:spLocks xmlns:a="http://schemas.openxmlformats.org/drawingml/2006/main" noGrp="1"/>
          </p:cNvSpPr>
          <p:nvPr/>
        </p:nvSpPr>
        <p:spPr>
          <a:xfrm xmlns:a="http://schemas.openxmlformats.org/drawingml/2006/main">
            <a:off x="5067300" y="2971800"/>
            <a:ext cx="1543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425" b="1">
                <a:solidFill>
                  <a:srgbClr val="14233B"/>
                </a:solidFill>
                <a:latin typeface="Arial"/>
                <a:ea typeface="Arial"/>
                <a:cs typeface="Arial"/>
              </a:defRPr>
            </a:defPPr>
          </a:lstStyle>
          <a:p xmlns:a="http://schemas.openxmlformats.org/drawingml/2006/main">
            <a:pPr algn="ctr">
              <a:lnSpc>
                <a:spcPct val="108000"/>
              </a:lnSpc>
              <a:buNone/>
              <a:defRPr sz="1425" b="1">
                <a:solidFill>
                  <a:srgbClr val="14233B"/>
                </a:solidFill>
                <a:latin typeface="Arial"/>
                <a:ea typeface="Arial"/>
                <a:cs typeface="Arial"/>
              </a:defRPr>
            </a:pPr>
            <a:r>
              <a:rPr sz="1425" b="1">
                <a:solidFill>
                  <a:srgbClr val="14233B"/>
                </a:solidFill>
                <a:latin typeface="Arial"/>
                <a:ea typeface="Arial"/>
                <a:cs typeface="Arial"/>
              </a:rPr>
              <a:t>Tạo ứng viên</a:t>
            </a:r>
          </a:p>
          <a:p xmlns:a="http://schemas.openxmlformats.org/drawingml/2006/main">
            <a:pPr algn="ctr">
              <a:lnSpc>
                <a:spcPct val="108000"/>
              </a:lnSpc>
              <a:buNone/>
              <a:defRPr sz="1425" b="1">
                <a:solidFill>
                  <a:srgbClr val="14233B"/>
                </a:solidFill>
                <a:latin typeface="Arial"/>
                <a:ea typeface="Arial"/>
                <a:cs typeface="Arial"/>
              </a:defRPr>
            </a:pPr>
            <a:r>
              <a:rPr sz="1425" b="1">
                <a:solidFill>
                  <a:srgbClr val="14233B"/>
                </a:solidFill>
                <a:latin typeface="Arial"/>
                <a:ea typeface="Arial"/>
                <a:cs typeface="Arial"/>
              </a:rPr>
              <a:t>Dafny</a:t>
            </a:r>
          </a:p>
        </p:txBody>
      </p:sp>
      <p:sp>
        <p:nvSpPr>
          <p:cNvPr id="15" name="">
            <a:extLst xmlns:a="http://schemas.openxmlformats.org/drawingml/2006/main">
              <a:ext uri="{FF2B5EF4-FFF2-40B4-BE49-F238E27FC236}">
                <a16:creationId xmlns:a16="http://schemas.microsoft.com/office/drawing/2014/main" id="{BF5A9DD0-EE25-425B-9443-34B156211C21}"/>
              </a:ext>
            </a:extLst>
          </p:cNvPr>
          <p:cNvSpPr>
            <a:spLocks xmlns:a="http://schemas.openxmlformats.org/drawingml/2006/main" noGrp="1"/>
          </p:cNvSpPr>
          <p:nvPr/>
        </p:nvSpPr>
        <p:spPr>
          <a:xfrm xmlns:a="http://schemas.openxmlformats.org/drawingml/2006/main">
            <a:off x="7105650" y="2428875"/>
            <a:ext cx="1809750" cy="1257300"/>
          </a:xfrm>
          <a:prstGeom xmlns:a="http://schemas.openxmlformats.org/drawingml/2006/main" prst="roundRect">
            <a:avLst>
              <a:gd name="adj" fmla="val 10606"/>
            </a:avLst>
          </a:prstGeom>
          <a:solidFill xmlns:a="http://schemas.openxmlformats.org/drawingml/2006/main">
            <a:srgbClr val="FFF2D9"/>
          </a:solidFill>
          <a:ln xmlns:a="http://schemas.openxmlformats.org/drawingml/2006/main" w="9525">
            <a:solidFill>
              <a:srgbClr val="EAD29E"/>
            </a:solidFill>
            <a:prstDash val="solid"/>
          </a:ln>
        </p:spPr>
      </p:sp>
      <p:sp>
        <p:nvSpPr>
          <p:cNvPr id="16" name="">
            <a:extLst xmlns:a="http://schemas.openxmlformats.org/drawingml/2006/main">
              <a:ext uri="{FF2B5EF4-FFF2-40B4-BE49-F238E27FC236}">
                <a16:creationId xmlns:a16="http://schemas.microsoft.com/office/drawing/2014/main" id="{9574F762-A17A-4020-AAB1-B7B14C4A0926}"/>
              </a:ext>
            </a:extLst>
          </p:cNvPr>
          <p:cNvSpPr>
            <a:spLocks xmlns:a="http://schemas.openxmlformats.org/drawingml/2006/main" noGrp="1"/>
          </p:cNvSpPr>
          <p:nvPr/>
        </p:nvSpPr>
        <p:spPr>
          <a:xfrm xmlns:a="http://schemas.openxmlformats.org/drawingml/2006/main">
            <a:off x="7248525" y="25908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1">
                <a:solidFill>
                  <a:srgbClr val="C47A11"/>
                </a:solidFill>
                <a:latin typeface="Arial"/>
                <a:ea typeface="Arial"/>
                <a:cs typeface="Arial"/>
              </a:defRPr>
            </a:defPPr>
          </a:lstStyle>
          <a:p xmlns:a="http://schemas.openxmlformats.org/drawingml/2006/main">
            <a:pPr algn="ctr">
              <a:lnSpc>
                <a:spcPct val="100000"/>
              </a:lnSpc>
              <a:buNone/>
              <a:defRPr sz="1125" b="1">
                <a:solidFill>
                  <a:srgbClr val="C47A11"/>
                </a:solidFill>
                <a:latin typeface="Arial"/>
                <a:ea typeface="Arial"/>
                <a:cs typeface="Arial"/>
              </a:defRPr>
            </a:pPr>
            <a:r>
              <a:rPr sz="1125" b="1">
                <a:solidFill>
                  <a:srgbClr val="C47A11"/>
                </a:solidFill>
                <a:latin typeface="Arial"/>
                <a:ea typeface="Arial"/>
                <a:cs typeface="Arial"/>
              </a:rPr>
              <a:t>4 · HẬU XỬ LÝ</a:t>
            </a:r>
          </a:p>
        </p:txBody>
      </p:sp>
      <p:sp>
        <p:nvSpPr>
          <p:cNvPr id="17" name="">
            <a:extLst xmlns:a="http://schemas.openxmlformats.org/drawingml/2006/main">
              <a:ext uri="{FF2B5EF4-FFF2-40B4-BE49-F238E27FC236}">
                <a16:creationId xmlns:a16="http://schemas.microsoft.com/office/drawing/2014/main" id="{588DD03C-636A-4CB7-AE75-199DC71AD408}"/>
              </a:ext>
            </a:extLst>
          </p:cNvPr>
          <p:cNvSpPr>
            <a:spLocks xmlns:a="http://schemas.openxmlformats.org/drawingml/2006/main" noGrp="1"/>
          </p:cNvSpPr>
          <p:nvPr/>
        </p:nvSpPr>
        <p:spPr>
          <a:xfrm xmlns:a="http://schemas.openxmlformats.org/drawingml/2006/main">
            <a:off x="7239000" y="2971800"/>
            <a:ext cx="1543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6918"/>
          </a:bodyPr>
          <a:lstStyle xmlns:a="http://schemas.openxmlformats.org/drawingml/2006/main">
            <a:defPPr algn="ctr">
              <a:defRPr sz="1425" b="1">
                <a:solidFill>
                  <a:srgbClr val="14233B"/>
                </a:solidFill>
                <a:latin typeface="Arial"/>
                <a:ea typeface="Arial"/>
                <a:cs typeface="Arial"/>
              </a:defRPr>
            </a:defPPr>
          </a:lstStyle>
          <a:p xmlns:a="http://schemas.openxmlformats.org/drawingml/2006/main">
            <a:pPr algn="ctr">
              <a:lnSpc>
                <a:spcPct val="108000"/>
              </a:lnSpc>
              <a:buNone/>
              <a:defRPr sz="1425" b="1">
                <a:solidFill>
                  <a:srgbClr val="14233B"/>
                </a:solidFill>
                <a:latin typeface="Arial"/>
                <a:ea typeface="Arial"/>
                <a:cs typeface="Arial"/>
              </a:defRPr>
            </a:pPr>
            <a:r>
              <a:rPr sz="1425" b="1">
                <a:solidFill>
                  <a:srgbClr val="14233B"/>
                </a:solidFill>
                <a:latin typeface="Arial"/>
                <a:ea typeface="Arial"/>
                <a:cs typeface="Arial"/>
              </a:rPr>
              <a:t>Chuẩn hóa cú pháp</a:t>
            </a:r>
          </a:p>
          <a:p xmlns:a="http://schemas.openxmlformats.org/drawingml/2006/main">
            <a:pPr algn="ctr">
              <a:lnSpc>
                <a:spcPct val="108000"/>
              </a:lnSpc>
              <a:buNone/>
              <a:defRPr sz="1425" b="1">
                <a:solidFill>
                  <a:srgbClr val="14233B"/>
                </a:solidFill>
                <a:latin typeface="Arial"/>
                <a:ea typeface="Arial"/>
                <a:cs typeface="Arial"/>
              </a:defRPr>
            </a:pPr>
            <a:r>
              <a:rPr sz="1425" b="1">
                <a:solidFill>
                  <a:srgbClr val="14233B"/>
                </a:solidFill>
                <a:latin typeface="Arial"/>
                <a:ea typeface="Arial"/>
                <a:cs typeface="Arial"/>
              </a:rPr>
              <a:t>SpecLocker kiểm tra</a:t>
            </a:r>
          </a:p>
        </p:txBody>
      </p:sp>
      <p:sp>
        <p:nvSpPr>
          <p:cNvPr id="18" name="">
            <a:extLst xmlns:a="http://schemas.openxmlformats.org/drawingml/2006/main">
              <a:ext uri="{FF2B5EF4-FFF2-40B4-BE49-F238E27FC236}">
                <a16:creationId xmlns:a16="http://schemas.microsoft.com/office/drawing/2014/main" id="{B523300F-3A41-4129-8B39-C7B3532C2B23}"/>
              </a:ext>
            </a:extLst>
          </p:cNvPr>
          <p:cNvSpPr>
            <a:spLocks xmlns:a="http://schemas.openxmlformats.org/drawingml/2006/main" noGrp="1"/>
          </p:cNvSpPr>
          <p:nvPr/>
        </p:nvSpPr>
        <p:spPr>
          <a:xfrm xmlns:a="http://schemas.openxmlformats.org/drawingml/2006/main">
            <a:off x="9277350" y="2428875"/>
            <a:ext cx="2324100" cy="1257300"/>
          </a:xfrm>
          <a:prstGeom xmlns:a="http://schemas.openxmlformats.org/drawingml/2006/main" prst="roundRect">
            <a:avLst>
              <a:gd name="adj" fmla="val 10606"/>
            </a:avLst>
          </a:prstGeom>
          <a:solidFill xmlns:a="http://schemas.openxmlformats.org/drawingml/2006/main">
            <a:srgbClr val="E3F5F3"/>
          </a:solidFill>
          <a:ln xmlns:a="http://schemas.openxmlformats.org/drawingml/2006/main" w="9525">
            <a:solidFill>
              <a:srgbClr val="B8DFD9"/>
            </a:solidFill>
            <a:prstDash val="solid"/>
          </a:ln>
        </p:spPr>
      </p:sp>
      <p:sp>
        <p:nvSpPr>
          <p:cNvPr id="19" name="">
            <a:extLst xmlns:a="http://schemas.openxmlformats.org/drawingml/2006/main">
              <a:ext uri="{FF2B5EF4-FFF2-40B4-BE49-F238E27FC236}">
                <a16:creationId xmlns:a16="http://schemas.microsoft.com/office/drawing/2014/main" id="{EEB59B57-F912-4E5F-B69F-D5E299DA9E7C}"/>
              </a:ext>
            </a:extLst>
          </p:cNvPr>
          <p:cNvSpPr>
            <a:spLocks xmlns:a="http://schemas.openxmlformats.org/drawingml/2006/main" noGrp="1"/>
          </p:cNvSpPr>
          <p:nvPr/>
        </p:nvSpPr>
        <p:spPr>
          <a:xfrm xmlns:a="http://schemas.openxmlformats.org/drawingml/2006/main">
            <a:off x="9420225" y="2590800"/>
            <a:ext cx="2038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1">
                <a:solidFill>
                  <a:srgbClr val="0F8B8D"/>
                </a:solidFill>
                <a:latin typeface="Arial"/>
                <a:ea typeface="Arial"/>
                <a:cs typeface="Arial"/>
              </a:defRPr>
            </a:defPPr>
          </a:lstStyle>
          <a:p xmlns:a="http://schemas.openxmlformats.org/drawingml/2006/main">
            <a:pPr algn="ctr">
              <a:lnSpc>
                <a:spcPct val="100000"/>
              </a:lnSpc>
              <a:buNone/>
              <a:defRPr sz="1125" b="1">
                <a:solidFill>
                  <a:srgbClr val="0F8B8D"/>
                </a:solidFill>
                <a:latin typeface="Arial"/>
                <a:ea typeface="Arial"/>
                <a:cs typeface="Arial"/>
              </a:defRPr>
            </a:pPr>
            <a:r>
              <a:rPr sz="1125" b="1">
                <a:solidFill>
                  <a:srgbClr val="0F8B8D"/>
                </a:solidFill>
                <a:latin typeface="Arial"/>
                <a:ea typeface="Arial"/>
                <a:cs typeface="Arial"/>
              </a:rPr>
              <a:t>5 · DAFNY + Z3</a:t>
            </a:r>
          </a:p>
        </p:txBody>
      </p:sp>
      <p:sp>
        <p:nvSpPr>
          <p:cNvPr id="20" name="">
            <a:extLst xmlns:a="http://schemas.openxmlformats.org/drawingml/2006/main">
              <a:ext uri="{FF2B5EF4-FFF2-40B4-BE49-F238E27FC236}">
                <a16:creationId xmlns:a16="http://schemas.microsoft.com/office/drawing/2014/main" id="{3D947940-8B06-43B2-B2FD-5A5386CF3CE2}"/>
              </a:ext>
            </a:extLst>
          </p:cNvPr>
          <p:cNvSpPr>
            <a:spLocks xmlns:a="http://schemas.openxmlformats.org/drawingml/2006/main" noGrp="1"/>
          </p:cNvSpPr>
          <p:nvPr/>
        </p:nvSpPr>
        <p:spPr>
          <a:xfrm xmlns:a="http://schemas.openxmlformats.org/drawingml/2006/main">
            <a:off x="9410700" y="2971800"/>
            <a:ext cx="2057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425" b="1">
                <a:solidFill>
                  <a:srgbClr val="14233B"/>
                </a:solidFill>
                <a:latin typeface="Arial"/>
                <a:ea typeface="Arial"/>
                <a:cs typeface="Arial"/>
              </a:defRPr>
            </a:defPPr>
          </a:lstStyle>
          <a:p xmlns:a="http://schemas.openxmlformats.org/drawingml/2006/main">
            <a:pPr algn="ctr">
              <a:lnSpc>
                <a:spcPct val="108000"/>
              </a:lnSpc>
              <a:buNone/>
              <a:defRPr sz="1425" b="1">
                <a:solidFill>
                  <a:srgbClr val="14233B"/>
                </a:solidFill>
                <a:latin typeface="Arial"/>
                <a:ea typeface="Arial"/>
                <a:cs typeface="Arial"/>
              </a:defRPr>
            </a:pPr>
            <a:r>
              <a:rPr sz="1425" b="1">
                <a:solidFill>
                  <a:srgbClr val="14233B"/>
                </a:solidFill>
                <a:latin typeface="Arial"/>
                <a:ea typeface="Arial"/>
                <a:cs typeface="Arial"/>
              </a:rPr>
              <a:t>Xác minh theo</a:t>
            </a:r>
          </a:p>
          <a:p xmlns:a="http://schemas.openxmlformats.org/drawingml/2006/main">
            <a:pPr algn="ctr">
              <a:lnSpc>
                <a:spcPct val="108000"/>
              </a:lnSpc>
              <a:buNone/>
              <a:defRPr sz="1425" b="1">
                <a:solidFill>
                  <a:srgbClr val="14233B"/>
                </a:solidFill>
                <a:latin typeface="Arial"/>
                <a:ea typeface="Arial"/>
                <a:cs typeface="Arial"/>
              </a:defRPr>
            </a:pPr>
            <a:r>
              <a:rPr sz="1425" b="1">
                <a:solidFill>
                  <a:srgbClr val="14233B"/>
                </a:solidFill>
                <a:latin typeface="Arial"/>
                <a:ea typeface="Arial"/>
                <a:cs typeface="Arial"/>
              </a:rPr>
              <a:t>đặc tả</a:t>
            </a:r>
          </a:p>
        </p:txBody>
      </p:sp>
      <p:sp>
        <p:nvSpPr>
          <p:cNvPr id="25" name="">
            <a:extLst xmlns:a="http://schemas.openxmlformats.org/drawingml/2006/main">
              <a:ext uri="{FF2B5EF4-FFF2-40B4-BE49-F238E27FC236}">
                <a16:creationId xmlns:a16="http://schemas.microsoft.com/office/drawing/2014/main" id="{27E3533F-88FB-4586-9D5B-2932B5E7E80F}"/>
              </a:ext>
            </a:extLst>
          </p:cNvPr>
          <p:cNvSpPr>
            <a:spLocks xmlns:a="http://schemas.openxmlformats.org/drawingml/2006/main" noGrp="1"/>
          </p:cNvSpPr>
          <p:nvPr/>
        </p:nvSpPr>
        <p:spPr>
          <a:xfrm xmlns:a="http://schemas.openxmlformats.org/drawingml/2006/main">
            <a:off x="3790950" y="4410075"/>
            <a:ext cx="5429250" cy="895350"/>
          </a:xfrm>
          <a:prstGeom xmlns:a="http://schemas.openxmlformats.org/drawingml/2006/main" prst="roundRect">
            <a:avLst>
              <a:gd name="adj" fmla="val 14894"/>
            </a:avLst>
          </a:prstGeom>
          <a:solidFill xmlns:a="http://schemas.openxmlformats.org/drawingml/2006/main">
            <a:srgbClr val="FFFFFF"/>
          </a:solidFill>
          <a:ln xmlns:a="http://schemas.openxmlformats.org/drawingml/2006/main" w="9525">
            <a:solidFill>
              <a:srgbClr val="D8E0EA"/>
            </a:solidFill>
            <a:prstDash val="solid"/>
          </a:ln>
        </p:spPr>
      </p:sp>
      <p:sp>
        <p:nvSpPr>
          <p:cNvPr id="26" name="">
            <a:extLst xmlns:a="http://schemas.openxmlformats.org/drawingml/2006/main">
              <a:ext uri="{FF2B5EF4-FFF2-40B4-BE49-F238E27FC236}">
                <a16:creationId xmlns:a16="http://schemas.microsoft.com/office/drawing/2014/main" id="{20CE88D9-FF5B-428D-827B-A2115E6A801B}"/>
              </a:ext>
            </a:extLst>
          </p:cNvPr>
          <p:cNvSpPr>
            <a:spLocks xmlns:a="http://schemas.openxmlformats.org/drawingml/2006/main" noGrp="1"/>
          </p:cNvSpPr>
          <p:nvPr/>
        </p:nvSpPr>
        <p:spPr>
          <a:xfrm xmlns:a="http://schemas.openxmlformats.org/drawingml/2006/main">
            <a:off x="4000500" y="4543425"/>
            <a:ext cx="5010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1">
                <a:solidFill>
                  <a:srgbClr val="C47A11"/>
                </a:solidFill>
                <a:latin typeface="Arial"/>
                <a:ea typeface="Arial"/>
                <a:cs typeface="Arial"/>
              </a:defRPr>
            </a:defPPr>
          </a:lstStyle>
          <a:p xmlns:a="http://schemas.openxmlformats.org/drawingml/2006/main">
            <a:pPr algn="ctr">
              <a:lnSpc>
                <a:spcPct val="100000"/>
              </a:lnSpc>
              <a:buNone/>
              <a:defRPr sz="1125" b="1">
                <a:solidFill>
                  <a:srgbClr val="C47A11"/>
                </a:solidFill>
                <a:latin typeface="Arial"/>
                <a:ea typeface="Arial"/>
                <a:cs typeface="Arial"/>
              </a:defRPr>
            </a:pPr>
            <a:r>
              <a:rPr sz="1125" b="1">
                <a:solidFill>
                  <a:srgbClr val="C47A11"/>
                </a:solidFill>
                <a:latin typeface="Arial"/>
                <a:ea typeface="Arial"/>
                <a:cs typeface="Arial"/>
              </a:rPr>
              <a:t>NẾU CHƯA XÁC MINH</a:t>
            </a:r>
          </a:p>
        </p:txBody>
      </p:sp>
      <p:sp>
        <p:nvSpPr>
          <p:cNvPr id="27" name="">
            <a:extLst xmlns:a="http://schemas.openxmlformats.org/drawingml/2006/main">
              <a:ext uri="{FF2B5EF4-FFF2-40B4-BE49-F238E27FC236}">
                <a16:creationId xmlns:a16="http://schemas.microsoft.com/office/drawing/2014/main" id="{4B0EED25-BC7E-4F8E-B26C-3FA9088035B7}"/>
              </a:ext>
            </a:extLst>
          </p:cNvPr>
          <p:cNvSpPr>
            <a:spLocks xmlns:a="http://schemas.openxmlformats.org/drawingml/2006/main" noGrp="1"/>
          </p:cNvSpPr>
          <p:nvPr/>
        </p:nvSpPr>
        <p:spPr>
          <a:xfrm xmlns:a="http://schemas.openxmlformats.org/drawingml/2006/main">
            <a:off x="4000500" y="4857750"/>
            <a:ext cx="5010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1">
                <a:solidFill>
                  <a:srgbClr val="14233B"/>
                </a:solidFill>
                <a:latin typeface="Arial"/>
                <a:ea typeface="Arial"/>
                <a:cs typeface="Arial"/>
              </a:defRPr>
            </a:defPPr>
          </a:lstStyle>
          <a:p xmlns:a="http://schemas.openxmlformats.org/drawingml/2006/main">
            <a:pPr algn="ctr">
              <a:lnSpc>
                <a:spcPct val="100000"/>
              </a:lnSpc>
              <a:buNone/>
              <a:defRPr sz="1275" b="1">
                <a:solidFill>
                  <a:srgbClr val="14233B"/>
                </a:solidFill>
                <a:latin typeface="Arial"/>
                <a:ea typeface="Arial"/>
                <a:cs typeface="Arial"/>
              </a:defRPr>
            </a:pPr>
            <a:r>
              <a:rPr sz="1275" b="1">
                <a:solidFill>
                  <a:srgbClr val="14233B"/>
                </a:solidFill>
                <a:latin typeface="Arial"/>
                <a:ea typeface="Arial"/>
                <a:cs typeface="Arial"/>
              </a:rPr>
              <a:t>Diagnostic Parser gửi lỗi cho LLM sửa; lặp tối đa K lượt.</a:t>
            </a:r>
          </a:p>
        </p:txBody>
      </p:sp>
      <p:sp>
        <p:nvSpPr>
          <p:cNvPr id="28" name="">
            <a:extLst xmlns:a="http://schemas.openxmlformats.org/drawingml/2006/main">
              <a:ext uri="{FF2B5EF4-FFF2-40B4-BE49-F238E27FC236}">
                <a16:creationId xmlns:a16="http://schemas.microsoft.com/office/drawing/2014/main" id="{880A0C3C-6BD4-4289-9E2F-EE704D23D0D0}"/>
              </a:ext>
            </a:extLst>
          </p:cNvPr>
          <p:cNvSpPr>
            <a:spLocks xmlns:a="http://schemas.openxmlformats.org/drawingml/2006/main" noGrp="1"/>
          </p:cNvSpPr>
          <p:nvPr/>
        </p:nvSpPr>
        <p:spPr>
          <a:xfrm xmlns:a="http://schemas.openxmlformats.org/drawingml/2006/main">
            <a:off x="10325100" y="4124325"/>
            <a:ext cx="152400" cy="152400"/>
          </a:xfrm>
          <a:prstGeom xmlns:a="http://schemas.openxmlformats.org/drawingml/2006/main" prst="ellipse">
            <a:avLst/>
          </a:prstGeom>
          <a:solidFill xmlns:a="http://schemas.openxmlformats.org/drawingml/2006/main">
            <a:srgbClr val="B54747"/>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41392456-0A17-4B9D-B770-6D359A35319C}"/>
              </a:ext>
            </a:extLst>
          </p:cNvPr>
          <p:cNvSpPr>
            <a:spLocks xmlns:a="http://schemas.openxmlformats.org/drawingml/2006/main" noGrp="1"/>
          </p:cNvSpPr>
          <p:nvPr/>
        </p:nvSpPr>
        <p:spPr>
          <a:xfrm xmlns:a="http://schemas.openxmlformats.org/drawingml/2006/main">
            <a:off x="590550" y="5753100"/>
            <a:ext cx="1095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52647A"/>
                </a:solidFill>
                <a:latin typeface="Arial"/>
                <a:ea typeface="Arial"/>
                <a:cs typeface="Arial"/>
              </a:defRPr>
            </a:defPPr>
          </a:lstStyle>
          <a:p xmlns:a="http://schemas.openxmlformats.org/drawingml/2006/main">
            <a:pPr algn="l">
              <a:lnSpc>
                <a:spcPct val="100000"/>
              </a:lnSpc>
              <a:buNone/>
              <a:defRPr sz="1275" b="1">
                <a:solidFill>
                  <a:srgbClr val="52647A"/>
                </a:solidFill>
                <a:latin typeface="Arial"/>
                <a:ea typeface="Arial"/>
                <a:cs typeface="Arial"/>
              </a:defRPr>
            </a:pPr>
            <a:r>
              <a:rPr sz="1275" b="1">
                <a:solidFill>
                  <a:srgbClr val="52647A"/>
                </a:solidFill>
                <a:latin typeface="Arial"/>
                <a:ea typeface="Arial"/>
                <a:cs typeface="Arial"/>
              </a:rPr>
              <a:t>Verified nghĩa là Dafny xác minh ứng viên theo đặc tả gốc; không xác nhận đặc tả đã đầy đủ.</a:t>
            </a:r>
          </a:p>
        </p:txBody>
      </p:sp>
    </p:spTree>
    <p:extLst>
      <p:ext uri="{BB962C8B-B14F-4D97-AF65-F5344CB8AC3E}">
        <p14:creationId xmlns:p14="http://schemas.microsoft.com/office/powerpoint/2010/main" val="1620501916"/>
      </p:ext>
    </p:extLst>
  </p:cSld>
</p:sld>
</file>

<file path=ppt/slides/slide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B7255A02-12B9-48C3-969A-EA4F39125D87}"/>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563E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A4737D0-6C6F-4740-974C-FF24FC550083}"/>
              </a:ext>
            </a:extLst>
          </p:cNvPr>
          <p:cNvSpPr>
            <a:spLocks xmlns:a="http://schemas.openxmlformats.org/drawingml/2006/main" noGrp="1"/>
          </p:cNvSpPr>
          <p:nvPr/>
        </p:nvSpPr>
        <p:spPr>
          <a:xfrm xmlns:a="http://schemas.openxmlformats.org/drawingml/2006/main">
            <a:off x="590550" y="3238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2563EB"/>
                </a:solidFill>
                <a:latin typeface="Arial"/>
                <a:ea typeface="Arial"/>
                <a:cs typeface="Arial"/>
              </a:defRPr>
            </a:defPPr>
          </a:lstStyle>
          <a:p xmlns:a="http://schemas.openxmlformats.org/drawingml/2006/main">
            <a:pPr algn="l">
              <a:lnSpc>
                <a:spcPct val="100000"/>
              </a:lnSpc>
              <a:buNone/>
              <a:defRPr sz="975" b="1">
                <a:solidFill>
                  <a:srgbClr val="2563EB"/>
                </a:solidFill>
                <a:latin typeface="Arial"/>
                <a:ea typeface="Arial"/>
                <a:cs typeface="Arial"/>
              </a:defRPr>
            </a:pPr>
            <a:r>
              <a:rPr sz="975" b="1">
                <a:solidFill>
                  <a:srgbClr val="2563EB"/>
                </a:solidFill>
                <a:latin typeface="Arial"/>
                <a:ea typeface="Arial"/>
                <a:cs typeface="Arial"/>
              </a:rPr>
              <a:t>NCKH SINH VIÊN 2026</a:t>
            </a:r>
          </a:p>
        </p:txBody>
      </p:sp>
      <p:sp>
        <p:nvSpPr>
          <p:cNvPr id="3" name="">
            <a:extLst xmlns:a="http://schemas.openxmlformats.org/drawingml/2006/main">
              <a:ext uri="{FF2B5EF4-FFF2-40B4-BE49-F238E27FC236}">
                <a16:creationId xmlns:a16="http://schemas.microsoft.com/office/drawing/2014/main" id="{E5AF6018-C994-4DDF-8A74-F9122710B31D}"/>
              </a:ext>
            </a:extLst>
          </p:cNvPr>
          <p:cNvSpPr>
            <a:spLocks xmlns:a="http://schemas.openxmlformats.org/drawingml/2006/main" noGrp="1"/>
          </p:cNvSpPr>
          <p:nvPr/>
        </p:nvSpPr>
        <p:spPr>
          <a:xfrm xmlns:a="http://schemas.openxmlformats.org/drawingml/2006/main">
            <a:off x="590550" y="666750"/>
            <a:ext cx="11010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550" b="1">
                <a:solidFill>
                  <a:srgbClr val="14233B"/>
                </a:solidFill>
                <a:latin typeface="Arial"/>
                <a:ea typeface="Arial"/>
                <a:cs typeface="Arial"/>
              </a:defRPr>
            </a:defPPr>
          </a:lstStyle>
          <a:p xmlns:a="http://schemas.openxmlformats.org/drawingml/2006/main">
            <a:pPr algn="l">
              <a:lnSpc>
                <a:spcPct val="100000"/>
              </a:lnSpc>
              <a:buNone/>
              <a:defRPr sz="2550" b="1">
                <a:solidFill>
                  <a:srgbClr val="14233B"/>
                </a:solidFill>
                <a:latin typeface="Arial"/>
                <a:ea typeface="Arial"/>
                <a:cs typeface="Arial"/>
              </a:defRPr>
            </a:pPr>
            <a:r>
              <a:rPr sz="2550" b="1">
                <a:solidFill>
                  <a:srgbClr val="14233B"/>
                </a:solidFill>
                <a:latin typeface="Arial"/>
                <a:ea typeface="Arial"/>
                <a:cs typeface="Arial"/>
              </a:rPr>
              <a:t>Prototype và kết quả chạy thử</a:t>
            </a:r>
          </a:p>
        </p:txBody>
      </p:sp>
      <p:sp>
        <p:nvSpPr>
          <p:cNvPr id="4" name="">
            <a:extLst xmlns:a="http://schemas.openxmlformats.org/drawingml/2006/main">
              <a:ext uri="{FF2B5EF4-FFF2-40B4-BE49-F238E27FC236}">
                <a16:creationId xmlns:a16="http://schemas.microsoft.com/office/drawing/2014/main" id="{6CD6E9A1-8D70-4DF0-A960-3A52286E7741}"/>
              </a:ext>
            </a:extLst>
          </p:cNvPr>
          <p:cNvSpPr>
            <a:spLocks xmlns:a="http://schemas.openxmlformats.org/drawingml/2006/main" noGrp="1"/>
          </p:cNvSpPr>
          <p:nvPr/>
        </p:nvSpPr>
        <p:spPr>
          <a:xfrm xmlns:a="http://schemas.openxmlformats.org/drawingml/2006/main">
            <a:off x="590550" y="1304925"/>
            <a:ext cx="110109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5" name="">
            <a:extLst xmlns:a="http://schemas.openxmlformats.org/drawingml/2006/main">
              <a:ext uri="{FF2B5EF4-FFF2-40B4-BE49-F238E27FC236}">
                <a16:creationId xmlns:a16="http://schemas.microsoft.com/office/drawing/2014/main" id="{1DB85EDA-FBC9-48B0-A10D-2FF1F77AEC29}"/>
              </a:ext>
            </a:extLst>
          </p:cNvPr>
          <p:cNvSpPr>
            <a:spLocks xmlns:a="http://schemas.openxmlformats.org/drawingml/2006/main" noGrp="1"/>
          </p:cNvSpPr>
          <p:nvPr/>
        </p:nvSpPr>
        <p:spPr>
          <a:xfrm xmlns:a="http://schemas.openxmlformats.org/drawingml/2006/main">
            <a:off x="10572750" y="6438900"/>
            <a:ext cx="1028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52647A"/>
                </a:solidFill>
                <a:latin typeface="Arial"/>
                <a:ea typeface="Arial"/>
                <a:cs typeface="Arial"/>
              </a:defRPr>
            </a:defPPr>
          </a:lstStyle>
          <a:p xmlns:a="http://schemas.openxmlformats.org/drawingml/2006/main">
            <a:pPr algn="r">
              <a:lnSpc>
                <a:spcPct val="100000"/>
              </a:lnSpc>
              <a:buNone/>
              <a:defRPr sz="975" b="1">
                <a:solidFill>
                  <a:srgbClr val="52647A"/>
                </a:solidFill>
                <a:latin typeface="Arial"/>
                <a:ea typeface="Arial"/>
                <a:cs typeface="Arial"/>
              </a:defRPr>
            </a:pPr>
            <a:r>
              <a:rPr sz="975" b="1">
                <a:solidFill>
                  <a:srgbClr val="52647A"/>
                </a:solidFill>
                <a:latin typeface="Arial"/>
                <a:ea typeface="Arial"/>
                <a:cs typeface="Arial"/>
              </a:rPr>
              <a:t>05  /  07</a:t>
            </a:r>
          </a:p>
        </p:txBody>
      </p:sp>
      <p:sp>
        <p:nvSpPr>
          <p:cNvPr id="6" name="">
            <a:extLst xmlns:a="http://schemas.openxmlformats.org/drawingml/2006/main">
              <a:ext uri="{FF2B5EF4-FFF2-40B4-BE49-F238E27FC236}">
                <a16:creationId xmlns:a16="http://schemas.microsoft.com/office/drawing/2014/main" id="{75F4A26B-B486-49B1-8747-B2F802D130D7}"/>
              </a:ext>
            </a:extLst>
          </p:cNvPr>
          <p:cNvSpPr>
            <a:spLocks xmlns:a="http://schemas.openxmlformats.org/drawingml/2006/main" noGrp="1"/>
          </p:cNvSpPr>
          <p:nvPr/>
        </p:nvSpPr>
        <p:spPr>
          <a:xfrm xmlns:a="http://schemas.openxmlformats.org/drawingml/2006/main">
            <a:off x="590550" y="1495425"/>
            <a:ext cx="10839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52647A"/>
                </a:solidFill>
                <a:latin typeface="Arial"/>
                <a:ea typeface="Arial"/>
                <a:cs typeface="Arial"/>
              </a:defRPr>
            </a:defPPr>
          </a:lstStyle>
          <a:p xmlns:a="http://schemas.openxmlformats.org/drawingml/2006/main">
            <a:pPr algn="l">
              <a:lnSpc>
                <a:spcPct val="100000"/>
              </a:lnSpc>
              <a:buNone/>
              <a:defRPr sz="1200" b="1">
                <a:solidFill>
                  <a:srgbClr val="52647A"/>
                </a:solidFill>
                <a:latin typeface="Arial"/>
                <a:ea typeface="Arial"/>
                <a:cs typeface="Arial"/>
              </a:defRPr>
            </a:pPr>
            <a:r>
              <a:rPr sz="1200" b="1">
                <a:solidFill>
                  <a:srgbClr val="52647A"/>
                </a:solidFill>
                <a:latin typeface="Arial"/>
                <a:ea typeface="Arial"/>
                <a:cs typeface="Arial"/>
              </a:rPr>
              <a:t>Lần chạy gần nhất · 15/10/2026 17:14  ·  Qwen2.5-Coder-7B · 30 bài · K=3</a:t>
            </a:r>
          </a:p>
        </p:txBody>
      </p:sp>
      <p:sp>
        <p:nvSpPr>
          <p:cNvPr id="7" name="">
            <a:extLst xmlns:a="http://schemas.openxmlformats.org/drawingml/2006/main">
              <a:ext uri="{FF2B5EF4-FFF2-40B4-BE49-F238E27FC236}">
                <a16:creationId xmlns:a16="http://schemas.microsoft.com/office/drawing/2014/main" id="{579D9788-4EBA-4F0D-90BD-A5323DDD637E}"/>
              </a:ext>
            </a:extLst>
          </p:cNvPr>
          <p:cNvSpPr>
            <a:spLocks xmlns:a="http://schemas.openxmlformats.org/drawingml/2006/main" noGrp="1"/>
          </p:cNvSpPr>
          <p:nvPr/>
        </p:nvSpPr>
        <p:spPr>
          <a:xfrm xmlns:a="http://schemas.openxmlformats.org/drawingml/2006/main">
            <a:off x="590550" y="2038350"/>
            <a:ext cx="2333625" cy="1238250"/>
          </a:xfrm>
          <a:prstGeom xmlns:a="http://schemas.openxmlformats.org/drawingml/2006/main" prst="roundRect">
            <a:avLst>
              <a:gd name="adj" fmla="val 10769"/>
            </a:avLst>
          </a:prstGeom>
          <a:solidFill xmlns:a="http://schemas.openxmlformats.org/drawingml/2006/main">
            <a:srgbClr val="E4F4E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55A4014-8191-4735-800E-6A3FDE74A0DE}"/>
              </a:ext>
            </a:extLst>
          </p:cNvPr>
          <p:cNvSpPr>
            <a:spLocks xmlns:a="http://schemas.openxmlformats.org/drawingml/2006/main" noGrp="1"/>
          </p:cNvSpPr>
          <p:nvPr/>
        </p:nvSpPr>
        <p:spPr>
          <a:xfrm xmlns:a="http://schemas.openxmlformats.org/drawingml/2006/main">
            <a:off x="742950" y="2152650"/>
            <a:ext cx="20288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250" b="1">
                <a:solidFill>
                  <a:srgbClr val="23805A"/>
                </a:solidFill>
                <a:latin typeface="Arial"/>
                <a:ea typeface="Arial"/>
                <a:cs typeface="Arial"/>
              </a:defRPr>
            </a:defPPr>
          </a:lstStyle>
          <a:p xmlns:a="http://schemas.openxmlformats.org/drawingml/2006/main">
            <a:pPr algn="ctr">
              <a:lnSpc>
                <a:spcPct val="100000"/>
              </a:lnSpc>
              <a:buNone/>
              <a:defRPr sz="2250" b="1">
                <a:solidFill>
                  <a:srgbClr val="23805A"/>
                </a:solidFill>
                <a:latin typeface="Arial"/>
                <a:ea typeface="Arial"/>
                <a:cs typeface="Arial"/>
              </a:defRPr>
            </a:pPr>
            <a:r>
              <a:rPr sz="2250" b="1">
                <a:solidFill>
                  <a:srgbClr val="23805A"/>
                </a:solidFill>
                <a:latin typeface="Arial"/>
                <a:ea typeface="Arial"/>
                <a:cs typeface="Arial"/>
              </a:rPr>
              <a:t>29 / 30</a:t>
            </a:r>
          </a:p>
        </p:txBody>
      </p:sp>
      <p:sp>
        <p:nvSpPr>
          <p:cNvPr id="9" name="">
            <a:extLst xmlns:a="http://schemas.openxmlformats.org/drawingml/2006/main">
              <a:ext uri="{FF2B5EF4-FFF2-40B4-BE49-F238E27FC236}">
                <a16:creationId xmlns:a16="http://schemas.microsoft.com/office/drawing/2014/main" id="{30D7DA51-2AA0-4BBA-A9A3-E4F4B066C3D5}"/>
              </a:ext>
            </a:extLst>
          </p:cNvPr>
          <p:cNvSpPr>
            <a:spLocks xmlns:a="http://schemas.openxmlformats.org/drawingml/2006/main" noGrp="1"/>
          </p:cNvSpPr>
          <p:nvPr/>
        </p:nvSpPr>
        <p:spPr>
          <a:xfrm xmlns:a="http://schemas.openxmlformats.org/drawingml/2006/main">
            <a:off x="704850" y="2571750"/>
            <a:ext cx="21050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1">
                <a:solidFill>
                  <a:srgbClr val="14233B"/>
                </a:solidFill>
                <a:latin typeface="Arial"/>
                <a:ea typeface="Arial"/>
                <a:cs typeface="Arial"/>
              </a:defRPr>
            </a:defPPr>
          </a:lstStyle>
          <a:p xmlns:a="http://schemas.openxmlformats.org/drawingml/2006/main">
            <a:pPr algn="ctr">
              <a:lnSpc>
                <a:spcPct val="100000"/>
              </a:lnSpc>
              <a:buNone/>
              <a:defRPr sz="1200" b="1">
                <a:solidFill>
                  <a:srgbClr val="14233B"/>
                </a:solidFill>
                <a:latin typeface="Arial"/>
                <a:ea typeface="Arial"/>
                <a:cs typeface="Arial"/>
              </a:defRPr>
            </a:pPr>
            <a:r>
              <a:rPr sz="1200" b="1">
                <a:solidFill>
                  <a:srgbClr val="14233B"/>
                </a:solidFill>
                <a:latin typeface="Arial"/>
                <a:ea typeface="Arial"/>
                <a:cs typeface="Arial"/>
              </a:rPr>
              <a:t>được xác minh</a:t>
            </a:r>
          </a:p>
        </p:txBody>
      </p:sp>
      <p:sp>
        <p:nvSpPr>
          <p:cNvPr id="10" name="">
            <a:extLst xmlns:a="http://schemas.openxmlformats.org/drawingml/2006/main">
              <a:ext uri="{FF2B5EF4-FFF2-40B4-BE49-F238E27FC236}">
                <a16:creationId xmlns:a16="http://schemas.microsoft.com/office/drawing/2014/main" id="{B552EED1-A696-4022-B652-E7B68F6085D0}"/>
              </a:ext>
            </a:extLst>
          </p:cNvPr>
          <p:cNvSpPr>
            <a:spLocks xmlns:a="http://schemas.openxmlformats.org/drawingml/2006/main" noGrp="1"/>
          </p:cNvSpPr>
          <p:nvPr/>
        </p:nvSpPr>
        <p:spPr>
          <a:xfrm xmlns:a="http://schemas.openxmlformats.org/drawingml/2006/main">
            <a:off x="685800" y="2876550"/>
            <a:ext cx="2143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0">
                <a:solidFill>
                  <a:srgbClr val="52647A"/>
                </a:solidFill>
                <a:latin typeface="Arial"/>
                <a:ea typeface="Arial"/>
                <a:cs typeface="Arial"/>
              </a:defRPr>
            </a:defPPr>
          </a:lstStyle>
          <a:p xmlns:a="http://schemas.openxmlformats.org/drawingml/2006/main">
            <a:pPr algn="ctr">
              <a:lnSpc>
                <a:spcPct val="100000"/>
              </a:lnSpc>
              <a:buNone/>
              <a:defRPr sz="1050" b="0">
                <a:solidFill>
                  <a:srgbClr val="52647A"/>
                </a:solidFill>
                <a:latin typeface="Arial"/>
                <a:ea typeface="Arial"/>
                <a:cs typeface="Arial"/>
              </a:defRPr>
            </a:pPr>
            <a:r>
              <a:rPr sz="1050" b="0">
                <a:solidFill>
                  <a:srgbClr val="52647A"/>
                </a:solidFill>
                <a:latin typeface="Arial"/>
                <a:ea typeface="Arial"/>
                <a:cs typeface="Arial"/>
              </a:rPr>
              <a:t>Pass@K = 96,7%</a:t>
            </a:r>
          </a:p>
        </p:txBody>
      </p:sp>
      <p:sp>
        <p:nvSpPr>
          <p:cNvPr id="11" name="">
            <a:extLst xmlns:a="http://schemas.openxmlformats.org/drawingml/2006/main">
              <a:ext uri="{FF2B5EF4-FFF2-40B4-BE49-F238E27FC236}">
                <a16:creationId xmlns:a16="http://schemas.microsoft.com/office/drawing/2014/main" id="{479F10AC-3223-4EC5-838C-E235059ADB01}"/>
              </a:ext>
            </a:extLst>
          </p:cNvPr>
          <p:cNvSpPr>
            <a:spLocks xmlns:a="http://schemas.openxmlformats.org/drawingml/2006/main" noGrp="1"/>
          </p:cNvSpPr>
          <p:nvPr/>
        </p:nvSpPr>
        <p:spPr>
          <a:xfrm xmlns:a="http://schemas.openxmlformats.org/drawingml/2006/main">
            <a:off x="3095625" y="2038350"/>
            <a:ext cx="2333625" cy="1238250"/>
          </a:xfrm>
          <a:prstGeom xmlns:a="http://schemas.openxmlformats.org/drawingml/2006/main" prst="roundRect">
            <a:avLst>
              <a:gd name="adj" fmla="val 10769"/>
            </a:avLst>
          </a:prstGeom>
          <a:solidFill xmlns:a="http://schemas.openxmlformats.org/drawingml/2006/main">
            <a:srgbClr val="E8F0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125EDE2-5CA9-49A0-9FAA-FD623C69F8D9}"/>
              </a:ext>
            </a:extLst>
          </p:cNvPr>
          <p:cNvSpPr>
            <a:spLocks xmlns:a="http://schemas.openxmlformats.org/drawingml/2006/main" noGrp="1"/>
          </p:cNvSpPr>
          <p:nvPr/>
        </p:nvSpPr>
        <p:spPr>
          <a:xfrm xmlns:a="http://schemas.openxmlformats.org/drawingml/2006/main">
            <a:off x="3248025" y="2152650"/>
            <a:ext cx="20288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250" b="1">
                <a:solidFill>
                  <a:srgbClr val="2563EB"/>
                </a:solidFill>
                <a:latin typeface="Arial"/>
                <a:ea typeface="Arial"/>
                <a:cs typeface="Arial"/>
              </a:defRPr>
            </a:defPPr>
          </a:lstStyle>
          <a:p xmlns:a="http://schemas.openxmlformats.org/drawingml/2006/main">
            <a:pPr algn="ctr">
              <a:lnSpc>
                <a:spcPct val="100000"/>
              </a:lnSpc>
              <a:buNone/>
              <a:defRPr sz="2250" b="1">
                <a:solidFill>
                  <a:srgbClr val="2563EB"/>
                </a:solidFill>
                <a:latin typeface="Arial"/>
                <a:ea typeface="Arial"/>
                <a:cs typeface="Arial"/>
              </a:defRPr>
            </a:pPr>
            <a:r>
              <a:rPr sz="2250" b="1">
                <a:solidFill>
                  <a:srgbClr val="2563EB"/>
                </a:solidFill>
                <a:latin typeface="Arial"/>
                <a:ea typeface="Arial"/>
                <a:cs typeface="Arial"/>
              </a:rPr>
              <a:t>28 / 30</a:t>
            </a:r>
          </a:p>
        </p:txBody>
      </p:sp>
      <p:sp>
        <p:nvSpPr>
          <p:cNvPr id="13" name="">
            <a:extLst xmlns:a="http://schemas.openxmlformats.org/drawingml/2006/main">
              <a:ext uri="{FF2B5EF4-FFF2-40B4-BE49-F238E27FC236}">
                <a16:creationId xmlns:a16="http://schemas.microsoft.com/office/drawing/2014/main" id="{0CA8302E-A00C-43FA-9C25-9D10DB60AB89}"/>
              </a:ext>
            </a:extLst>
          </p:cNvPr>
          <p:cNvSpPr>
            <a:spLocks xmlns:a="http://schemas.openxmlformats.org/drawingml/2006/main" noGrp="1"/>
          </p:cNvSpPr>
          <p:nvPr/>
        </p:nvSpPr>
        <p:spPr>
          <a:xfrm xmlns:a="http://schemas.openxmlformats.org/drawingml/2006/main">
            <a:off x="3209925" y="2571750"/>
            <a:ext cx="21050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1">
                <a:solidFill>
                  <a:srgbClr val="14233B"/>
                </a:solidFill>
                <a:latin typeface="Arial"/>
                <a:ea typeface="Arial"/>
                <a:cs typeface="Arial"/>
              </a:defRPr>
            </a:defPPr>
          </a:lstStyle>
          <a:p xmlns:a="http://schemas.openxmlformats.org/drawingml/2006/main">
            <a:pPr algn="ctr">
              <a:lnSpc>
                <a:spcPct val="100000"/>
              </a:lnSpc>
              <a:buNone/>
              <a:defRPr sz="1200" b="1">
                <a:solidFill>
                  <a:srgbClr val="14233B"/>
                </a:solidFill>
                <a:latin typeface="Arial"/>
                <a:ea typeface="Arial"/>
                <a:cs typeface="Arial"/>
              </a:defRPr>
            </a:pPr>
            <a:r>
              <a:rPr sz="1200" b="1">
                <a:solidFill>
                  <a:srgbClr val="14233B"/>
                </a:solidFill>
                <a:latin typeface="Arial"/>
                <a:ea typeface="Arial"/>
                <a:cs typeface="Arial"/>
              </a:rPr>
              <a:t>đạt ở lượt đầu</a:t>
            </a:r>
          </a:p>
        </p:txBody>
      </p:sp>
      <p:sp>
        <p:nvSpPr>
          <p:cNvPr id="14" name="">
            <a:extLst xmlns:a="http://schemas.openxmlformats.org/drawingml/2006/main">
              <a:ext uri="{FF2B5EF4-FFF2-40B4-BE49-F238E27FC236}">
                <a16:creationId xmlns:a16="http://schemas.microsoft.com/office/drawing/2014/main" id="{15785C82-B0B3-48E2-B904-2E95E4BCF00E}"/>
              </a:ext>
            </a:extLst>
          </p:cNvPr>
          <p:cNvSpPr>
            <a:spLocks xmlns:a="http://schemas.openxmlformats.org/drawingml/2006/main" noGrp="1"/>
          </p:cNvSpPr>
          <p:nvPr/>
        </p:nvSpPr>
        <p:spPr>
          <a:xfrm xmlns:a="http://schemas.openxmlformats.org/drawingml/2006/main">
            <a:off x="3190875" y="2876550"/>
            <a:ext cx="2143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0">
                <a:solidFill>
                  <a:srgbClr val="52647A"/>
                </a:solidFill>
                <a:latin typeface="Arial"/>
                <a:ea typeface="Arial"/>
                <a:cs typeface="Arial"/>
              </a:defRPr>
            </a:defPPr>
          </a:lstStyle>
          <a:p xmlns:a="http://schemas.openxmlformats.org/drawingml/2006/main">
            <a:pPr algn="ctr">
              <a:lnSpc>
                <a:spcPct val="100000"/>
              </a:lnSpc>
              <a:buNone/>
              <a:defRPr sz="1050" b="0">
                <a:solidFill>
                  <a:srgbClr val="52647A"/>
                </a:solidFill>
                <a:latin typeface="Arial"/>
                <a:ea typeface="Arial"/>
                <a:cs typeface="Arial"/>
              </a:defRPr>
            </a:pPr>
            <a:r>
              <a:rPr sz="1050" b="0">
                <a:solidFill>
                  <a:srgbClr val="52647A"/>
                </a:solidFill>
                <a:latin typeface="Arial"/>
                <a:ea typeface="Arial"/>
                <a:cs typeface="Arial"/>
              </a:rPr>
              <a:t>Pass@1 = 93,3%</a:t>
            </a:r>
          </a:p>
        </p:txBody>
      </p:sp>
      <p:sp>
        <p:nvSpPr>
          <p:cNvPr id="15" name="">
            <a:extLst xmlns:a="http://schemas.openxmlformats.org/drawingml/2006/main">
              <a:ext uri="{FF2B5EF4-FFF2-40B4-BE49-F238E27FC236}">
                <a16:creationId xmlns:a16="http://schemas.microsoft.com/office/drawing/2014/main" id="{8A58336F-5225-46AD-9451-0BECE43DEA2C}"/>
              </a:ext>
            </a:extLst>
          </p:cNvPr>
          <p:cNvSpPr>
            <a:spLocks xmlns:a="http://schemas.openxmlformats.org/drawingml/2006/main" noGrp="1"/>
          </p:cNvSpPr>
          <p:nvPr/>
        </p:nvSpPr>
        <p:spPr>
          <a:xfrm xmlns:a="http://schemas.openxmlformats.org/drawingml/2006/main">
            <a:off x="5600700" y="2038350"/>
            <a:ext cx="2333625" cy="1238250"/>
          </a:xfrm>
          <a:prstGeom xmlns:a="http://schemas.openxmlformats.org/drawingml/2006/main" prst="roundRect">
            <a:avLst>
              <a:gd name="adj" fmla="val 10769"/>
            </a:avLst>
          </a:prstGeom>
          <a:solidFill xmlns:a="http://schemas.openxmlformats.org/drawingml/2006/main">
            <a:srgbClr val="E3F5F3"/>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1ACCBFDF-4DB8-47C2-872B-1E25CC48EC6A}"/>
              </a:ext>
            </a:extLst>
          </p:cNvPr>
          <p:cNvSpPr>
            <a:spLocks xmlns:a="http://schemas.openxmlformats.org/drawingml/2006/main" noGrp="1"/>
          </p:cNvSpPr>
          <p:nvPr/>
        </p:nvSpPr>
        <p:spPr>
          <a:xfrm xmlns:a="http://schemas.openxmlformats.org/drawingml/2006/main">
            <a:off x="5753100" y="2152650"/>
            <a:ext cx="20288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250" b="1">
                <a:solidFill>
                  <a:srgbClr val="0F8B8D"/>
                </a:solidFill>
                <a:latin typeface="Arial"/>
                <a:ea typeface="Arial"/>
                <a:cs typeface="Arial"/>
              </a:defRPr>
            </a:defPPr>
          </a:lstStyle>
          <a:p xmlns:a="http://schemas.openxmlformats.org/drawingml/2006/main">
            <a:pPr algn="ctr">
              <a:lnSpc>
                <a:spcPct val="100000"/>
              </a:lnSpc>
              <a:buNone/>
              <a:defRPr sz="2250" b="1">
                <a:solidFill>
                  <a:srgbClr val="0F8B8D"/>
                </a:solidFill>
                <a:latin typeface="Arial"/>
                <a:ea typeface="Arial"/>
                <a:cs typeface="Arial"/>
              </a:defRPr>
            </a:pPr>
            <a:r>
              <a:rPr sz="2250" b="1">
                <a:solidFill>
                  <a:srgbClr val="0F8B8D"/>
                </a:solidFill>
                <a:latin typeface="Arial"/>
                <a:ea typeface="Arial"/>
                <a:cs typeface="Arial"/>
              </a:rPr>
              <a:t>1 bài</a:t>
            </a:r>
          </a:p>
        </p:txBody>
      </p:sp>
      <p:sp>
        <p:nvSpPr>
          <p:cNvPr id="17" name="">
            <a:extLst xmlns:a="http://schemas.openxmlformats.org/drawingml/2006/main">
              <a:ext uri="{FF2B5EF4-FFF2-40B4-BE49-F238E27FC236}">
                <a16:creationId xmlns:a16="http://schemas.microsoft.com/office/drawing/2014/main" id="{E8CC6F84-7AFC-4403-9A9A-EBC5ABA09286}"/>
              </a:ext>
            </a:extLst>
          </p:cNvPr>
          <p:cNvSpPr>
            <a:spLocks xmlns:a="http://schemas.openxmlformats.org/drawingml/2006/main" noGrp="1"/>
          </p:cNvSpPr>
          <p:nvPr/>
        </p:nvSpPr>
        <p:spPr>
          <a:xfrm xmlns:a="http://schemas.openxmlformats.org/drawingml/2006/main">
            <a:off x="5715000" y="2571750"/>
            <a:ext cx="21050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1">
                <a:solidFill>
                  <a:srgbClr val="14233B"/>
                </a:solidFill>
                <a:latin typeface="Arial"/>
                <a:ea typeface="Arial"/>
                <a:cs typeface="Arial"/>
              </a:defRPr>
            </a:defPPr>
          </a:lstStyle>
          <a:p xmlns:a="http://schemas.openxmlformats.org/drawingml/2006/main">
            <a:pPr algn="ctr">
              <a:lnSpc>
                <a:spcPct val="100000"/>
              </a:lnSpc>
              <a:buNone/>
              <a:defRPr sz="1200" b="1">
                <a:solidFill>
                  <a:srgbClr val="14233B"/>
                </a:solidFill>
                <a:latin typeface="Arial"/>
                <a:ea typeface="Arial"/>
                <a:cs typeface="Arial"/>
              </a:defRPr>
            </a:pPr>
            <a:r>
              <a:rPr sz="1200" b="1">
                <a:solidFill>
                  <a:srgbClr val="14233B"/>
                </a:solidFill>
                <a:latin typeface="Arial"/>
                <a:ea typeface="Arial"/>
                <a:cs typeface="Arial"/>
              </a:rPr>
              <a:t>đạt sau sửa</a:t>
            </a:r>
          </a:p>
        </p:txBody>
      </p:sp>
      <p:sp>
        <p:nvSpPr>
          <p:cNvPr id="18" name="">
            <a:extLst xmlns:a="http://schemas.openxmlformats.org/drawingml/2006/main">
              <a:ext uri="{FF2B5EF4-FFF2-40B4-BE49-F238E27FC236}">
                <a16:creationId xmlns:a16="http://schemas.microsoft.com/office/drawing/2014/main" id="{695DD684-EC29-4C4D-932D-CBB2CECD55E9}"/>
              </a:ext>
            </a:extLst>
          </p:cNvPr>
          <p:cNvSpPr>
            <a:spLocks xmlns:a="http://schemas.openxmlformats.org/drawingml/2006/main" noGrp="1"/>
          </p:cNvSpPr>
          <p:nvPr/>
        </p:nvSpPr>
        <p:spPr>
          <a:xfrm xmlns:a="http://schemas.openxmlformats.org/drawingml/2006/main">
            <a:off x="5695950" y="2876550"/>
            <a:ext cx="2143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0">
                <a:solidFill>
                  <a:srgbClr val="52647A"/>
                </a:solidFill>
                <a:latin typeface="Arial"/>
                <a:ea typeface="Arial"/>
                <a:cs typeface="Arial"/>
              </a:defRPr>
            </a:defPPr>
          </a:lstStyle>
          <a:p xmlns:a="http://schemas.openxmlformats.org/drawingml/2006/main">
            <a:pPr algn="ctr">
              <a:lnSpc>
                <a:spcPct val="100000"/>
              </a:lnSpc>
              <a:buNone/>
              <a:defRPr sz="1050" b="0">
                <a:solidFill>
                  <a:srgbClr val="52647A"/>
                </a:solidFill>
                <a:latin typeface="Arial"/>
                <a:ea typeface="Arial"/>
                <a:cs typeface="Arial"/>
              </a:defRPr>
            </a:pPr>
            <a:r>
              <a:rPr sz="1050" b="0">
                <a:solidFill>
                  <a:srgbClr val="52647A"/>
                </a:solidFill>
                <a:latin typeface="Arial"/>
                <a:ea typeface="Arial"/>
                <a:cs typeface="Arial"/>
              </a:rPr>
              <a:t>031-is-prime · lượt 2</a:t>
            </a:r>
          </a:p>
        </p:txBody>
      </p:sp>
      <p:sp>
        <p:nvSpPr>
          <p:cNvPr id="19" name="">
            <a:extLst xmlns:a="http://schemas.openxmlformats.org/drawingml/2006/main">
              <a:ext uri="{FF2B5EF4-FFF2-40B4-BE49-F238E27FC236}">
                <a16:creationId xmlns:a16="http://schemas.microsoft.com/office/drawing/2014/main" id="{B4D257A2-FF36-4ECA-BDC5-64925876D66C}"/>
              </a:ext>
            </a:extLst>
          </p:cNvPr>
          <p:cNvSpPr>
            <a:spLocks xmlns:a="http://schemas.openxmlformats.org/drawingml/2006/main" noGrp="1"/>
          </p:cNvSpPr>
          <p:nvPr/>
        </p:nvSpPr>
        <p:spPr>
          <a:xfrm xmlns:a="http://schemas.openxmlformats.org/drawingml/2006/main">
            <a:off x="8105775" y="2038350"/>
            <a:ext cx="2333625" cy="1238250"/>
          </a:xfrm>
          <a:prstGeom xmlns:a="http://schemas.openxmlformats.org/drawingml/2006/main" prst="roundRect">
            <a:avLst>
              <a:gd name="adj" fmla="val 10769"/>
            </a:avLst>
          </a:prstGeom>
          <a:solidFill xmlns:a="http://schemas.openxmlformats.org/drawingml/2006/main">
            <a:srgbClr val="FFF2D9"/>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E4B6FCF-CBE4-43FC-B140-804BC0BA305C}"/>
              </a:ext>
            </a:extLst>
          </p:cNvPr>
          <p:cNvSpPr>
            <a:spLocks xmlns:a="http://schemas.openxmlformats.org/drawingml/2006/main" noGrp="1"/>
          </p:cNvSpPr>
          <p:nvPr/>
        </p:nvSpPr>
        <p:spPr>
          <a:xfrm xmlns:a="http://schemas.openxmlformats.org/drawingml/2006/main">
            <a:off x="8258175" y="2152650"/>
            <a:ext cx="20288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250" b="1">
                <a:solidFill>
                  <a:srgbClr val="C47A11"/>
                </a:solidFill>
                <a:latin typeface="Arial"/>
                <a:ea typeface="Arial"/>
                <a:cs typeface="Arial"/>
              </a:defRPr>
            </a:defPPr>
          </a:lstStyle>
          <a:p xmlns:a="http://schemas.openxmlformats.org/drawingml/2006/main">
            <a:pPr algn="ctr">
              <a:lnSpc>
                <a:spcPct val="100000"/>
              </a:lnSpc>
              <a:buNone/>
              <a:defRPr sz="2250" b="1">
                <a:solidFill>
                  <a:srgbClr val="C47A11"/>
                </a:solidFill>
                <a:latin typeface="Arial"/>
                <a:ea typeface="Arial"/>
                <a:cs typeface="Arial"/>
              </a:defRPr>
            </a:pPr>
            <a:r>
              <a:rPr sz="2250" b="1">
                <a:solidFill>
                  <a:srgbClr val="C47A11"/>
                </a:solidFill>
                <a:latin typeface="Arial"/>
                <a:ea typeface="Arial"/>
                <a:cs typeface="Arial"/>
              </a:rPr>
              <a:t>1 bài</a:t>
            </a:r>
          </a:p>
        </p:txBody>
      </p:sp>
      <p:sp>
        <p:nvSpPr>
          <p:cNvPr id="21" name="">
            <a:extLst xmlns:a="http://schemas.openxmlformats.org/drawingml/2006/main">
              <a:ext uri="{FF2B5EF4-FFF2-40B4-BE49-F238E27FC236}">
                <a16:creationId xmlns:a16="http://schemas.microsoft.com/office/drawing/2014/main" id="{DB3F56CD-0130-445C-B3D5-4714D4A8649C}"/>
              </a:ext>
            </a:extLst>
          </p:cNvPr>
          <p:cNvSpPr>
            <a:spLocks xmlns:a="http://schemas.openxmlformats.org/drawingml/2006/main" noGrp="1"/>
          </p:cNvSpPr>
          <p:nvPr/>
        </p:nvSpPr>
        <p:spPr>
          <a:xfrm xmlns:a="http://schemas.openxmlformats.org/drawingml/2006/main">
            <a:off x="8220075" y="2571750"/>
            <a:ext cx="21050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1">
                <a:solidFill>
                  <a:srgbClr val="14233B"/>
                </a:solidFill>
                <a:latin typeface="Arial"/>
                <a:ea typeface="Arial"/>
                <a:cs typeface="Arial"/>
              </a:defRPr>
            </a:defPPr>
          </a:lstStyle>
          <a:p xmlns:a="http://schemas.openxmlformats.org/drawingml/2006/main">
            <a:pPr algn="ctr">
              <a:lnSpc>
                <a:spcPct val="100000"/>
              </a:lnSpc>
              <a:buNone/>
              <a:defRPr sz="1200" b="1">
                <a:solidFill>
                  <a:srgbClr val="14233B"/>
                </a:solidFill>
                <a:latin typeface="Arial"/>
                <a:ea typeface="Arial"/>
                <a:cs typeface="Arial"/>
              </a:defRPr>
            </a:pPr>
            <a:r>
              <a:rPr sz="1200" b="1">
                <a:solidFill>
                  <a:srgbClr val="14233B"/>
                </a:solidFill>
                <a:latin typeface="Arial"/>
                <a:ea typeface="Arial"/>
                <a:cs typeface="Arial"/>
              </a:rPr>
              <a:t>chưa đạt sau K=3</a:t>
            </a:r>
          </a:p>
        </p:txBody>
      </p:sp>
      <p:sp>
        <p:nvSpPr>
          <p:cNvPr id="22" name="">
            <a:extLst xmlns:a="http://schemas.openxmlformats.org/drawingml/2006/main">
              <a:ext uri="{FF2B5EF4-FFF2-40B4-BE49-F238E27FC236}">
                <a16:creationId xmlns:a16="http://schemas.microsoft.com/office/drawing/2014/main" id="{F14DAA28-A641-4275-BD25-7A00674D8AB0}"/>
              </a:ext>
            </a:extLst>
          </p:cNvPr>
          <p:cNvSpPr>
            <a:spLocks xmlns:a="http://schemas.openxmlformats.org/drawingml/2006/main" noGrp="1"/>
          </p:cNvSpPr>
          <p:nvPr/>
        </p:nvSpPr>
        <p:spPr>
          <a:xfrm xmlns:a="http://schemas.openxmlformats.org/drawingml/2006/main">
            <a:off x="8201025" y="2876550"/>
            <a:ext cx="2143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0">
                <a:solidFill>
                  <a:srgbClr val="52647A"/>
                </a:solidFill>
                <a:latin typeface="Arial"/>
                <a:ea typeface="Arial"/>
                <a:cs typeface="Arial"/>
              </a:defRPr>
            </a:defPPr>
          </a:lstStyle>
          <a:p xmlns:a="http://schemas.openxmlformats.org/drawingml/2006/main">
            <a:pPr algn="ctr">
              <a:lnSpc>
                <a:spcPct val="100000"/>
              </a:lnSpc>
              <a:buNone/>
              <a:defRPr sz="1050" b="0">
                <a:solidFill>
                  <a:srgbClr val="52647A"/>
                </a:solidFill>
                <a:latin typeface="Arial"/>
                <a:ea typeface="Arial"/>
                <a:cs typeface="Arial"/>
              </a:defRPr>
            </a:pPr>
            <a:r>
              <a:rPr sz="1050" b="0">
                <a:solidFill>
                  <a:srgbClr val="52647A"/>
                </a:solidFill>
                <a:latin typeface="Arial"/>
                <a:ea typeface="Arial"/>
                <a:cs typeface="Arial"/>
              </a:rPr>
              <a:t>sorted_insert</a:t>
            </a:r>
          </a:p>
        </p:txBody>
      </p:sp>
      <p:sp>
        <p:nvSpPr>
          <p:cNvPr id="23" name="">
            <a:extLst xmlns:a="http://schemas.openxmlformats.org/drawingml/2006/main">
              <a:ext uri="{FF2B5EF4-FFF2-40B4-BE49-F238E27FC236}">
                <a16:creationId xmlns:a16="http://schemas.microsoft.com/office/drawing/2014/main" id="{C15935F1-93CE-4974-8683-8801BDAFE78A}"/>
              </a:ext>
            </a:extLst>
          </p:cNvPr>
          <p:cNvSpPr>
            <a:spLocks xmlns:a="http://schemas.openxmlformats.org/drawingml/2006/main" noGrp="1"/>
          </p:cNvSpPr>
          <p:nvPr/>
        </p:nvSpPr>
        <p:spPr>
          <a:xfrm xmlns:a="http://schemas.openxmlformats.org/drawingml/2006/main">
            <a:off x="590550" y="3581400"/>
            <a:ext cx="6572250" cy="2152650"/>
          </a:xfrm>
          <a:prstGeom xmlns:a="http://schemas.openxmlformats.org/drawingml/2006/main" prst="roundRect">
            <a:avLst>
              <a:gd name="adj" fmla="val 6195"/>
            </a:avLst>
          </a:prstGeom>
          <a:solidFill xmlns:a="http://schemas.openxmlformats.org/drawingml/2006/main">
            <a:srgbClr val="FFFFFF"/>
          </a:solidFill>
          <a:ln xmlns:a="http://schemas.openxmlformats.org/drawingml/2006/main" w="9525">
            <a:solidFill>
              <a:srgbClr val="D8E0EA"/>
            </a:solidFill>
            <a:prstDash val="solid"/>
          </a:ln>
        </p:spPr>
      </p:sp>
      <p:sp>
        <p:nvSpPr>
          <p:cNvPr id="24" name="">
            <a:extLst xmlns:a="http://schemas.openxmlformats.org/drawingml/2006/main">
              <a:ext uri="{FF2B5EF4-FFF2-40B4-BE49-F238E27FC236}">
                <a16:creationId xmlns:a16="http://schemas.microsoft.com/office/drawing/2014/main" id="{A95E968D-6CD6-4A37-9B97-3E7C32BC2E30}"/>
              </a:ext>
            </a:extLst>
          </p:cNvPr>
          <p:cNvSpPr>
            <a:spLocks xmlns:a="http://schemas.openxmlformats.org/drawingml/2006/main" noGrp="1"/>
          </p:cNvSpPr>
          <p:nvPr/>
        </p:nvSpPr>
        <p:spPr>
          <a:xfrm xmlns:a="http://schemas.openxmlformats.org/drawingml/2006/main">
            <a:off x="800100" y="3752850"/>
            <a:ext cx="609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C47A11"/>
                </a:solidFill>
                <a:latin typeface="Arial"/>
                <a:ea typeface="Arial"/>
                <a:cs typeface="Arial"/>
              </a:defRPr>
            </a:defPPr>
          </a:lstStyle>
          <a:p xmlns:a="http://schemas.openxmlformats.org/drawingml/2006/main">
            <a:pPr algn="l">
              <a:lnSpc>
                <a:spcPct val="100000"/>
              </a:lnSpc>
              <a:buNone/>
              <a:defRPr sz="1125" b="1">
                <a:solidFill>
                  <a:srgbClr val="C47A11"/>
                </a:solidFill>
                <a:latin typeface="Arial"/>
                <a:ea typeface="Arial"/>
                <a:cs typeface="Arial"/>
              </a:defRPr>
            </a:pPr>
            <a:r>
              <a:rPr sz="1125" b="1">
                <a:solidFill>
                  <a:srgbClr val="C47A11"/>
                </a:solidFill>
                <a:latin typeface="Arial"/>
                <a:ea typeface="Arial"/>
                <a:cs typeface="Arial"/>
              </a:rPr>
              <a:t>CẦN BỔ SUNG ẢNH THỰC NGHIỆM</a:t>
            </a:r>
          </a:p>
        </p:txBody>
      </p:sp>
      <p:sp>
        <p:nvSpPr>
          <p:cNvPr id="25" name="">
            <a:extLst xmlns:a="http://schemas.openxmlformats.org/drawingml/2006/main">
              <a:ext uri="{FF2B5EF4-FFF2-40B4-BE49-F238E27FC236}">
                <a16:creationId xmlns:a16="http://schemas.microsoft.com/office/drawing/2014/main" id="{EAA66F2D-EB4D-4A0D-9580-B52EDCEEBB7C}"/>
              </a:ext>
            </a:extLst>
          </p:cNvPr>
          <p:cNvSpPr>
            <a:spLocks xmlns:a="http://schemas.openxmlformats.org/drawingml/2006/main" noGrp="1"/>
          </p:cNvSpPr>
          <p:nvPr/>
        </p:nvSpPr>
        <p:spPr>
          <a:xfrm xmlns:a="http://schemas.openxmlformats.org/drawingml/2006/main">
            <a:off x="800100" y="4114800"/>
            <a:ext cx="5905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14233B"/>
                </a:solidFill>
                <a:latin typeface="Arial"/>
                <a:ea typeface="Arial"/>
                <a:cs typeface="Arial"/>
              </a:defRPr>
            </a:defPPr>
          </a:lstStyle>
          <a:p xmlns:a="http://schemas.openxmlformats.org/drawingml/2006/main">
            <a:pPr algn="l">
              <a:lnSpc>
                <a:spcPct val="108000"/>
              </a:lnSpc>
              <a:buNone/>
              <a:defRPr sz="1500" b="1">
                <a:solidFill>
                  <a:srgbClr val="14233B"/>
                </a:solidFill>
                <a:latin typeface="Arial"/>
                <a:ea typeface="Arial"/>
                <a:cs typeface="Arial"/>
              </a:defRPr>
            </a:pPr>
            <a:r>
              <a:rPr sz="1500" b="1">
                <a:solidFill>
                  <a:srgbClr val="14233B"/>
                </a:solidFill>
                <a:latin typeface="Arial"/>
                <a:ea typeface="Arial"/>
                <a:cs typeface="Arial"/>
              </a:rPr>
              <a:t>Ảnh chụp UI hoặc lịch sử hai lượt của</a:t>
            </a:r>
          </a:p>
          <a:p xmlns:a="http://schemas.openxmlformats.org/drawingml/2006/main">
            <a:pPr algn="l">
              <a:lnSpc>
                <a:spcPct val="108000"/>
              </a:lnSpc>
              <a:buNone/>
              <a:defRPr sz="1500" b="1">
                <a:solidFill>
                  <a:srgbClr val="14233B"/>
                </a:solidFill>
                <a:latin typeface="Arial"/>
                <a:ea typeface="Arial"/>
                <a:cs typeface="Arial"/>
              </a:defRPr>
            </a:pPr>
            <a:r>
              <a:rPr sz="1500" b="1">
                <a:solidFill>
                  <a:srgbClr val="14233B"/>
                </a:solidFill>
                <a:latin typeface="Arial"/>
                <a:ea typeface="Arial"/>
                <a:cs typeface="Arial"/>
              </a:rPr>
              <a:t>031-is-prime: lần đầu lỗi hậu điều kiện,</a:t>
            </a:r>
          </a:p>
          <a:p xmlns:a="http://schemas.openxmlformats.org/drawingml/2006/main">
            <a:pPr algn="l">
              <a:lnSpc>
                <a:spcPct val="108000"/>
              </a:lnSpc>
              <a:buNone/>
              <a:defRPr sz="1500" b="1">
                <a:solidFill>
                  <a:srgbClr val="14233B"/>
                </a:solidFill>
                <a:latin typeface="Arial"/>
                <a:ea typeface="Arial"/>
                <a:cs typeface="Arial"/>
              </a:defRPr>
            </a:pPr>
            <a:r>
              <a:rPr sz="1500" b="1">
                <a:solidFill>
                  <a:srgbClr val="14233B"/>
                </a:solidFill>
                <a:latin typeface="Arial"/>
                <a:ea typeface="Arial"/>
                <a:cs typeface="Arial"/>
              </a:rPr>
              <a:t>lượt 2 được Dafny xác minh.</a:t>
            </a:r>
          </a:p>
        </p:txBody>
      </p:sp>
      <p:sp>
        <p:nvSpPr>
          <p:cNvPr id="26" name="">
            <a:extLst xmlns:a="http://schemas.openxmlformats.org/drawingml/2006/main">
              <a:ext uri="{FF2B5EF4-FFF2-40B4-BE49-F238E27FC236}">
                <a16:creationId xmlns:a16="http://schemas.microsoft.com/office/drawing/2014/main" id="{DDFF841A-6DDC-49B0-BFAF-C5B52A60095B}"/>
              </a:ext>
            </a:extLst>
          </p:cNvPr>
          <p:cNvSpPr>
            <a:spLocks xmlns:a="http://schemas.openxmlformats.org/drawingml/2006/main" noGrp="1"/>
          </p:cNvSpPr>
          <p:nvPr/>
        </p:nvSpPr>
        <p:spPr>
          <a:xfrm xmlns:a="http://schemas.openxmlformats.org/drawingml/2006/main">
            <a:off x="800100" y="5248275"/>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0">
                <a:solidFill>
                  <a:srgbClr val="52647A"/>
                </a:solidFill>
                <a:latin typeface="Arial"/>
                <a:ea typeface="Arial"/>
                <a:cs typeface="Arial"/>
              </a:defRPr>
            </a:defPPr>
          </a:lstStyle>
          <a:p xmlns:a="http://schemas.openxmlformats.org/drawingml/2006/main">
            <a:pPr algn="l">
              <a:lnSpc>
                <a:spcPct val="100000"/>
              </a:lnSpc>
              <a:buNone/>
              <a:defRPr sz="1050" b="0">
                <a:solidFill>
                  <a:srgbClr val="52647A"/>
                </a:solidFill>
                <a:latin typeface="Arial"/>
                <a:ea typeface="Arial"/>
                <a:cs typeface="Arial"/>
              </a:defRPr>
            </a:pPr>
            <a:r>
              <a:rPr sz="1050" b="0">
                <a:solidFill>
                  <a:srgbClr val="52647A"/>
                </a:solidFill>
                <a:latin typeface="Arial"/>
                <a:ea typeface="Arial"/>
                <a:cs typeface="Arial"/>
              </a:rPr>
              <a:t>Dùng ảnh từ lần chạy thật; che API key/thông tin cá nhân nếu có.</a:t>
            </a:r>
          </a:p>
        </p:txBody>
      </p:sp>
      <p:sp>
        <p:nvSpPr>
          <p:cNvPr id="27" name="">
            <a:extLst xmlns:a="http://schemas.openxmlformats.org/drawingml/2006/main">
              <a:ext uri="{FF2B5EF4-FFF2-40B4-BE49-F238E27FC236}">
                <a16:creationId xmlns:a16="http://schemas.microsoft.com/office/drawing/2014/main" id="{89D47116-D0FB-40BB-B74B-AF33096C5311}"/>
              </a:ext>
            </a:extLst>
          </p:cNvPr>
          <p:cNvSpPr>
            <a:spLocks xmlns:a="http://schemas.openxmlformats.org/drawingml/2006/main" noGrp="1"/>
          </p:cNvSpPr>
          <p:nvPr/>
        </p:nvSpPr>
        <p:spPr>
          <a:xfrm xmlns:a="http://schemas.openxmlformats.org/drawingml/2006/main">
            <a:off x="7429500" y="3581400"/>
            <a:ext cx="4171950" cy="2152650"/>
          </a:xfrm>
          <a:prstGeom xmlns:a="http://schemas.openxmlformats.org/drawingml/2006/main" prst="roundRect">
            <a:avLst>
              <a:gd name="adj" fmla="val 6195"/>
            </a:avLst>
          </a:prstGeom>
          <a:solidFill xmlns:a="http://schemas.openxmlformats.org/drawingml/2006/main">
            <a:srgbClr val="F0F3F8"/>
          </a:solidFill>
          <a:ln xmlns:a="http://schemas.openxmlformats.org/drawingml/2006/main" w="9525">
            <a:solidFill>
              <a:srgbClr val="D8E0EA"/>
            </a:solidFill>
            <a:prstDash val="solid"/>
          </a:ln>
        </p:spPr>
      </p:sp>
      <p:sp>
        <p:nvSpPr>
          <p:cNvPr id="28" name="">
            <a:extLst xmlns:a="http://schemas.openxmlformats.org/drawingml/2006/main">
              <a:ext uri="{FF2B5EF4-FFF2-40B4-BE49-F238E27FC236}">
                <a16:creationId xmlns:a16="http://schemas.microsoft.com/office/drawing/2014/main" id="{5130D24D-2F59-477D-92EB-F6488631FF35}"/>
              </a:ext>
            </a:extLst>
          </p:cNvPr>
          <p:cNvSpPr>
            <a:spLocks xmlns:a="http://schemas.openxmlformats.org/drawingml/2006/main" noGrp="1"/>
          </p:cNvSpPr>
          <p:nvPr/>
        </p:nvSpPr>
        <p:spPr>
          <a:xfrm xmlns:a="http://schemas.openxmlformats.org/drawingml/2006/main">
            <a:off x="7658100" y="3762375"/>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2563EB"/>
                </a:solidFill>
                <a:latin typeface="Arial"/>
                <a:ea typeface="Arial"/>
                <a:cs typeface="Arial"/>
              </a:defRPr>
            </a:defPPr>
          </a:lstStyle>
          <a:p xmlns:a="http://schemas.openxmlformats.org/drawingml/2006/main">
            <a:pPr algn="l">
              <a:lnSpc>
                <a:spcPct val="100000"/>
              </a:lnSpc>
              <a:buNone/>
              <a:defRPr sz="1125" b="1">
                <a:solidFill>
                  <a:srgbClr val="2563EB"/>
                </a:solidFill>
                <a:latin typeface="Arial"/>
                <a:ea typeface="Arial"/>
                <a:cs typeface="Arial"/>
              </a:defRPr>
            </a:pPr>
            <a:r>
              <a:rPr sz="1125" b="1">
                <a:solidFill>
                  <a:srgbClr val="2563EB"/>
                </a:solidFill>
                <a:latin typeface="Arial"/>
                <a:ea typeface="Arial"/>
                <a:cs typeface="Arial"/>
              </a:rPr>
              <a:t>DIỄN GIẢI</a:t>
            </a:r>
          </a:p>
        </p:txBody>
      </p:sp>
      <p:sp>
        <p:nvSpPr>
          <p:cNvPr id="29" name="">
            <a:extLst xmlns:a="http://schemas.openxmlformats.org/drawingml/2006/main">
              <a:ext uri="{FF2B5EF4-FFF2-40B4-BE49-F238E27FC236}">
                <a16:creationId xmlns:a16="http://schemas.microsoft.com/office/drawing/2014/main" id="{97F9EC15-4A42-4C3A-8A20-DE6328C1D2CE}"/>
              </a:ext>
            </a:extLst>
          </p:cNvPr>
          <p:cNvSpPr>
            <a:spLocks xmlns:a="http://schemas.openxmlformats.org/drawingml/2006/main" noGrp="1"/>
          </p:cNvSpPr>
          <p:nvPr/>
        </p:nvSpPr>
        <p:spPr>
          <a:xfrm xmlns:a="http://schemas.openxmlformats.org/drawingml/2006/main">
            <a:off x="7658100" y="4152900"/>
            <a:ext cx="36385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a:solidFill>
                  <a:srgbClr val="14233B"/>
                </a:solidFill>
                <a:latin typeface="Arial"/>
                <a:ea typeface="Arial"/>
                <a:cs typeface="Arial"/>
              </a:defRPr>
            </a:defPPr>
          </a:lstStyle>
          <a:p xmlns:a="http://schemas.openxmlformats.org/drawingml/2006/main">
            <a:pPr algn="l">
              <a:lnSpc>
                <a:spcPct val="115000"/>
              </a:lnSpc>
              <a:buNone/>
              <a:defRPr sz="1425" b="1">
                <a:solidFill>
                  <a:srgbClr val="14233B"/>
                </a:solidFill>
                <a:latin typeface="Arial"/>
                <a:ea typeface="Arial"/>
                <a:cs typeface="Arial"/>
              </a:defRPr>
            </a:pPr>
            <a:r>
              <a:rPr sz="1425" b="1">
                <a:solidFill>
                  <a:srgbClr val="14233B"/>
                </a:solidFill>
                <a:latin typeface="Arial"/>
                <a:ea typeface="Arial"/>
                <a:cs typeface="Arial"/>
              </a:rPr>
              <a:t>28 bài đạt ngay lần đầu.</a:t>
            </a:r>
          </a:p>
          <a:p xmlns:a="http://schemas.openxmlformats.org/drawingml/2006/main">
            <a:pPr algn="l">
              <a:lnSpc>
                <a:spcPct val="115000"/>
              </a:lnSpc>
              <a:buNone/>
              <a:defRPr sz="1425" b="1">
                <a:solidFill>
                  <a:srgbClr val="14233B"/>
                </a:solidFill>
                <a:latin typeface="Arial"/>
                <a:ea typeface="Arial"/>
                <a:cs typeface="Arial"/>
              </a:defRPr>
            </a:pPr>
            <a:r>
              <a:rPr sz="1425" b="1">
                <a:solidFill>
                  <a:srgbClr val="14233B"/>
                </a:solidFill>
                <a:latin typeface="Arial"/>
                <a:ea typeface="Arial"/>
                <a:cs typeface="Arial"/>
              </a:rPr>
              <a:t>1 bài đạt sau khi nhận lỗi và sửa.</a:t>
            </a:r>
          </a:p>
          <a:p xmlns:a="http://schemas.openxmlformats.org/drawingml/2006/main">
            <a:pPr algn="l">
              <a:lnSpc>
                <a:spcPct val="115000"/>
              </a:lnSpc>
              <a:buNone/>
              <a:defRPr sz="1425" b="1">
                <a:solidFill>
                  <a:srgbClr val="14233B"/>
                </a:solidFill>
                <a:latin typeface="Arial"/>
                <a:ea typeface="Arial"/>
                <a:cs typeface="Arial"/>
              </a:defRPr>
            </a:pPr>
            <a:r>
              <a:rPr sz="1425" b="1">
                <a:solidFill>
                  <a:srgbClr val="14233B"/>
                </a:solidFill>
                <a:latin typeface="Arial"/>
                <a:ea typeface="Arial"/>
                <a:cs typeface="Arial"/>
              </a:rPr>
              <a:t>1 bài chưa đạt sau ba lượt.</a:t>
            </a:r>
          </a:p>
        </p:txBody>
      </p:sp>
      <p:sp>
        <p:nvSpPr>
          <p:cNvPr id="30" name="">
            <a:extLst xmlns:a="http://schemas.openxmlformats.org/drawingml/2006/main">
              <a:ext uri="{FF2B5EF4-FFF2-40B4-BE49-F238E27FC236}">
                <a16:creationId xmlns:a16="http://schemas.microsoft.com/office/drawing/2014/main" id="{401458E7-0C69-4673-9476-2D1733F789D3}"/>
              </a:ext>
            </a:extLst>
          </p:cNvPr>
          <p:cNvSpPr>
            <a:spLocks xmlns:a="http://schemas.openxmlformats.org/drawingml/2006/main" noGrp="1"/>
          </p:cNvSpPr>
          <p:nvPr/>
        </p:nvSpPr>
        <p:spPr>
          <a:xfrm xmlns:a="http://schemas.openxmlformats.org/drawingml/2006/main">
            <a:off x="7658100" y="5295900"/>
            <a:ext cx="3638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52647A"/>
                </a:solidFill>
                <a:latin typeface="Arial"/>
                <a:ea typeface="Arial"/>
                <a:cs typeface="Arial"/>
              </a:defRPr>
            </a:defPPr>
          </a:lstStyle>
          <a:p xmlns:a="http://schemas.openxmlformats.org/drawingml/2006/main">
            <a:pPr algn="l">
              <a:lnSpc>
                <a:spcPct val="100000"/>
              </a:lnSpc>
              <a:buNone/>
              <a:defRPr sz="1125" b="0">
                <a:solidFill>
                  <a:srgbClr val="52647A"/>
                </a:solidFill>
                <a:latin typeface="Arial"/>
                <a:ea typeface="Arial"/>
                <a:cs typeface="Arial"/>
              </a:defRPr>
            </a:pPr>
            <a:r>
              <a:rPr sz="1125" b="0">
                <a:solidFill>
                  <a:srgbClr val="52647A"/>
                </a:solidFill>
                <a:latin typeface="Arial"/>
                <a:ea typeface="Arial"/>
                <a:cs typeface="Arial"/>
              </a:rPr>
              <a:t>Timeout Dafny cấu hình: 15 giây.</a:t>
            </a:r>
          </a:p>
        </p:txBody>
      </p:sp>
    </p:spTree>
    <p:extLst>
      <p:ext uri="{BB962C8B-B14F-4D97-AF65-F5344CB8AC3E}">
        <p14:creationId xmlns:p14="http://schemas.microsoft.com/office/powerpoint/2010/main" val="1909869006"/>
      </p:ext>
    </p:extLst>
  </p:cSld>
</p:sld>
</file>

<file path=ppt/slides/slide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FF85C68D-00E9-4FF5-95FA-0D7EE6BF6546}"/>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563E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A74D9B6-1D0D-4583-BBAB-8246E534A61A}"/>
              </a:ext>
            </a:extLst>
          </p:cNvPr>
          <p:cNvSpPr>
            <a:spLocks xmlns:a="http://schemas.openxmlformats.org/drawingml/2006/main" noGrp="1"/>
          </p:cNvSpPr>
          <p:nvPr/>
        </p:nvSpPr>
        <p:spPr>
          <a:xfrm xmlns:a="http://schemas.openxmlformats.org/drawingml/2006/main">
            <a:off x="590550" y="3238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2563EB"/>
                </a:solidFill>
                <a:latin typeface="Arial"/>
                <a:ea typeface="Arial"/>
                <a:cs typeface="Arial"/>
              </a:defRPr>
            </a:defPPr>
          </a:lstStyle>
          <a:p xmlns:a="http://schemas.openxmlformats.org/drawingml/2006/main">
            <a:pPr algn="l">
              <a:lnSpc>
                <a:spcPct val="100000"/>
              </a:lnSpc>
              <a:buNone/>
              <a:defRPr sz="975" b="1">
                <a:solidFill>
                  <a:srgbClr val="2563EB"/>
                </a:solidFill>
                <a:latin typeface="Arial"/>
                <a:ea typeface="Arial"/>
                <a:cs typeface="Arial"/>
              </a:defRPr>
            </a:pPr>
            <a:r>
              <a:rPr sz="975" b="1">
                <a:solidFill>
                  <a:srgbClr val="2563EB"/>
                </a:solidFill>
                <a:latin typeface="Arial"/>
                <a:ea typeface="Arial"/>
                <a:cs typeface="Arial"/>
              </a:rPr>
              <a:t>NCKH SINH VIÊN 2026</a:t>
            </a:r>
          </a:p>
        </p:txBody>
      </p:sp>
      <p:sp>
        <p:nvSpPr>
          <p:cNvPr id="3" name="">
            <a:extLst xmlns:a="http://schemas.openxmlformats.org/drawingml/2006/main">
              <a:ext uri="{FF2B5EF4-FFF2-40B4-BE49-F238E27FC236}">
                <a16:creationId xmlns:a16="http://schemas.microsoft.com/office/drawing/2014/main" id="{37879800-DAEB-4DC2-8AE9-894BF0480B3A}"/>
              </a:ext>
            </a:extLst>
          </p:cNvPr>
          <p:cNvSpPr>
            <a:spLocks xmlns:a="http://schemas.openxmlformats.org/drawingml/2006/main" noGrp="1"/>
          </p:cNvSpPr>
          <p:nvPr/>
        </p:nvSpPr>
        <p:spPr>
          <a:xfrm xmlns:a="http://schemas.openxmlformats.org/drawingml/2006/main">
            <a:off x="590550" y="666750"/>
            <a:ext cx="11010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550" b="1">
                <a:solidFill>
                  <a:srgbClr val="14233B"/>
                </a:solidFill>
                <a:latin typeface="Arial"/>
                <a:ea typeface="Arial"/>
                <a:cs typeface="Arial"/>
              </a:defRPr>
            </a:defPPr>
          </a:lstStyle>
          <a:p xmlns:a="http://schemas.openxmlformats.org/drawingml/2006/main">
            <a:pPr algn="l">
              <a:lnSpc>
                <a:spcPct val="100000"/>
              </a:lnSpc>
              <a:buNone/>
              <a:defRPr sz="2550" b="1">
                <a:solidFill>
                  <a:srgbClr val="14233B"/>
                </a:solidFill>
                <a:latin typeface="Arial"/>
                <a:ea typeface="Arial"/>
                <a:cs typeface="Arial"/>
              </a:defRPr>
            </a:pPr>
            <a:r>
              <a:rPr sz="2550" b="1">
                <a:solidFill>
                  <a:srgbClr val="14233B"/>
                </a:solidFill>
                <a:latin typeface="Arial"/>
                <a:ea typeface="Arial"/>
                <a:cs typeface="Arial"/>
              </a:rPr>
              <a:t>Kế hoạch triển khai nghiên cứu</a:t>
            </a:r>
          </a:p>
        </p:txBody>
      </p:sp>
      <p:sp>
        <p:nvSpPr>
          <p:cNvPr id="4" name="">
            <a:extLst xmlns:a="http://schemas.openxmlformats.org/drawingml/2006/main">
              <a:ext uri="{FF2B5EF4-FFF2-40B4-BE49-F238E27FC236}">
                <a16:creationId xmlns:a16="http://schemas.microsoft.com/office/drawing/2014/main" id="{E9C987B1-0FAE-4CAD-892F-4EFEBC33B7FE}"/>
              </a:ext>
            </a:extLst>
          </p:cNvPr>
          <p:cNvSpPr>
            <a:spLocks xmlns:a="http://schemas.openxmlformats.org/drawingml/2006/main" noGrp="1"/>
          </p:cNvSpPr>
          <p:nvPr/>
        </p:nvSpPr>
        <p:spPr>
          <a:xfrm xmlns:a="http://schemas.openxmlformats.org/drawingml/2006/main">
            <a:off x="590550" y="1304925"/>
            <a:ext cx="110109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5" name="">
            <a:extLst xmlns:a="http://schemas.openxmlformats.org/drawingml/2006/main">
              <a:ext uri="{FF2B5EF4-FFF2-40B4-BE49-F238E27FC236}">
                <a16:creationId xmlns:a16="http://schemas.microsoft.com/office/drawing/2014/main" id="{94937005-34C7-400D-AA4E-D66A22523A87}"/>
              </a:ext>
            </a:extLst>
          </p:cNvPr>
          <p:cNvSpPr>
            <a:spLocks xmlns:a="http://schemas.openxmlformats.org/drawingml/2006/main" noGrp="1"/>
          </p:cNvSpPr>
          <p:nvPr/>
        </p:nvSpPr>
        <p:spPr>
          <a:xfrm xmlns:a="http://schemas.openxmlformats.org/drawingml/2006/main">
            <a:off x="10572750" y="6438900"/>
            <a:ext cx="1028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52647A"/>
                </a:solidFill>
                <a:latin typeface="Arial"/>
                <a:ea typeface="Arial"/>
                <a:cs typeface="Arial"/>
              </a:defRPr>
            </a:defPPr>
          </a:lstStyle>
          <a:p xmlns:a="http://schemas.openxmlformats.org/drawingml/2006/main">
            <a:pPr algn="r">
              <a:lnSpc>
                <a:spcPct val="100000"/>
              </a:lnSpc>
              <a:buNone/>
              <a:defRPr sz="975" b="1">
                <a:solidFill>
                  <a:srgbClr val="52647A"/>
                </a:solidFill>
                <a:latin typeface="Arial"/>
                <a:ea typeface="Arial"/>
                <a:cs typeface="Arial"/>
              </a:defRPr>
            </a:pPr>
            <a:r>
              <a:rPr sz="975" b="1">
                <a:solidFill>
                  <a:srgbClr val="52647A"/>
                </a:solidFill>
                <a:latin typeface="Arial"/>
                <a:ea typeface="Arial"/>
                <a:cs typeface="Arial"/>
              </a:rPr>
              <a:t>06  /  07</a:t>
            </a:r>
          </a:p>
        </p:txBody>
      </p:sp>
      <p:sp>
        <p:nvSpPr>
          <p:cNvPr id="6" name="">
            <a:extLst xmlns:a="http://schemas.openxmlformats.org/drawingml/2006/main">
              <a:ext uri="{FF2B5EF4-FFF2-40B4-BE49-F238E27FC236}">
                <a16:creationId xmlns:a16="http://schemas.microsoft.com/office/drawing/2014/main" id="{AD532767-E67D-406B-974D-9B70EEDFF896}"/>
              </a:ext>
            </a:extLst>
          </p:cNvPr>
          <p:cNvSpPr>
            <a:spLocks xmlns:a="http://schemas.openxmlformats.org/drawingml/2006/main" noGrp="1"/>
          </p:cNvSpPr>
          <p:nvPr/>
        </p:nvSpPr>
        <p:spPr>
          <a:xfrm xmlns:a="http://schemas.openxmlformats.org/drawingml/2006/main">
            <a:off x="590550" y="2114550"/>
            <a:ext cx="2286000" cy="2133600"/>
          </a:xfrm>
          <a:prstGeom xmlns:a="http://schemas.openxmlformats.org/drawingml/2006/main" prst="roundRect">
            <a:avLst>
              <a:gd name="adj" fmla="val 6250"/>
            </a:avLst>
          </a:prstGeom>
          <a:solidFill xmlns:a="http://schemas.openxmlformats.org/drawingml/2006/main">
            <a:srgbClr val="E8F0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68A960A-AC2E-40AF-8BB2-66814A96EAF0}"/>
              </a:ext>
            </a:extLst>
          </p:cNvPr>
          <p:cNvSpPr>
            <a:spLocks xmlns:a="http://schemas.openxmlformats.org/drawingml/2006/main" noGrp="1"/>
          </p:cNvSpPr>
          <p:nvPr/>
        </p:nvSpPr>
        <p:spPr>
          <a:xfrm xmlns:a="http://schemas.openxmlformats.org/drawingml/2006/main">
            <a:off x="762000" y="2400300"/>
            <a:ext cx="438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00" b="1">
                <a:solidFill>
                  <a:srgbClr val="2563EB"/>
                </a:solidFill>
                <a:latin typeface="Arial"/>
                <a:ea typeface="Arial"/>
                <a:cs typeface="Arial"/>
              </a:defRPr>
            </a:defPPr>
          </a:lstStyle>
          <a:p xmlns:a="http://schemas.openxmlformats.org/drawingml/2006/main">
            <a:pPr algn="l">
              <a:lnSpc>
                <a:spcPct val="100000"/>
              </a:lnSpc>
              <a:buNone/>
              <a:defRPr sz="2100" b="1">
                <a:solidFill>
                  <a:srgbClr val="2563EB"/>
                </a:solidFill>
                <a:latin typeface="Arial"/>
                <a:ea typeface="Arial"/>
                <a:cs typeface="Arial"/>
              </a:defRPr>
            </a:pPr>
            <a:r>
              <a:rPr sz="2100" b="1">
                <a:solidFill>
                  <a:srgbClr val="2563EB"/>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5228B916-96D0-4006-8A32-E95F5237F420}"/>
              </a:ext>
            </a:extLst>
          </p:cNvPr>
          <p:cNvSpPr>
            <a:spLocks xmlns:a="http://schemas.openxmlformats.org/drawingml/2006/main" noGrp="1"/>
          </p:cNvSpPr>
          <p:nvPr/>
        </p:nvSpPr>
        <p:spPr>
          <a:xfrm xmlns:a="http://schemas.openxmlformats.org/drawingml/2006/main">
            <a:off x="762000" y="2895600"/>
            <a:ext cx="1952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2563EB"/>
                </a:solidFill>
                <a:latin typeface="Arial"/>
                <a:ea typeface="Arial"/>
                <a:cs typeface="Arial"/>
              </a:defRPr>
            </a:defPPr>
          </a:lstStyle>
          <a:p xmlns:a="http://schemas.openxmlformats.org/drawingml/2006/main">
            <a:pPr algn="l">
              <a:lnSpc>
                <a:spcPct val="100000"/>
              </a:lnSpc>
              <a:buNone/>
              <a:defRPr sz="1125" b="1">
                <a:solidFill>
                  <a:srgbClr val="2563EB"/>
                </a:solidFill>
                <a:latin typeface="Arial"/>
                <a:ea typeface="Arial"/>
                <a:cs typeface="Arial"/>
              </a:defRPr>
            </a:pPr>
            <a:r>
              <a:rPr sz="1125" b="1">
                <a:solidFill>
                  <a:srgbClr val="2563EB"/>
                </a:solidFill>
                <a:latin typeface="Arial"/>
                <a:ea typeface="Arial"/>
                <a:cs typeface="Arial"/>
              </a:rPr>
              <a:t>CHỐT TẬP BÀI</a:t>
            </a:r>
          </a:p>
        </p:txBody>
      </p:sp>
      <p:sp>
        <p:nvSpPr>
          <p:cNvPr id="9" name="">
            <a:extLst xmlns:a="http://schemas.openxmlformats.org/drawingml/2006/main">
              <a:ext uri="{FF2B5EF4-FFF2-40B4-BE49-F238E27FC236}">
                <a16:creationId xmlns:a16="http://schemas.microsoft.com/office/drawing/2014/main" id="{0C119EE8-4CD3-4779-A63B-61B8527E7B17}"/>
              </a:ext>
            </a:extLst>
          </p:cNvPr>
          <p:cNvSpPr>
            <a:spLocks xmlns:a="http://schemas.openxmlformats.org/drawingml/2006/main" noGrp="1"/>
          </p:cNvSpPr>
          <p:nvPr/>
        </p:nvSpPr>
        <p:spPr>
          <a:xfrm xmlns:a="http://schemas.openxmlformats.org/drawingml/2006/main">
            <a:off x="762000" y="3295650"/>
            <a:ext cx="19526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14233B"/>
                </a:solidFill>
                <a:latin typeface="Arial"/>
                <a:ea typeface="Arial"/>
                <a:cs typeface="Arial"/>
              </a:defRPr>
            </a:defPPr>
          </a:lstStyle>
          <a:p xmlns:a="http://schemas.openxmlformats.org/drawingml/2006/main">
            <a:pPr algn="l">
              <a:lnSpc>
                <a:spcPct val="115000"/>
              </a:lnSpc>
              <a:buNone/>
              <a:defRPr sz="1275" b="1">
                <a:solidFill>
                  <a:srgbClr val="14233B"/>
                </a:solidFill>
                <a:latin typeface="Arial"/>
                <a:ea typeface="Arial"/>
                <a:cs typeface="Arial"/>
              </a:defRPr>
            </a:pPr>
            <a:r>
              <a:rPr sz="1275" b="1">
                <a:solidFill>
                  <a:srgbClr val="14233B"/>
                </a:solidFill>
                <a:latin typeface="Arial"/>
                <a:ea typeface="Arial"/>
                <a:cs typeface="Arial"/>
              </a:rPr>
              <a:t>Manifest + nguồn</a:t>
            </a:r>
          </a:p>
          <a:p xmlns:a="http://schemas.openxmlformats.org/drawingml/2006/main">
            <a:pPr algn="l">
              <a:lnSpc>
                <a:spcPct val="115000"/>
              </a:lnSpc>
              <a:buNone/>
              <a:defRPr sz="1275" b="1">
                <a:solidFill>
                  <a:srgbClr val="14233B"/>
                </a:solidFill>
                <a:latin typeface="Arial"/>
                <a:ea typeface="Arial"/>
                <a:cs typeface="Arial"/>
              </a:defRPr>
            </a:pPr>
            <a:r>
              <a:rPr sz="1275" b="1">
                <a:solidFill>
                  <a:srgbClr val="14233B"/>
                </a:solidFill>
                <a:latin typeface="Arial"/>
                <a:ea typeface="Arial"/>
                <a:cs typeface="Arial"/>
              </a:rPr>
              <a:t>Rà soát đặc tả</a:t>
            </a:r>
          </a:p>
          <a:p xmlns:a="http://schemas.openxmlformats.org/drawingml/2006/main">
            <a:pPr algn="l">
              <a:lnSpc>
                <a:spcPct val="115000"/>
              </a:lnSpc>
              <a:buNone/>
              <a:defRPr sz="1275" b="1">
                <a:solidFill>
                  <a:srgbClr val="14233B"/>
                </a:solidFill>
                <a:latin typeface="Arial"/>
                <a:ea typeface="Arial"/>
                <a:cs typeface="Arial"/>
              </a:defRPr>
            </a:pPr>
            <a:r>
              <a:rPr sz="1275" b="1">
                <a:solidFill>
                  <a:srgbClr val="14233B"/>
                </a:solidFill>
                <a:latin typeface="Arial"/>
                <a:ea typeface="Arial"/>
                <a:cs typeface="Arial"/>
              </a:rPr>
              <a:t>Chốt bài được tính</a:t>
            </a:r>
          </a:p>
        </p:txBody>
      </p:sp>
      <p:sp>
        <p:nvSpPr>
          <p:cNvPr id="10" name="">
            <a:extLst xmlns:a="http://schemas.openxmlformats.org/drawingml/2006/main">
              <a:ext uri="{FF2B5EF4-FFF2-40B4-BE49-F238E27FC236}">
                <a16:creationId xmlns:a16="http://schemas.microsoft.com/office/drawing/2014/main" id="{8CD37FC0-0CAE-401D-95D0-867DF450B5FF}"/>
              </a:ext>
            </a:extLst>
          </p:cNvPr>
          <p:cNvSpPr>
            <a:spLocks xmlns:a="http://schemas.openxmlformats.org/drawingml/2006/main" noGrp="1"/>
          </p:cNvSpPr>
          <p:nvPr/>
        </p:nvSpPr>
        <p:spPr>
          <a:xfrm xmlns:a="http://schemas.openxmlformats.org/drawingml/2006/main">
            <a:off x="3333750" y="2114550"/>
            <a:ext cx="2286000" cy="2133600"/>
          </a:xfrm>
          <a:prstGeom xmlns:a="http://schemas.openxmlformats.org/drawingml/2006/main" prst="roundRect">
            <a:avLst>
              <a:gd name="adj" fmla="val 6250"/>
            </a:avLst>
          </a:prstGeom>
          <a:solidFill xmlns:a="http://schemas.openxmlformats.org/drawingml/2006/main">
            <a:srgbClr val="E3F5F3"/>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1140C00-3D2C-4A38-8581-0E4387C948F2}"/>
              </a:ext>
            </a:extLst>
          </p:cNvPr>
          <p:cNvSpPr>
            <a:spLocks xmlns:a="http://schemas.openxmlformats.org/drawingml/2006/main" noGrp="1"/>
          </p:cNvSpPr>
          <p:nvPr/>
        </p:nvSpPr>
        <p:spPr>
          <a:xfrm xmlns:a="http://schemas.openxmlformats.org/drawingml/2006/main">
            <a:off x="3505200" y="2400300"/>
            <a:ext cx="438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00" b="1">
                <a:solidFill>
                  <a:srgbClr val="0F8B8D"/>
                </a:solidFill>
                <a:latin typeface="Arial"/>
                <a:ea typeface="Arial"/>
                <a:cs typeface="Arial"/>
              </a:defRPr>
            </a:defPPr>
          </a:lstStyle>
          <a:p xmlns:a="http://schemas.openxmlformats.org/drawingml/2006/main">
            <a:pPr algn="l">
              <a:lnSpc>
                <a:spcPct val="100000"/>
              </a:lnSpc>
              <a:buNone/>
              <a:defRPr sz="2100" b="1">
                <a:solidFill>
                  <a:srgbClr val="0F8B8D"/>
                </a:solidFill>
                <a:latin typeface="Arial"/>
                <a:ea typeface="Arial"/>
                <a:cs typeface="Arial"/>
              </a:defRPr>
            </a:pPr>
            <a:r>
              <a:rPr sz="2100" b="1">
                <a:solidFill>
                  <a:srgbClr val="0F8B8D"/>
                </a:solidFill>
                <a:latin typeface="Arial"/>
                <a:ea typeface="Arial"/>
                <a:cs typeface="Arial"/>
              </a:rPr>
              <a:t>02</a:t>
            </a:r>
          </a:p>
        </p:txBody>
      </p:sp>
      <p:sp>
        <p:nvSpPr>
          <p:cNvPr id="12" name="">
            <a:extLst xmlns:a="http://schemas.openxmlformats.org/drawingml/2006/main">
              <a:ext uri="{FF2B5EF4-FFF2-40B4-BE49-F238E27FC236}">
                <a16:creationId xmlns:a16="http://schemas.microsoft.com/office/drawing/2014/main" id="{694AC50C-7398-4171-A9EE-72724C78D2AD}"/>
              </a:ext>
            </a:extLst>
          </p:cNvPr>
          <p:cNvSpPr>
            <a:spLocks xmlns:a="http://schemas.openxmlformats.org/drawingml/2006/main" noGrp="1"/>
          </p:cNvSpPr>
          <p:nvPr/>
        </p:nvSpPr>
        <p:spPr>
          <a:xfrm xmlns:a="http://schemas.openxmlformats.org/drawingml/2006/main">
            <a:off x="3505200" y="2895600"/>
            <a:ext cx="1952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0F8B8D"/>
                </a:solidFill>
                <a:latin typeface="Arial"/>
                <a:ea typeface="Arial"/>
                <a:cs typeface="Arial"/>
              </a:defRPr>
            </a:defPPr>
          </a:lstStyle>
          <a:p xmlns:a="http://schemas.openxmlformats.org/drawingml/2006/main">
            <a:pPr algn="l">
              <a:lnSpc>
                <a:spcPct val="100000"/>
              </a:lnSpc>
              <a:buNone/>
              <a:defRPr sz="1125" b="1">
                <a:solidFill>
                  <a:srgbClr val="0F8B8D"/>
                </a:solidFill>
                <a:latin typeface="Arial"/>
                <a:ea typeface="Arial"/>
                <a:cs typeface="Arial"/>
              </a:defRPr>
            </a:pPr>
            <a:r>
              <a:rPr sz="1125" b="1">
                <a:solidFill>
                  <a:srgbClr val="0F8B8D"/>
                </a:solidFill>
                <a:latin typeface="Arial"/>
                <a:ea typeface="Arial"/>
                <a:cs typeface="Arial"/>
              </a:rPr>
              <a:t>CHẠY SO SÁNH</a:t>
            </a:r>
          </a:p>
        </p:txBody>
      </p:sp>
      <p:sp>
        <p:nvSpPr>
          <p:cNvPr id="13" name="">
            <a:extLst xmlns:a="http://schemas.openxmlformats.org/drawingml/2006/main">
              <a:ext uri="{FF2B5EF4-FFF2-40B4-BE49-F238E27FC236}">
                <a16:creationId xmlns:a16="http://schemas.microsoft.com/office/drawing/2014/main" id="{4BC35D07-6F5C-4573-8EE9-C1E2701E2C25}"/>
              </a:ext>
            </a:extLst>
          </p:cNvPr>
          <p:cNvSpPr>
            <a:spLocks xmlns:a="http://schemas.openxmlformats.org/drawingml/2006/main" noGrp="1"/>
          </p:cNvSpPr>
          <p:nvPr/>
        </p:nvSpPr>
        <p:spPr>
          <a:xfrm xmlns:a="http://schemas.openxmlformats.org/drawingml/2006/main">
            <a:off x="3505200" y="3295650"/>
            <a:ext cx="19526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14233B"/>
                </a:solidFill>
                <a:latin typeface="Arial"/>
                <a:ea typeface="Arial"/>
                <a:cs typeface="Arial"/>
              </a:defRPr>
            </a:defPPr>
          </a:lstStyle>
          <a:p xmlns:a="http://schemas.openxmlformats.org/drawingml/2006/main">
            <a:pPr algn="l">
              <a:lnSpc>
                <a:spcPct val="115000"/>
              </a:lnSpc>
              <a:buNone/>
              <a:defRPr sz="1275" b="1">
                <a:solidFill>
                  <a:srgbClr val="14233B"/>
                </a:solidFill>
                <a:latin typeface="Arial"/>
                <a:ea typeface="Arial"/>
                <a:cs typeface="Arial"/>
              </a:defRPr>
            </a:pPr>
            <a:r>
              <a:rPr sz="1275" b="1">
                <a:solidFill>
                  <a:srgbClr val="14233B"/>
                </a:solidFill>
                <a:latin typeface="Arial"/>
                <a:ea typeface="Arial"/>
                <a:cs typeface="Arial"/>
              </a:rPr>
              <a:t>Sinh một lần</a:t>
            </a:r>
          </a:p>
          <a:p xmlns:a="http://schemas.openxmlformats.org/drawingml/2006/main">
            <a:pPr algn="l">
              <a:lnSpc>
                <a:spcPct val="115000"/>
              </a:lnSpc>
              <a:buNone/>
              <a:defRPr sz="1275" b="1">
                <a:solidFill>
                  <a:srgbClr val="14233B"/>
                </a:solidFill>
                <a:latin typeface="Arial"/>
                <a:ea typeface="Arial"/>
                <a:cs typeface="Arial"/>
              </a:defRPr>
            </a:pPr>
            <a:r>
              <a:rPr sz="1275" b="1">
                <a:solidFill>
                  <a:srgbClr val="14233B"/>
                </a:solidFill>
                <a:latin typeface="Arial"/>
                <a:ea typeface="Arial"/>
                <a:cs typeface="Arial"/>
              </a:rPr>
              <a:t>Feedback Dafny</a:t>
            </a:r>
          </a:p>
          <a:p xmlns:a="http://schemas.openxmlformats.org/drawingml/2006/main">
            <a:pPr algn="l">
              <a:lnSpc>
                <a:spcPct val="115000"/>
              </a:lnSpc>
              <a:buNone/>
              <a:defRPr sz="1275" b="1">
                <a:solidFill>
                  <a:srgbClr val="14233B"/>
                </a:solidFill>
                <a:latin typeface="Arial"/>
                <a:ea typeface="Arial"/>
                <a:cs typeface="Arial"/>
              </a:defRPr>
            </a:pPr>
            <a:r>
              <a:rPr sz="1275" b="1">
                <a:solidFill>
                  <a:srgbClr val="14233B"/>
                </a:solidFill>
                <a:latin typeface="Arial"/>
                <a:ea typeface="Arial"/>
                <a:cs typeface="Arial"/>
              </a:rPr>
              <a:t>Pipeline đầy đủ</a:t>
            </a:r>
          </a:p>
        </p:txBody>
      </p:sp>
      <p:sp>
        <p:nvSpPr>
          <p:cNvPr id="14" name="">
            <a:extLst xmlns:a="http://schemas.openxmlformats.org/drawingml/2006/main">
              <a:ext uri="{FF2B5EF4-FFF2-40B4-BE49-F238E27FC236}">
                <a16:creationId xmlns:a16="http://schemas.microsoft.com/office/drawing/2014/main" id="{852245FF-CC0A-40EF-8CFB-0FE903C947BC}"/>
              </a:ext>
            </a:extLst>
          </p:cNvPr>
          <p:cNvSpPr>
            <a:spLocks xmlns:a="http://schemas.openxmlformats.org/drawingml/2006/main" noGrp="1"/>
          </p:cNvSpPr>
          <p:nvPr/>
        </p:nvSpPr>
        <p:spPr>
          <a:xfrm xmlns:a="http://schemas.openxmlformats.org/drawingml/2006/main">
            <a:off x="6076950" y="2114550"/>
            <a:ext cx="2286000" cy="2133600"/>
          </a:xfrm>
          <a:prstGeom xmlns:a="http://schemas.openxmlformats.org/drawingml/2006/main" prst="roundRect">
            <a:avLst>
              <a:gd name="adj" fmla="val 6250"/>
            </a:avLst>
          </a:prstGeom>
          <a:solidFill xmlns:a="http://schemas.openxmlformats.org/drawingml/2006/main">
            <a:srgbClr val="FFF2D9"/>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D95DD54F-3697-451C-93BA-31EA8527F4E5}"/>
              </a:ext>
            </a:extLst>
          </p:cNvPr>
          <p:cNvSpPr>
            <a:spLocks xmlns:a="http://schemas.openxmlformats.org/drawingml/2006/main" noGrp="1"/>
          </p:cNvSpPr>
          <p:nvPr/>
        </p:nvSpPr>
        <p:spPr>
          <a:xfrm xmlns:a="http://schemas.openxmlformats.org/drawingml/2006/main">
            <a:off x="6248400" y="2400300"/>
            <a:ext cx="438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00" b="1">
                <a:solidFill>
                  <a:srgbClr val="C47A11"/>
                </a:solidFill>
                <a:latin typeface="Arial"/>
                <a:ea typeface="Arial"/>
                <a:cs typeface="Arial"/>
              </a:defRPr>
            </a:defPPr>
          </a:lstStyle>
          <a:p xmlns:a="http://schemas.openxmlformats.org/drawingml/2006/main">
            <a:pPr algn="l">
              <a:lnSpc>
                <a:spcPct val="100000"/>
              </a:lnSpc>
              <a:buNone/>
              <a:defRPr sz="2100" b="1">
                <a:solidFill>
                  <a:srgbClr val="C47A11"/>
                </a:solidFill>
                <a:latin typeface="Arial"/>
                <a:ea typeface="Arial"/>
                <a:cs typeface="Arial"/>
              </a:defRPr>
            </a:pPr>
            <a:r>
              <a:rPr sz="2100" b="1">
                <a:solidFill>
                  <a:srgbClr val="C47A11"/>
                </a:solidFill>
                <a:latin typeface="Arial"/>
                <a:ea typeface="Arial"/>
                <a:cs typeface="Arial"/>
              </a:rPr>
              <a:t>03</a:t>
            </a:r>
          </a:p>
        </p:txBody>
      </p:sp>
      <p:sp>
        <p:nvSpPr>
          <p:cNvPr id="16" name="">
            <a:extLst xmlns:a="http://schemas.openxmlformats.org/drawingml/2006/main">
              <a:ext uri="{FF2B5EF4-FFF2-40B4-BE49-F238E27FC236}">
                <a16:creationId xmlns:a16="http://schemas.microsoft.com/office/drawing/2014/main" id="{885015FF-7651-433E-B9F4-0FE91C72355D}"/>
              </a:ext>
            </a:extLst>
          </p:cNvPr>
          <p:cNvSpPr>
            <a:spLocks xmlns:a="http://schemas.openxmlformats.org/drawingml/2006/main" noGrp="1"/>
          </p:cNvSpPr>
          <p:nvPr/>
        </p:nvSpPr>
        <p:spPr>
          <a:xfrm xmlns:a="http://schemas.openxmlformats.org/drawingml/2006/main">
            <a:off x="6248400" y="2895600"/>
            <a:ext cx="1952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C47A11"/>
                </a:solidFill>
                <a:latin typeface="Arial"/>
                <a:ea typeface="Arial"/>
                <a:cs typeface="Arial"/>
              </a:defRPr>
            </a:defPPr>
          </a:lstStyle>
          <a:p xmlns:a="http://schemas.openxmlformats.org/drawingml/2006/main">
            <a:pPr algn="l">
              <a:lnSpc>
                <a:spcPct val="100000"/>
              </a:lnSpc>
              <a:buNone/>
              <a:defRPr sz="1125" b="1">
                <a:solidFill>
                  <a:srgbClr val="C47A11"/>
                </a:solidFill>
                <a:latin typeface="Arial"/>
                <a:ea typeface="Arial"/>
                <a:cs typeface="Arial"/>
              </a:defRPr>
            </a:pPr>
            <a:r>
              <a:rPr sz="1125" b="1">
                <a:solidFill>
                  <a:srgbClr val="C47A11"/>
                </a:solidFill>
                <a:latin typeface="Arial"/>
                <a:ea typeface="Arial"/>
                <a:cs typeface="Arial"/>
              </a:rPr>
              <a:t>ĐO VÀ PHÂN TÍCH</a:t>
            </a:r>
          </a:p>
        </p:txBody>
      </p:sp>
      <p:sp>
        <p:nvSpPr>
          <p:cNvPr id="17" name="">
            <a:extLst xmlns:a="http://schemas.openxmlformats.org/drawingml/2006/main">
              <a:ext uri="{FF2B5EF4-FFF2-40B4-BE49-F238E27FC236}">
                <a16:creationId xmlns:a16="http://schemas.microsoft.com/office/drawing/2014/main" id="{9B52A16E-3159-48A5-9013-3383E113D1B5}"/>
              </a:ext>
            </a:extLst>
          </p:cNvPr>
          <p:cNvSpPr>
            <a:spLocks xmlns:a="http://schemas.openxmlformats.org/drawingml/2006/main" noGrp="1"/>
          </p:cNvSpPr>
          <p:nvPr/>
        </p:nvSpPr>
        <p:spPr>
          <a:xfrm xmlns:a="http://schemas.openxmlformats.org/drawingml/2006/main">
            <a:off x="6248400" y="3295650"/>
            <a:ext cx="19526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14233B"/>
                </a:solidFill>
                <a:latin typeface="Arial"/>
                <a:ea typeface="Arial"/>
                <a:cs typeface="Arial"/>
              </a:defRPr>
            </a:defPPr>
          </a:lstStyle>
          <a:p xmlns:a="http://schemas.openxmlformats.org/drawingml/2006/main">
            <a:pPr algn="l">
              <a:lnSpc>
                <a:spcPct val="115000"/>
              </a:lnSpc>
              <a:buNone/>
              <a:defRPr sz="1275" b="1">
                <a:solidFill>
                  <a:srgbClr val="14233B"/>
                </a:solidFill>
                <a:latin typeface="Arial"/>
                <a:ea typeface="Arial"/>
                <a:cs typeface="Arial"/>
              </a:defRPr>
            </a:pPr>
            <a:r>
              <a:rPr sz="1275" b="1">
                <a:solidFill>
                  <a:srgbClr val="14233B"/>
                </a:solidFill>
                <a:latin typeface="Arial"/>
                <a:ea typeface="Arial"/>
                <a:cs typeface="Arial"/>
              </a:rPr>
              <a:t>Pass@1 / Pass@K</a:t>
            </a:r>
          </a:p>
          <a:p xmlns:a="http://schemas.openxmlformats.org/drawingml/2006/main">
            <a:pPr algn="l">
              <a:lnSpc>
                <a:spcPct val="115000"/>
              </a:lnSpc>
              <a:buNone/>
              <a:defRPr sz="1275" b="1">
                <a:solidFill>
                  <a:srgbClr val="14233B"/>
                </a:solidFill>
                <a:latin typeface="Arial"/>
                <a:ea typeface="Arial"/>
                <a:cs typeface="Arial"/>
              </a:defRPr>
            </a:pPr>
            <a:r>
              <a:rPr sz="1275" b="1">
                <a:solidFill>
                  <a:srgbClr val="14233B"/>
                </a:solidFill>
                <a:latin typeface="Arial"/>
                <a:ea typeface="Arial"/>
                <a:cs typeface="Arial"/>
              </a:rPr>
              <a:t>Thời gian / token</a:t>
            </a:r>
          </a:p>
          <a:p xmlns:a="http://schemas.openxmlformats.org/drawingml/2006/main">
            <a:pPr algn="l">
              <a:lnSpc>
                <a:spcPct val="115000"/>
              </a:lnSpc>
              <a:buNone/>
              <a:defRPr sz="1275" b="1">
                <a:solidFill>
                  <a:srgbClr val="14233B"/>
                </a:solidFill>
                <a:latin typeface="Arial"/>
                <a:ea typeface="Arial"/>
                <a:cs typeface="Arial"/>
              </a:defRPr>
            </a:pPr>
            <a:r>
              <a:rPr sz="1275" b="1">
                <a:solidFill>
                  <a:srgbClr val="14233B"/>
                </a:solidFill>
                <a:latin typeface="Arial"/>
                <a:ea typeface="Arial"/>
                <a:cs typeface="Arial"/>
              </a:rPr>
              <a:t>Phân loại lỗi</a:t>
            </a:r>
          </a:p>
        </p:txBody>
      </p:sp>
      <p:sp>
        <p:nvSpPr>
          <p:cNvPr id="18" name="">
            <a:extLst xmlns:a="http://schemas.openxmlformats.org/drawingml/2006/main">
              <a:ext uri="{FF2B5EF4-FFF2-40B4-BE49-F238E27FC236}">
                <a16:creationId xmlns:a16="http://schemas.microsoft.com/office/drawing/2014/main" id="{34473020-06EF-462F-BD4D-ED702E237AAE}"/>
              </a:ext>
            </a:extLst>
          </p:cNvPr>
          <p:cNvSpPr>
            <a:spLocks xmlns:a="http://schemas.openxmlformats.org/drawingml/2006/main" noGrp="1"/>
          </p:cNvSpPr>
          <p:nvPr/>
        </p:nvSpPr>
        <p:spPr>
          <a:xfrm xmlns:a="http://schemas.openxmlformats.org/drawingml/2006/main">
            <a:off x="8820150" y="2114550"/>
            <a:ext cx="2286000" cy="2133600"/>
          </a:xfrm>
          <a:prstGeom xmlns:a="http://schemas.openxmlformats.org/drawingml/2006/main" prst="roundRect">
            <a:avLst>
              <a:gd name="adj" fmla="val 6250"/>
            </a:avLst>
          </a:prstGeom>
          <a:solidFill xmlns:a="http://schemas.openxmlformats.org/drawingml/2006/main">
            <a:srgbClr val="E4F4EC"/>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89FB3A84-1A37-4371-B7BF-14A48EB70278}"/>
              </a:ext>
            </a:extLst>
          </p:cNvPr>
          <p:cNvSpPr>
            <a:spLocks xmlns:a="http://schemas.openxmlformats.org/drawingml/2006/main" noGrp="1"/>
          </p:cNvSpPr>
          <p:nvPr/>
        </p:nvSpPr>
        <p:spPr>
          <a:xfrm xmlns:a="http://schemas.openxmlformats.org/drawingml/2006/main">
            <a:off x="8991600" y="2400300"/>
            <a:ext cx="438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00" b="1">
                <a:solidFill>
                  <a:srgbClr val="23805A"/>
                </a:solidFill>
                <a:latin typeface="Arial"/>
                <a:ea typeface="Arial"/>
                <a:cs typeface="Arial"/>
              </a:defRPr>
            </a:defPPr>
          </a:lstStyle>
          <a:p xmlns:a="http://schemas.openxmlformats.org/drawingml/2006/main">
            <a:pPr algn="l">
              <a:lnSpc>
                <a:spcPct val="100000"/>
              </a:lnSpc>
              <a:buNone/>
              <a:defRPr sz="2100" b="1">
                <a:solidFill>
                  <a:srgbClr val="23805A"/>
                </a:solidFill>
                <a:latin typeface="Arial"/>
                <a:ea typeface="Arial"/>
                <a:cs typeface="Arial"/>
              </a:defRPr>
            </a:pPr>
            <a:r>
              <a:rPr sz="2100" b="1">
                <a:solidFill>
                  <a:srgbClr val="23805A"/>
                </a:solidFill>
                <a:latin typeface="Arial"/>
                <a:ea typeface="Arial"/>
                <a:cs typeface="Arial"/>
              </a:rPr>
              <a:t>04</a:t>
            </a:r>
          </a:p>
        </p:txBody>
      </p:sp>
      <p:sp>
        <p:nvSpPr>
          <p:cNvPr id="20" name="">
            <a:extLst xmlns:a="http://schemas.openxmlformats.org/drawingml/2006/main">
              <a:ext uri="{FF2B5EF4-FFF2-40B4-BE49-F238E27FC236}">
                <a16:creationId xmlns:a16="http://schemas.microsoft.com/office/drawing/2014/main" id="{D2625673-D36D-4918-B8D2-AF26EF4A9D62}"/>
              </a:ext>
            </a:extLst>
          </p:cNvPr>
          <p:cNvSpPr>
            <a:spLocks xmlns:a="http://schemas.openxmlformats.org/drawingml/2006/main" noGrp="1"/>
          </p:cNvSpPr>
          <p:nvPr/>
        </p:nvSpPr>
        <p:spPr>
          <a:xfrm xmlns:a="http://schemas.openxmlformats.org/drawingml/2006/main">
            <a:off x="8991600" y="2895600"/>
            <a:ext cx="1952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23805A"/>
                </a:solidFill>
                <a:latin typeface="Arial"/>
                <a:ea typeface="Arial"/>
                <a:cs typeface="Arial"/>
              </a:defRPr>
            </a:defPPr>
          </a:lstStyle>
          <a:p xmlns:a="http://schemas.openxmlformats.org/drawingml/2006/main">
            <a:pPr algn="l">
              <a:lnSpc>
                <a:spcPct val="100000"/>
              </a:lnSpc>
              <a:buNone/>
              <a:defRPr sz="1125" b="1">
                <a:solidFill>
                  <a:srgbClr val="23805A"/>
                </a:solidFill>
                <a:latin typeface="Arial"/>
                <a:ea typeface="Arial"/>
                <a:cs typeface="Arial"/>
              </a:defRPr>
            </a:pPr>
            <a:r>
              <a:rPr sz="1125" b="1">
                <a:solidFill>
                  <a:srgbClr val="23805A"/>
                </a:solidFill>
                <a:latin typeface="Arial"/>
                <a:ea typeface="Arial"/>
                <a:cs typeface="Arial"/>
              </a:rPr>
              <a:t>TÁI LẬP, BÁO CÁO</a:t>
            </a:r>
          </a:p>
        </p:txBody>
      </p:sp>
      <p:sp>
        <p:nvSpPr>
          <p:cNvPr id="21" name="">
            <a:extLst xmlns:a="http://schemas.openxmlformats.org/drawingml/2006/main">
              <a:ext uri="{FF2B5EF4-FFF2-40B4-BE49-F238E27FC236}">
                <a16:creationId xmlns:a16="http://schemas.microsoft.com/office/drawing/2014/main" id="{3B4A033F-6ED4-4EE9-A94D-D852E19FF4C4}"/>
              </a:ext>
            </a:extLst>
          </p:cNvPr>
          <p:cNvSpPr>
            <a:spLocks xmlns:a="http://schemas.openxmlformats.org/drawingml/2006/main" noGrp="1"/>
          </p:cNvSpPr>
          <p:nvPr/>
        </p:nvSpPr>
        <p:spPr>
          <a:xfrm xmlns:a="http://schemas.openxmlformats.org/drawingml/2006/main">
            <a:off x="8991600" y="3295650"/>
            <a:ext cx="19526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14233B"/>
                </a:solidFill>
                <a:latin typeface="Arial"/>
                <a:ea typeface="Arial"/>
                <a:cs typeface="Arial"/>
              </a:defRPr>
            </a:defPPr>
          </a:lstStyle>
          <a:p xmlns:a="http://schemas.openxmlformats.org/drawingml/2006/main">
            <a:pPr algn="l">
              <a:lnSpc>
                <a:spcPct val="115000"/>
              </a:lnSpc>
              <a:buNone/>
              <a:defRPr sz="1275" b="1">
                <a:solidFill>
                  <a:srgbClr val="14233B"/>
                </a:solidFill>
                <a:latin typeface="Arial"/>
                <a:ea typeface="Arial"/>
                <a:cs typeface="Arial"/>
              </a:defRPr>
            </a:pPr>
            <a:r>
              <a:rPr sz="1275" b="1">
                <a:solidFill>
                  <a:srgbClr val="14233B"/>
                </a:solidFill>
                <a:latin typeface="Arial"/>
                <a:ea typeface="Arial"/>
                <a:cs typeface="Arial"/>
              </a:rPr>
              <a:t>Lưu log đầy đủ</a:t>
            </a:r>
          </a:p>
          <a:p xmlns:a="http://schemas.openxmlformats.org/drawingml/2006/main">
            <a:pPr algn="l">
              <a:lnSpc>
                <a:spcPct val="115000"/>
              </a:lnSpc>
              <a:buNone/>
              <a:defRPr sz="1275" b="1">
                <a:solidFill>
                  <a:srgbClr val="14233B"/>
                </a:solidFill>
                <a:latin typeface="Arial"/>
                <a:ea typeface="Arial"/>
                <a:cs typeface="Arial"/>
              </a:defRPr>
            </a:pPr>
            <a:r>
              <a:rPr sz="1275" b="1">
                <a:solidFill>
                  <a:srgbClr val="14233B"/>
                </a:solidFill>
                <a:latin typeface="Arial"/>
                <a:ea typeface="Arial"/>
                <a:cs typeface="Arial"/>
              </a:rPr>
              <a:t>Kiểm tra kết quả</a:t>
            </a:r>
          </a:p>
          <a:p xmlns:a="http://schemas.openxmlformats.org/drawingml/2006/main">
            <a:pPr algn="l">
              <a:lnSpc>
                <a:spcPct val="115000"/>
              </a:lnSpc>
              <a:buNone/>
              <a:defRPr sz="1275" b="1">
                <a:solidFill>
                  <a:srgbClr val="14233B"/>
                </a:solidFill>
                <a:latin typeface="Arial"/>
                <a:ea typeface="Arial"/>
                <a:cs typeface="Arial"/>
              </a:defRPr>
            </a:pPr>
            <a:r>
              <a:rPr sz="1275" b="1">
                <a:solidFill>
                  <a:srgbClr val="14233B"/>
                </a:solidFill>
                <a:latin typeface="Arial"/>
                <a:ea typeface="Arial"/>
                <a:cs typeface="Arial"/>
              </a:rPr>
              <a:t>Demo và báo cáo</a:t>
            </a:r>
          </a:p>
        </p:txBody>
      </p:sp>
      <p:sp>
        <p:nvSpPr>
          <p:cNvPr id="22" name="">
            <a:extLst xmlns:a="http://schemas.openxmlformats.org/drawingml/2006/main">
              <a:ext uri="{FF2B5EF4-FFF2-40B4-BE49-F238E27FC236}">
                <a16:creationId xmlns:a16="http://schemas.microsoft.com/office/drawing/2014/main" id="{E0DD3143-43B0-4F15-ACB4-2A0EFE4EB473}"/>
              </a:ext>
            </a:extLst>
          </p:cNvPr>
          <p:cNvSpPr>
            <a:spLocks xmlns:a="http://schemas.openxmlformats.org/drawingml/2006/main" noGrp="1"/>
          </p:cNvSpPr>
          <p:nvPr/>
        </p:nvSpPr>
        <p:spPr>
          <a:xfrm xmlns:a="http://schemas.openxmlformats.org/drawingml/2006/main">
            <a:off x="2876550" y="3181350"/>
            <a:ext cx="457200" cy="0"/>
          </a:xfrm>
          <a:prstGeom xmlns:a="http://schemas.openxmlformats.org/drawingml/2006/main" prst="line">
            <a:avLst/>
          </a:prstGeom>
          <a:noFill xmlns:a="http://schemas.openxmlformats.org/drawingml/2006/main"/>
          <a:ln xmlns:a="http://schemas.openxmlformats.org/drawingml/2006/main" w="19050">
            <a:solidFill>
              <a:srgbClr val="D8E0EA"/>
            </a:solidFill>
            <a:prstDash val="solid"/>
          </a:ln>
        </p:spPr>
      </p:sp>
      <p:sp>
        <p:nvSpPr>
          <p:cNvPr id="23" name="">
            <a:extLst xmlns:a="http://schemas.openxmlformats.org/drawingml/2006/main">
              <a:ext uri="{FF2B5EF4-FFF2-40B4-BE49-F238E27FC236}">
                <a16:creationId xmlns:a16="http://schemas.microsoft.com/office/drawing/2014/main" id="{22DC622E-3993-4D51-954C-AA0DE178727C}"/>
              </a:ext>
            </a:extLst>
          </p:cNvPr>
          <p:cNvSpPr>
            <a:spLocks xmlns:a="http://schemas.openxmlformats.org/drawingml/2006/main" noGrp="1"/>
          </p:cNvSpPr>
          <p:nvPr/>
        </p:nvSpPr>
        <p:spPr>
          <a:xfrm xmlns:a="http://schemas.openxmlformats.org/drawingml/2006/main">
            <a:off x="5619750" y="3181350"/>
            <a:ext cx="457200" cy="0"/>
          </a:xfrm>
          <a:prstGeom xmlns:a="http://schemas.openxmlformats.org/drawingml/2006/main" prst="line">
            <a:avLst/>
          </a:prstGeom>
          <a:noFill xmlns:a="http://schemas.openxmlformats.org/drawingml/2006/main"/>
          <a:ln xmlns:a="http://schemas.openxmlformats.org/drawingml/2006/main" w="19050">
            <a:solidFill>
              <a:srgbClr val="D8E0EA"/>
            </a:solidFill>
            <a:prstDash val="solid"/>
          </a:ln>
        </p:spPr>
      </p:sp>
      <p:sp>
        <p:nvSpPr>
          <p:cNvPr id="24" name="">
            <a:extLst xmlns:a="http://schemas.openxmlformats.org/drawingml/2006/main">
              <a:ext uri="{FF2B5EF4-FFF2-40B4-BE49-F238E27FC236}">
                <a16:creationId xmlns:a16="http://schemas.microsoft.com/office/drawing/2014/main" id="{7AF596DB-F7EE-4D76-AE06-2DF5F1EBED58}"/>
              </a:ext>
            </a:extLst>
          </p:cNvPr>
          <p:cNvSpPr>
            <a:spLocks xmlns:a="http://schemas.openxmlformats.org/drawingml/2006/main" noGrp="1"/>
          </p:cNvSpPr>
          <p:nvPr/>
        </p:nvSpPr>
        <p:spPr>
          <a:xfrm xmlns:a="http://schemas.openxmlformats.org/drawingml/2006/main">
            <a:off x="8362950" y="3181350"/>
            <a:ext cx="457200" cy="0"/>
          </a:xfrm>
          <a:prstGeom xmlns:a="http://schemas.openxmlformats.org/drawingml/2006/main" prst="line">
            <a:avLst/>
          </a:prstGeom>
          <a:noFill xmlns:a="http://schemas.openxmlformats.org/drawingml/2006/main"/>
          <a:ln xmlns:a="http://schemas.openxmlformats.org/drawingml/2006/main" w="19050">
            <a:solidFill>
              <a:srgbClr val="D8E0EA"/>
            </a:solidFill>
            <a:prstDash val="solid"/>
          </a:ln>
        </p:spPr>
      </p:sp>
      <p:sp>
        <p:nvSpPr>
          <p:cNvPr id="25" name="">
            <a:extLst xmlns:a="http://schemas.openxmlformats.org/drawingml/2006/main">
              <a:ext uri="{FF2B5EF4-FFF2-40B4-BE49-F238E27FC236}">
                <a16:creationId xmlns:a16="http://schemas.microsoft.com/office/drawing/2014/main" id="{72BB2DE6-A063-49A8-8CE4-3E0EB84A0A94}"/>
              </a:ext>
            </a:extLst>
          </p:cNvPr>
          <p:cNvSpPr>
            <a:spLocks xmlns:a="http://schemas.openxmlformats.org/drawingml/2006/main" noGrp="1"/>
          </p:cNvSpPr>
          <p:nvPr/>
        </p:nvSpPr>
        <p:spPr>
          <a:xfrm xmlns:a="http://schemas.openxmlformats.org/drawingml/2006/main">
            <a:off x="590550" y="4600575"/>
            <a:ext cx="11010900" cy="952500"/>
          </a:xfrm>
          <a:prstGeom xmlns:a="http://schemas.openxmlformats.org/drawingml/2006/main" prst="roundRect">
            <a:avLst>
              <a:gd name="adj" fmla="val 14000"/>
            </a:avLst>
          </a:prstGeom>
          <a:solidFill xmlns:a="http://schemas.openxmlformats.org/drawingml/2006/main">
            <a:srgbClr val="FFFFFF"/>
          </a:solidFill>
          <a:ln xmlns:a="http://schemas.openxmlformats.org/drawingml/2006/main" w="9525">
            <a:solidFill>
              <a:srgbClr val="D8E0EA"/>
            </a:solidFill>
            <a:prstDash val="solid"/>
          </a:ln>
        </p:spPr>
      </p:sp>
      <p:sp>
        <p:nvSpPr>
          <p:cNvPr id="26" name="">
            <a:extLst xmlns:a="http://schemas.openxmlformats.org/drawingml/2006/main">
              <a:ext uri="{FF2B5EF4-FFF2-40B4-BE49-F238E27FC236}">
                <a16:creationId xmlns:a16="http://schemas.microsoft.com/office/drawing/2014/main" id="{8B965757-8338-4242-B0D8-970F56C559D0}"/>
              </a:ext>
            </a:extLst>
          </p:cNvPr>
          <p:cNvSpPr>
            <a:spLocks xmlns:a="http://schemas.openxmlformats.org/drawingml/2006/main" noGrp="1"/>
          </p:cNvSpPr>
          <p:nvPr/>
        </p:nvSpPr>
        <p:spPr>
          <a:xfrm xmlns:a="http://schemas.openxmlformats.org/drawingml/2006/main">
            <a:off x="800100" y="47434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52647A"/>
                </a:solidFill>
                <a:latin typeface="Arial"/>
                <a:ea typeface="Arial"/>
                <a:cs typeface="Arial"/>
              </a:defRPr>
            </a:defPPr>
          </a:lstStyle>
          <a:p xmlns:a="http://schemas.openxmlformats.org/drawingml/2006/main">
            <a:pPr algn="l">
              <a:lnSpc>
                <a:spcPct val="100000"/>
              </a:lnSpc>
              <a:buNone/>
              <a:defRPr sz="1125" b="1">
                <a:solidFill>
                  <a:srgbClr val="52647A"/>
                </a:solidFill>
                <a:latin typeface="Arial"/>
                <a:ea typeface="Arial"/>
                <a:cs typeface="Arial"/>
              </a:defRPr>
            </a:pPr>
            <a:r>
              <a:rPr sz="1125" b="1">
                <a:solidFill>
                  <a:srgbClr val="52647A"/>
                </a:solidFill>
                <a:latin typeface="Arial"/>
                <a:ea typeface="Arial"/>
                <a:cs typeface="Arial"/>
              </a:rPr>
              <a:t>ĐIỀU KIỆN SO SÁNH CÔNG BẰNG</a:t>
            </a:r>
          </a:p>
        </p:txBody>
      </p:sp>
      <p:sp>
        <p:nvSpPr>
          <p:cNvPr id="27" name="">
            <a:extLst xmlns:a="http://schemas.openxmlformats.org/drawingml/2006/main">
              <a:ext uri="{FF2B5EF4-FFF2-40B4-BE49-F238E27FC236}">
                <a16:creationId xmlns:a16="http://schemas.microsoft.com/office/drawing/2014/main" id="{19A0CB4D-955C-4946-8B27-B13DF353F28D}"/>
              </a:ext>
            </a:extLst>
          </p:cNvPr>
          <p:cNvSpPr>
            <a:spLocks xmlns:a="http://schemas.openxmlformats.org/drawingml/2006/main" noGrp="1"/>
          </p:cNvSpPr>
          <p:nvPr/>
        </p:nvSpPr>
        <p:spPr>
          <a:xfrm xmlns:a="http://schemas.openxmlformats.org/drawingml/2006/main">
            <a:off x="800100" y="51530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4233B"/>
                </a:solidFill>
                <a:latin typeface="Arial"/>
                <a:ea typeface="Arial"/>
                <a:cs typeface="Arial"/>
              </a:defRPr>
            </a:defPPr>
          </a:lstStyle>
          <a:p xmlns:a="http://schemas.openxmlformats.org/drawingml/2006/main">
            <a:pPr algn="l">
              <a:lnSpc>
                <a:spcPct val="100000"/>
              </a:lnSpc>
              <a:buNone/>
              <a:defRPr sz="1200" b="1">
                <a:solidFill>
                  <a:srgbClr val="14233B"/>
                </a:solidFill>
                <a:latin typeface="Arial"/>
                <a:ea typeface="Arial"/>
                <a:cs typeface="Arial"/>
              </a:defRPr>
            </a:pPr>
            <a:r>
              <a:rPr sz="1200" b="1">
                <a:solidFill>
                  <a:srgbClr val="14233B"/>
                </a:solidFill>
                <a:latin typeface="Arial"/>
                <a:ea typeface="Arial"/>
                <a:cs typeface="Arial"/>
              </a:rPr>
              <a:t>Cùng tập benchmark</a:t>
            </a:r>
          </a:p>
        </p:txBody>
      </p:sp>
      <p:sp>
        <p:nvSpPr>
          <p:cNvPr id="28" name="">
            <a:extLst xmlns:a="http://schemas.openxmlformats.org/drawingml/2006/main">
              <a:ext uri="{FF2B5EF4-FFF2-40B4-BE49-F238E27FC236}">
                <a16:creationId xmlns:a16="http://schemas.microsoft.com/office/drawing/2014/main" id="{C24B1098-C0B4-48D0-8C3B-5BED452E5F7C}"/>
              </a:ext>
            </a:extLst>
          </p:cNvPr>
          <p:cNvSpPr>
            <a:spLocks xmlns:a="http://schemas.openxmlformats.org/drawingml/2006/main" noGrp="1"/>
          </p:cNvSpPr>
          <p:nvPr/>
        </p:nvSpPr>
        <p:spPr>
          <a:xfrm xmlns:a="http://schemas.openxmlformats.org/drawingml/2006/main">
            <a:off x="4191000" y="515302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4233B"/>
                </a:solidFill>
                <a:latin typeface="Arial"/>
                <a:ea typeface="Arial"/>
                <a:cs typeface="Arial"/>
              </a:defRPr>
            </a:defPPr>
          </a:lstStyle>
          <a:p xmlns:a="http://schemas.openxmlformats.org/drawingml/2006/main">
            <a:pPr algn="l">
              <a:lnSpc>
                <a:spcPct val="100000"/>
              </a:lnSpc>
              <a:buNone/>
              <a:defRPr sz="1200" b="1">
                <a:solidFill>
                  <a:srgbClr val="14233B"/>
                </a:solidFill>
                <a:latin typeface="Arial"/>
                <a:ea typeface="Arial"/>
                <a:cs typeface="Arial"/>
              </a:defRPr>
            </a:pPr>
            <a:r>
              <a:rPr sz="1200" b="1">
                <a:solidFill>
                  <a:srgbClr val="14233B"/>
                </a:solidFill>
                <a:latin typeface="Arial"/>
                <a:ea typeface="Arial"/>
                <a:cs typeface="Arial"/>
              </a:rPr>
              <a:t>Cùng model và prompt</a:t>
            </a:r>
          </a:p>
        </p:txBody>
      </p:sp>
      <p:sp>
        <p:nvSpPr>
          <p:cNvPr id="29" name="">
            <a:extLst xmlns:a="http://schemas.openxmlformats.org/drawingml/2006/main">
              <a:ext uri="{FF2B5EF4-FFF2-40B4-BE49-F238E27FC236}">
                <a16:creationId xmlns:a16="http://schemas.microsoft.com/office/drawing/2014/main" id="{1E54A429-5893-4570-B9A8-A279B7662969}"/>
              </a:ext>
            </a:extLst>
          </p:cNvPr>
          <p:cNvSpPr>
            <a:spLocks xmlns:a="http://schemas.openxmlformats.org/drawingml/2006/main" noGrp="1"/>
          </p:cNvSpPr>
          <p:nvPr/>
        </p:nvSpPr>
        <p:spPr>
          <a:xfrm xmlns:a="http://schemas.openxmlformats.org/drawingml/2006/main">
            <a:off x="7886700" y="51530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4233B"/>
                </a:solidFill>
                <a:latin typeface="Arial"/>
                <a:ea typeface="Arial"/>
                <a:cs typeface="Arial"/>
              </a:defRPr>
            </a:defPPr>
          </a:lstStyle>
          <a:p xmlns:a="http://schemas.openxmlformats.org/drawingml/2006/main">
            <a:pPr algn="l">
              <a:lnSpc>
                <a:spcPct val="100000"/>
              </a:lnSpc>
              <a:buNone/>
              <a:defRPr sz="1200" b="1">
                <a:solidFill>
                  <a:srgbClr val="14233B"/>
                </a:solidFill>
                <a:latin typeface="Arial"/>
                <a:ea typeface="Arial"/>
                <a:cs typeface="Arial"/>
              </a:defRPr>
            </a:pPr>
            <a:r>
              <a:rPr sz="1200" b="1">
                <a:solidFill>
                  <a:srgbClr val="14233B"/>
                </a:solidFill>
                <a:latin typeface="Arial"/>
                <a:ea typeface="Arial"/>
                <a:cs typeface="Arial"/>
              </a:rPr>
              <a:t>Cùng K và timeout</a:t>
            </a:r>
          </a:p>
        </p:txBody>
      </p:sp>
      <p:sp>
        <p:nvSpPr>
          <p:cNvPr id="30" name="">
            <a:extLst xmlns:a="http://schemas.openxmlformats.org/drawingml/2006/main">
              <a:ext uri="{FF2B5EF4-FFF2-40B4-BE49-F238E27FC236}">
                <a16:creationId xmlns:a16="http://schemas.microsoft.com/office/drawing/2014/main" id="{45CFA4D3-2667-450B-9A4A-0542AA2C8862}"/>
              </a:ext>
            </a:extLst>
          </p:cNvPr>
          <p:cNvSpPr>
            <a:spLocks xmlns:a="http://schemas.openxmlformats.org/drawingml/2006/main" noGrp="1"/>
          </p:cNvSpPr>
          <p:nvPr/>
        </p:nvSpPr>
        <p:spPr>
          <a:xfrm xmlns:a="http://schemas.openxmlformats.org/drawingml/2006/main">
            <a:off x="590550" y="5848350"/>
            <a:ext cx="1095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2563EB"/>
                </a:solidFill>
                <a:latin typeface="Arial"/>
                <a:ea typeface="Arial"/>
                <a:cs typeface="Arial"/>
              </a:defRPr>
            </a:defPPr>
          </a:lstStyle>
          <a:p xmlns:a="http://schemas.openxmlformats.org/drawingml/2006/main">
            <a:pPr algn="l">
              <a:lnSpc>
                <a:spcPct val="100000"/>
              </a:lnSpc>
              <a:buNone/>
              <a:defRPr sz="1200" b="1">
                <a:solidFill>
                  <a:srgbClr val="2563EB"/>
                </a:solidFill>
                <a:latin typeface="Arial"/>
                <a:ea typeface="Arial"/>
                <a:cs typeface="Arial"/>
              </a:defRPr>
            </a:pPr>
            <a:r>
              <a:rPr sz="1200" b="1">
                <a:solidFill>
                  <a:srgbClr val="2563EB"/>
                </a:solidFill>
                <a:latin typeface="Arial"/>
                <a:ea typeface="Arial"/>
                <a:cs typeface="Arial"/>
              </a:rPr>
              <a:t>Kết quả dự kiến: prototype, benchmark có manifest, dữ liệu/log và báo cáo thực nghiệm.</a:t>
            </a:r>
          </a:p>
        </p:txBody>
      </p:sp>
    </p:spTree>
    <p:extLst>
      <p:ext uri="{BB962C8B-B14F-4D97-AF65-F5344CB8AC3E}">
        <p14:creationId xmlns:p14="http://schemas.microsoft.com/office/powerpoint/2010/main" val="662548076"/>
      </p:ext>
    </p:extLst>
  </p:cSld>
</p:sld>
</file>

<file path=ppt/slides/slide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AA9A55E6-C295-4E33-86B7-26CA711DE8AA}"/>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563E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E58736C-6FEB-43B5-8790-C2951683C2FC}"/>
              </a:ext>
            </a:extLst>
          </p:cNvPr>
          <p:cNvSpPr>
            <a:spLocks xmlns:a="http://schemas.openxmlformats.org/drawingml/2006/main" noGrp="1"/>
          </p:cNvSpPr>
          <p:nvPr/>
        </p:nvSpPr>
        <p:spPr>
          <a:xfrm xmlns:a="http://schemas.openxmlformats.org/drawingml/2006/main">
            <a:off x="590550" y="3238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2563EB"/>
                </a:solidFill>
                <a:latin typeface="Arial"/>
                <a:ea typeface="Arial"/>
                <a:cs typeface="Arial"/>
              </a:defRPr>
            </a:defPPr>
          </a:lstStyle>
          <a:p xmlns:a="http://schemas.openxmlformats.org/drawingml/2006/main">
            <a:pPr algn="l">
              <a:lnSpc>
                <a:spcPct val="100000"/>
              </a:lnSpc>
              <a:buNone/>
              <a:defRPr sz="975" b="1">
                <a:solidFill>
                  <a:srgbClr val="2563EB"/>
                </a:solidFill>
                <a:latin typeface="Arial"/>
                <a:ea typeface="Arial"/>
                <a:cs typeface="Arial"/>
              </a:defRPr>
            </a:pPr>
            <a:r>
              <a:rPr sz="975" b="1">
                <a:solidFill>
                  <a:srgbClr val="2563EB"/>
                </a:solidFill>
                <a:latin typeface="Arial"/>
                <a:ea typeface="Arial"/>
                <a:cs typeface="Arial"/>
              </a:rPr>
              <a:t>NCKH SINH VIÊN 2026</a:t>
            </a:r>
          </a:p>
        </p:txBody>
      </p:sp>
      <p:sp>
        <p:nvSpPr>
          <p:cNvPr id="3" name="">
            <a:extLst xmlns:a="http://schemas.openxmlformats.org/drawingml/2006/main">
              <a:ext uri="{FF2B5EF4-FFF2-40B4-BE49-F238E27FC236}">
                <a16:creationId xmlns:a16="http://schemas.microsoft.com/office/drawing/2014/main" id="{9C3B9D16-4BA5-4272-B505-E6F53A7884C6}"/>
              </a:ext>
            </a:extLst>
          </p:cNvPr>
          <p:cNvSpPr>
            <a:spLocks xmlns:a="http://schemas.openxmlformats.org/drawingml/2006/main" noGrp="1"/>
          </p:cNvSpPr>
          <p:nvPr/>
        </p:nvSpPr>
        <p:spPr>
          <a:xfrm xmlns:a="http://schemas.openxmlformats.org/drawingml/2006/main">
            <a:off x="590550" y="666750"/>
            <a:ext cx="11010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550" b="1">
                <a:solidFill>
                  <a:srgbClr val="14233B"/>
                </a:solidFill>
                <a:latin typeface="Arial"/>
                <a:ea typeface="Arial"/>
                <a:cs typeface="Arial"/>
              </a:defRPr>
            </a:defPPr>
          </a:lstStyle>
          <a:p xmlns:a="http://schemas.openxmlformats.org/drawingml/2006/main">
            <a:pPr algn="l">
              <a:lnSpc>
                <a:spcPct val="100000"/>
              </a:lnSpc>
              <a:buNone/>
              <a:defRPr sz="2550" b="1">
                <a:solidFill>
                  <a:srgbClr val="14233B"/>
                </a:solidFill>
                <a:latin typeface="Arial"/>
                <a:ea typeface="Arial"/>
                <a:cs typeface="Arial"/>
              </a:defRPr>
            </a:pPr>
            <a:r>
              <a:rPr sz="2550" b="1">
                <a:solidFill>
                  <a:srgbClr val="14233B"/>
                </a:solidFill>
                <a:latin typeface="Arial"/>
                <a:ea typeface="Arial"/>
                <a:cs typeface="Arial"/>
              </a:rPr>
              <a:t>Kết quả dự kiến và giới hạn</a:t>
            </a:r>
          </a:p>
        </p:txBody>
      </p:sp>
      <p:sp>
        <p:nvSpPr>
          <p:cNvPr id="4" name="">
            <a:extLst xmlns:a="http://schemas.openxmlformats.org/drawingml/2006/main">
              <a:ext uri="{FF2B5EF4-FFF2-40B4-BE49-F238E27FC236}">
                <a16:creationId xmlns:a16="http://schemas.microsoft.com/office/drawing/2014/main" id="{01ED18CE-8887-47FC-A9F5-C0007A57BA8B}"/>
              </a:ext>
            </a:extLst>
          </p:cNvPr>
          <p:cNvSpPr>
            <a:spLocks xmlns:a="http://schemas.openxmlformats.org/drawingml/2006/main" noGrp="1"/>
          </p:cNvSpPr>
          <p:nvPr/>
        </p:nvSpPr>
        <p:spPr>
          <a:xfrm xmlns:a="http://schemas.openxmlformats.org/drawingml/2006/main">
            <a:off x="590550" y="1304925"/>
            <a:ext cx="11010900" cy="0"/>
          </a:xfrm>
          <a:prstGeom xmlns:a="http://schemas.openxmlformats.org/drawingml/2006/main" prst="line">
            <a:avLst/>
          </a:prstGeom>
          <a:noFill xmlns:a="http://schemas.openxmlformats.org/drawingml/2006/main"/>
          <a:ln xmlns:a="http://schemas.openxmlformats.org/drawingml/2006/main" w="9525">
            <a:solidFill>
              <a:srgbClr val="D8E0EA"/>
            </a:solidFill>
            <a:prstDash val="solid"/>
          </a:ln>
        </p:spPr>
      </p:sp>
      <p:sp>
        <p:nvSpPr>
          <p:cNvPr id="5" name="">
            <a:extLst xmlns:a="http://schemas.openxmlformats.org/drawingml/2006/main">
              <a:ext uri="{FF2B5EF4-FFF2-40B4-BE49-F238E27FC236}">
                <a16:creationId xmlns:a16="http://schemas.microsoft.com/office/drawing/2014/main" id="{C047F288-BA34-4010-B320-601AADC12B2B}"/>
              </a:ext>
            </a:extLst>
          </p:cNvPr>
          <p:cNvSpPr>
            <a:spLocks xmlns:a="http://schemas.openxmlformats.org/drawingml/2006/main" noGrp="1"/>
          </p:cNvSpPr>
          <p:nvPr/>
        </p:nvSpPr>
        <p:spPr>
          <a:xfrm xmlns:a="http://schemas.openxmlformats.org/drawingml/2006/main">
            <a:off x="10572750" y="6438900"/>
            <a:ext cx="1028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52647A"/>
                </a:solidFill>
                <a:latin typeface="Arial"/>
                <a:ea typeface="Arial"/>
                <a:cs typeface="Arial"/>
              </a:defRPr>
            </a:defPPr>
          </a:lstStyle>
          <a:p xmlns:a="http://schemas.openxmlformats.org/drawingml/2006/main">
            <a:pPr algn="r">
              <a:lnSpc>
                <a:spcPct val="100000"/>
              </a:lnSpc>
              <a:buNone/>
              <a:defRPr sz="975" b="1">
                <a:solidFill>
                  <a:srgbClr val="52647A"/>
                </a:solidFill>
                <a:latin typeface="Arial"/>
                <a:ea typeface="Arial"/>
                <a:cs typeface="Arial"/>
              </a:defRPr>
            </a:pPr>
            <a:r>
              <a:rPr sz="975" b="1">
                <a:solidFill>
                  <a:srgbClr val="52647A"/>
                </a:solidFill>
                <a:latin typeface="Arial"/>
                <a:ea typeface="Arial"/>
                <a:cs typeface="Arial"/>
              </a:rPr>
              <a:t>07  /  07</a:t>
            </a:r>
          </a:p>
        </p:txBody>
      </p:sp>
      <p:sp>
        <p:nvSpPr>
          <p:cNvPr id="6" name="">
            <a:extLst xmlns:a="http://schemas.openxmlformats.org/drawingml/2006/main">
              <a:ext uri="{FF2B5EF4-FFF2-40B4-BE49-F238E27FC236}">
                <a16:creationId xmlns:a16="http://schemas.microsoft.com/office/drawing/2014/main" id="{CFC6B5EA-7E73-4EF2-AA8F-190C1ABA34CE}"/>
              </a:ext>
            </a:extLst>
          </p:cNvPr>
          <p:cNvSpPr>
            <a:spLocks xmlns:a="http://schemas.openxmlformats.org/drawingml/2006/main" noGrp="1"/>
          </p:cNvSpPr>
          <p:nvPr/>
        </p:nvSpPr>
        <p:spPr>
          <a:xfrm xmlns:a="http://schemas.openxmlformats.org/drawingml/2006/main">
            <a:off x="590550" y="1581150"/>
            <a:ext cx="3476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2563EB"/>
                </a:solidFill>
                <a:latin typeface="Arial"/>
                <a:ea typeface="Arial"/>
                <a:cs typeface="Arial"/>
              </a:defRPr>
            </a:defPPr>
          </a:lstStyle>
          <a:p xmlns:a="http://schemas.openxmlformats.org/drawingml/2006/main">
            <a:pPr algn="l">
              <a:lnSpc>
                <a:spcPct val="100000"/>
              </a:lnSpc>
              <a:buNone/>
              <a:defRPr sz="1350" b="1">
                <a:solidFill>
                  <a:srgbClr val="2563EB"/>
                </a:solidFill>
                <a:latin typeface="Arial"/>
                <a:ea typeface="Arial"/>
                <a:cs typeface="Arial"/>
              </a:defRPr>
            </a:pPr>
            <a:r>
              <a:rPr sz="1350" b="1">
                <a:solidFill>
                  <a:srgbClr val="2563EB"/>
                </a:solidFill>
                <a:latin typeface="Arial"/>
                <a:ea typeface="Arial"/>
                <a:cs typeface="Arial"/>
              </a:rPr>
              <a:t>Đầu ra dự kiến</a:t>
            </a:r>
          </a:p>
        </p:txBody>
      </p:sp>
      <p:sp>
        <p:nvSpPr>
          <p:cNvPr id="7" name="">
            <a:extLst xmlns:a="http://schemas.openxmlformats.org/drawingml/2006/main">
              <a:ext uri="{FF2B5EF4-FFF2-40B4-BE49-F238E27FC236}">
                <a16:creationId xmlns:a16="http://schemas.microsoft.com/office/drawing/2014/main" id="{4AF23335-6710-4B68-87A0-B4B6979E31DE}"/>
              </a:ext>
            </a:extLst>
          </p:cNvPr>
          <p:cNvSpPr>
            <a:spLocks xmlns:a="http://schemas.openxmlformats.org/drawingml/2006/main" noGrp="1"/>
          </p:cNvSpPr>
          <p:nvPr/>
        </p:nvSpPr>
        <p:spPr>
          <a:xfrm xmlns:a="http://schemas.openxmlformats.org/drawingml/2006/main">
            <a:off x="647700" y="2038350"/>
            <a:ext cx="171450" cy="171450"/>
          </a:xfrm>
          <a:prstGeom xmlns:a="http://schemas.openxmlformats.org/drawingml/2006/main" prst="ellipse">
            <a:avLst/>
          </a:prstGeom>
          <a:solidFill xmlns:a="http://schemas.openxmlformats.org/drawingml/2006/main">
            <a:srgbClr val="0F8B8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A1F994E-9AC0-40DD-BCF9-E7B102BE243C}"/>
              </a:ext>
            </a:extLst>
          </p:cNvPr>
          <p:cNvSpPr>
            <a:spLocks xmlns:a="http://schemas.openxmlformats.org/drawingml/2006/main" noGrp="1"/>
          </p:cNvSpPr>
          <p:nvPr/>
        </p:nvSpPr>
        <p:spPr>
          <a:xfrm xmlns:a="http://schemas.openxmlformats.org/drawingml/2006/main">
            <a:off x="971550" y="2000250"/>
            <a:ext cx="3048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14233B"/>
                </a:solidFill>
                <a:latin typeface="Arial"/>
                <a:ea typeface="Arial"/>
                <a:cs typeface="Arial"/>
              </a:defRPr>
            </a:defPPr>
          </a:lstStyle>
          <a:p xmlns:a="http://schemas.openxmlformats.org/drawingml/2006/main">
            <a:pPr algn="l">
              <a:lnSpc>
                <a:spcPct val="100000"/>
              </a:lnSpc>
              <a:buNone/>
              <a:defRPr sz="1350" b="1">
                <a:solidFill>
                  <a:srgbClr val="14233B"/>
                </a:solidFill>
                <a:latin typeface="Arial"/>
                <a:ea typeface="Arial"/>
                <a:cs typeface="Arial"/>
              </a:defRPr>
            </a:pPr>
            <a:r>
              <a:rPr sz="1350" b="1">
                <a:solidFill>
                  <a:srgbClr val="14233B"/>
                </a:solidFill>
                <a:latin typeface="Arial"/>
                <a:ea typeface="Arial"/>
                <a:cs typeface="Arial"/>
              </a:rPr>
              <a:t>Prototype</a:t>
            </a:r>
          </a:p>
        </p:txBody>
      </p:sp>
      <p:sp>
        <p:nvSpPr>
          <p:cNvPr id="9" name="">
            <a:extLst xmlns:a="http://schemas.openxmlformats.org/drawingml/2006/main">
              <a:ext uri="{FF2B5EF4-FFF2-40B4-BE49-F238E27FC236}">
                <a16:creationId xmlns:a16="http://schemas.microsoft.com/office/drawing/2014/main" id="{16AAC5A9-523C-4914-9390-39AA792A94DE}"/>
              </a:ext>
            </a:extLst>
          </p:cNvPr>
          <p:cNvSpPr>
            <a:spLocks xmlns:a="http://schemas.openxmlformats.org/drawingml/2006/main" noGrp="1"/>
          </p:cNvSpPr>
          <p:nvPr/>
        </p:nvSpPr>
        <p:spPr>
          <a:xfrm xmlns:a="http://schemas.openxmlformats.org/drawingml/2006/main">
            <a:off x="971550" y="229552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52647A"/>
                </a:solidFill>
                <a:latin typeface="Arial"/>
                <a:ea typeface="Arial"/>
                <a:cs typeface="Arial"/>
              </a:defRPr>
            </a:defPPr>
          </a:lstStyle>
          <a:p xmlns:a="http://schemas.openxmlformats.org/drawingml/2006/main">
            <a:pPr algn="l">
              <a:lnSpc>
                <a:spcPct val="100000"/>
              </a:lnSpc>
              <a:buNone/>
              <a:defRPr sz="1125" b="0">
                <a:solidFill>
                  <a:srgbClr val="52647A"/>
                </a:solidFill>
                <a:latin typeface="Arial"/>
                <a:ea typeface="Arial"/>
                <a:cs typeface="Arial"/>
              </a:defRPr>
            </a:pPr>
            <a:r>
              <a:rPr sz="1125" b="0">
                <a:solidFill>
                  <a:srgbClr val="52647A"/>
                </a:solidFill>
                <a:latin typeface="Arial"/>
                <a:ea typeface="Arial"/>
                <a:cs typeface="Arial"/>
              </a:rPr>
              <a:t>Pipeline sinh mã và kiểm chứng Dafny/Z3</a:t>
            </a:r>
          </a:p>
        </p:txBody>
      </p:sp>
      <p:sp>
        <p:nvSpPr>
          <p:cNvPr id="10" name="">
            <a:extLst xmlns:a="http://schemas.openxmlformats.org/drawingml/2006/main">
              <a:ext uri="{FF2B5EF4-FFF2-40B4-BE49-F238E27FC236}">
                <a16:creationId xmlns:a16="http://schemas.microsoft.com/office/drawing/2014/main" id="{E4DB4147-D034-48A3-9336-6EA6311A7419}"/>
              </a:ext>
            </a:extLst>
          </p:cNvPr>
          <p:cNvSpPr>
            <a:spLocks xmlns:a="http://schemas.openxmlformats.org/drawingml/2006/main" noGrp="1"/>
          </p:cNvSpPr>
          <p:nvPr/>
        </p:nvSpPr>
        <p:spPr>
          <a:xfrm xmlns:a="http://schemas.openxmlformats.org/drawingml/2006/main">
            <a:off x="647700" y="2781300"/>
            <a:ext cx="171450" cy="171450"/>
          </a:xfrm>
          <a:prstGeom xmlns:a="http://schemas.openxmlformats.org/drawingml/2006/main" prst="ellipse">
            <a:avLst/>
          </a:prstGeom>
          <a:solidFill xmlns:a="http://schemas.openxmlformats.org/drawingml/2006/main">
            <a:srgbClr val="0F8B8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8654895-BF90-4B61-8844-22F10CF5BFF6}"/>
              </a:ext>
            </a:extLst>
          </p:cNvPr>
          <p:cNvSpPr>
            <a:spLocks xmlns:a="http://schemas.openxmlformats.org/drawingml/2006/main" noGrp="1"/>
          </p:cNvSpPr>
          <p:nvPr/>
        </p:nvSpPr>
        <p:spPr>
          <a:xfrm xmlns:a="http://schemas.openxmlformats.org/drawingml/2006/main">
            <a:off x="971550" y="2743200"/>
            <a:ext cx="3048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14233B"/>
                </a:solidFill>
                <a:latin typeface="Arial"/>
                <a:ea typeface="Arial"/>
                <a:cs typeface="Arial"/>
              </a:defRPr>
            </a:defPPr>
          </a:lstStyle>
          <a:p xmlns:a="http://schemas.openxmlformats.org/drawingml/2006/main">
            <a:pPr algn="l">
              <a:lnSpc>
                <a:spcPct val="100000"/>
              </a:lnSpc>
              <a:buNone/>
              <a:defRPr sz="1350" b="1">
                <a:solidFill>
                  <a:srgbClr val="14233B"/>
                </a:solidFill>
                <a:latin typeface="Arial"/>
                <a:ea typeface="Arial"/>
                <a:cs typeface="Arial"/>
              </a:defRPr>
            </a:pPr>
            <a:r>
              <a:rPr sz="1350" b="1">
                <a:solidFill>
                  <a:srgbClr val="14233B"/>
                </a:solidFill>
                <a:latin typeface="Arial"/>
                <a:ea typeface="Arial"/>
                <a:cs typeface="Arial"/>
              </a:rPr>
              <a:t>Benchmark tái lập</a:t>
            </a:r>
          </a:p>
        </p:txBody>
      </p:sp>
      <p:sp>
        <p:nvSpPr>
          <p:cNvPr id="12" name="">
            <a:extLst xmlns:a="http://schemas.openxmlformats.org/drawingml/2006/main">
              <a:ext uri="{FF2B5EF4-FFF2-40B4-BE49-F238E27FC236}">
                <a16:creationId xmlns:a16="http://schemas.microsoft.com/office/drawing/2014/main" id="{676A633B-4083-406B-A337-235B85AC73A9}"/>
              </a:ext>
            </a:extLst>
          </p:cNvPr>
          <p:cNvSpPr>
            <a:spLocks xmlns:a="http://schemas.openxmlformats.org/drawingml/2006/main" noGrp="1"/>
          </p:cNvSpPr>
          <p:nvPr/>
        </p:nvSpPr>
        <p:spPr>
          <a:xfrm xmlns:a="http://schemas.openxmlformats.org/drawingml/2006/main">
            <a:off x="971550" y="303847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52647A"/>
                </a:solidFill>
                <a:latin typeface="Arial"/>
                <a:ea typeface="Arial"/>
                <a:cs typeface="Arial"/>
              </a:defRPr>
            </a:defPPr>
          </a:lstStyle>
          <a:p xmlns:a="http://schemas.openxmlformats.org/drawingml/2006/main">
            <a:pPr algn="l">
              <a:lnSpc>
                <a:spcPct val="100000"/>
              </a:lnSpc>
              <a:buNone/>
              <a:defRPr sz="1125" b="0">
                <a:solidFill>
                  <a:srgbClr val="52647A"/>
                </a:solidFill>
                <a:latin typeface="Arial"/>
                <a:ea typeface="Arial"/>
                <a:cs typeface="Arial"/>
              </a:defRPr>
            </a:pPr>
            <a:r>
              <a:rPr sz="1125" b="0">
                <a:solidFill>
                  <a:srgbClr val="52647A"/>
                </a:solidFill>
                <a:latin typeface="Arial"/>
                <a:ea typeface="Arial"/>
                <a:cs typeface="Arial"/>
              </a:rPr>
              <a:t>Manifest, nguồn, đặc tả và cấu hình chạy</a:t>
            </a:r>
          </a:p>
        </p:txBody>
      </p:sp>
      <p:sp>
        <p:nvSpPr>
          <p:cNvPr id="13" name="">
            <a:extLst xmlns:a="http://schemas.openxmlformats.org/drawingml/2006/main">
              <a:ext uri="{FF2B5EF4-FFF2-40B4-BE49-F238E27FC236}">
                <a16:creationId xmlns:a16="http://schemas.microsoft.com/office/drawing/2014/main" id="{8BC479E8-37A5-42D3-B98F-C9660D106FF0}"/>
              </a:ext>
            </a:extLst>
          </p:cNvPr>
          <p:cNvSpPr>
            <a:spLocks xmlns:a="http://schemas.openxmlformats.org/drawingml/2006/main" noGrp="1"/>
          </p:cNvSpPr>
          <p:nvPr/>
        </p:nvSpPr>
        <p:spPr>
          <a:xfrm xmlns:a="http://schemas.openxmlformats.org/drawingml/2006/main">
            <a:off x="647700" y="3524250"/>
            <a:ext cx="171450" cy="171450"/>
          </a:xfrm>
          <a:prstGeom xmlns:a="http://schemas.openxmlformats.org/drawingml/2006/main" prst="ellipse">
            <a:avLst/>
          </a:prstGeom>
          <a:solidFill xmlns:a="http://schemas.openxmlformats.org/drawingml/2006/main">
            <a:srgbClr val="0F8B8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ED3E895-3E50-4704-99AF-63CA6473E648}"/>
              </a:ext>
            </a:extLst>
          </p:cNvPr>
          <p:cNvSpPr>
            <a:spLocks xmlns:a="http://schemas.openxmlformats.org/drawingml/2006/main" noGrp="1"/>
          </p:cNvSpPr>
          <p:nvPr/>
        </p:nvSpPr>
        <p:spPr>
          <a:xfrm xmlns:a="http://schemas.openxmlformats.org/drawingml/2006/main">
            <a:off x="971550" y="3486150"/>
            <a:ext cx="3048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14233B"/>
                </a:solidFill>
                <a:latin typeface="Arial"/>
                <a:ea typeface="Arial"/>
                <a:cs typeface="Arial"/>
              </a:defRPr>
            </a:defPPr>
          </a:lstStyle>
          <a:p xmlns:a="http://schemas.openxmlformats.org/drawingml/2006/main">
            <a:pPr algn="l">
              <a:lnSpc>
                <a:spcPct val="100000"/>
              </a:lnSpc>
              <a:buNone/>
              <a:defRPr sz="1350" b="1">
                <a:solidFill>
                  <a:srgbClr val="14233B"/>
                </a:solidFill>
                <a:latin typeface="Arial"/>
                <a:ea typeface="Arial"/>
                <a:cs typeface="Arial"/>
              </a:defRPr>
            </a:pPr>
            <a:r>
              <a:rPr sz="1350" b="1">
                <a:solidFill>
                  <a:srgbClr val="14233B"/>
                </a:solidFill>
                <a:latin typeface="Arial"/>
                <a:ea typeface="Arial"/>
                <a:cs typeface="Arial"/>
              </a:rPr>
              <a:t>Báo cáo NCKH</a:t>
            </a:r>
          </a:p>
        </p:txBody>
      </p:sp>
      <p:sp>
        <p:nvSpPr>
          <p:cNvPr id="15" name="">
            <a:extLst xmlns:a="http://schemas.openxmlformats.org/drawingml/2006/main">
              <a:ext uri="{FF2B5EF4-FFF2-40B4-BE49-F238E27FC236}">
                <a16:creationId xmlns:a16="http://schemas.microsoft.com/office/drawing/2014/main" id="{FE82AFC3-1398-4F21-953A-FCE513C4C4DB}"/>
              </a:ext>
            </a:extLst>
          </p:cNvPr>
          <p:cNvSpPr>
            <a:spLocks xmlns:a="http://schemas.openxmlformats.org/drawingml/2006/main" noGrp="1"/>
          </p:cNvSpPr>
          <p:nvPr/>
        </p:nvSpPr>
        <p:spPr>
          <a:xfrm xmlns:a="http://schemas.openxmlformats.org/drawingml/2006/main">
            <a:off x="971550" y="378142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52647A"/>
                </a:solidFill>
                <a:latin typeface="Arial"/>
                <a:ea typeface="Arial"/>
                <a:cs typeface="Arial"/>
              </a:defRPr>
            </a:defPPr>
          </a:lstStyle>
          <a:p xmlns:a="http://schemas.openxmlformats.org/drawingml/2006/main">
            <a:pPr algn="l">
              <a:lnSpc>
                <a:spcPct val="100000"/>
              </a:lnSpc>
              <a:buNone/>
              <a:defRPr sz="1125" b="0">
                <a:solidFill>
                  <a:srgbClr val="52647A"/>
                </a:solidFill>
                <a:latin typeface="Arial"/>
                <a:ea typeface="Arial"/>
                <a:cs typeface="Arial"/>
              </a:defRPr>
            </a:pPr>
            <a:r>
              <a:rPr sz="1125" b="0">
                <a:solidFill>
                  <a:srgbClr val="52647A"/>
                </a:solidFill>
                <a:latin typeface="Arial"/>
                <a:ea typeface="Arial"/>
                <a:cs typeface="Arial"/>
              </a:rPr>
              <a:t>So sánh, phân tích lỗi và giới hạn</a:t>
            </a:r>
          </a:p>
        </p:txBody>
      </p:sp>
      <p:sp>
        <p:nvSpPr>
          <p:cNvPr id="16" name="">
            <a:extLst xmlns:a="http://schemas.openxmlformats.org/drawingml/2006/main">
              <a:ext uri="{FF2B5EF4-FFF2-40B4-BE49-F238E27FC236}">
                <a16:creationId xmlns:a16="http://schemas.microsoft.com/office/drawing/2014/main" id="{E54B06B0-80ED-48BB-A032-3CCEBAA9053D}"/>
              </a:ext>
            </a:extLst>
          </p:cNvPr>
          <p:cNvSpPr>
            <a:spLocks xmlns:a="http://schemas.openxmlformats.org/drawingml/2006/main" noGrp="1"/>
          </p:cNvSpPr>
          <p:nvPr/>
        </p:nvSpPr>
        <p:spPr>
          <a:xfrm xmlns:a="http://schemas.openxmlformats.org/drawingml/2006/main">
            <a:off x="647700" y="4267200"/>
            <a:ext cx="171450" cy="171450"/>
          </a:xfrm>
          <a:prstGeom xmlns:a="http://schemas.openxmlformats.org/drawingml/2006/main" prst="ellipse">
            <a:avLst/>
          </a:prstGeom>
          <a:solidFill xmlns:a="http://schemas.openxmlformats.org/drawingml/2006/main">
            <a:srgbClr val="0F8B8D"/>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A58B9E0-550B-4D91-ABBC-8E6C585F2063}"/>
              </a:ext>
            </a:extLst>
          </p:cNvPr>
          <p:cNvSpPr>
            <a:spLocks xmlns:a="http://schemas.openxmlformats.org/drawingml/2006/main" noGrp="1"/>
          </p:cNvSpPr>
          <p:nvPr/>
        </p:nvSpPr>
        <p:spPr>
          <a:xfrm xmlns:a="http://schemas.openxmlformats.org/drawingml/2006/main">
            <a:off x="971550" y="4229100"/>
            <a:ext cx="3048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14233B"/>
                </a:solidFill>
                <a:latin typeface="Arial"/>
                <a:ea typeface="Arial"/>
                <a:cs typeface="Arial"/>
              </a:defRPr>
            </a:defPPr>
          </a:lstStyle>
          <a:p xmlns:a="http://schemas.openxmlformats.org/drawingml/2006/main">
            <a:pPr algn="l">
              <a:lnSpc>
                <a:spcPct val="100000"/>
              </a:lnSpc>
              <a:buNone/>
              <a:defRPr sz="1350" b="1">
                <a:solidFill>
                  <a:srgbClr val="14233B"/>
                </a:solidFill>
                <a:latin typeface="Arial"/>
                <a:ea typeface="Arial"/>
                <a:cs typeface="Arial"/>
              </a:defRPr>
            </a:pPr>
            <a:r>
              <a:rPr sz="1350" b="1">
                <a:solidFill>
                  <a:srgbClr val="14233B"/>
                </a:solidFill>
                <a:latin typeface="Arial"/>
                <a:ea typeface="Arial"/>
                <a:cs typeface="Arial"/>
              </a:rPr>
              <a:t>Bản thảo bài báo</a:t>
            </a:r>
          </a:p>
        </p:txBody>
      </p:sp>
      <p:sp>
        <p:nvSpPr>
          <p:cNvPr id="18" name="">
            <a:extLst xmlns:a="http://schemas.openxmlformats.org/drawingml/2006/main">
              <a:ext uri="{FF2B5EF4-FFF2-40B4-BE49-F238E27FC236}">
                <a16:creationId xmlns:a16="http://schemas.microsoft.com/office/drawing/2014/main" id="{CC6D57BC-BBF9-4D23-95E4-8BE201720990}"/>
              </a:ext>
            </a:extLst>
          </p:cNvPr>
          <p:cNvSpPr>
            <a:spLocks xmlns:a="http://schemas.openxmlformats.org/drawingml/2006/main" noGrp="1"/>
          </p:cNvSpPr>
          <p:nvPr/>
        </p:nvSpPr>
        <p:spPr>
          <a:xfrm xmlns:a="http://schemas.openxmlformats.org/drawingml/2006/main">
            <a:off x="971550" y="452437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52647A"/>
                </a:solidFill>
                <a:latin typeface="Arial"/>
                <a:ea typeface="Arial"/>
                <a:cs typeface="Arial"/>
              </a:defRPr>
            </a:defPPr>
          </a:lstStyle>
          <a:p xmlns:a="http://schemas.openxmlformats.org/drawingml/2006/main">
            <a:pPr algn="l">
              <a:lnSpc>
                <a:spcPct val="100000"/>
              </a:lnSpc>
              <a:buNone/>
              <a:defRPr sz="1125" b="0">
                <a:solidFill>
                  <a:srgbClr val="52647A"/>
                </a:solidFill>
                <a:latin typeface="Arial"/>
                <a:ea typeface="Arial"/>
                <a:cs typeface="Arial"/>
              </a:defRPr>
            </a:pPr>
            <a:r>
              <a:rPr sz="1125" b="0">
                <a:solidFill>
                  <a:srgbClr val="52647A"/>
                </a:solidFill>
                <a:latin typeface="Arial"/>
                <a:ea typeface="Arial"/>
                <a:cs typeface="Arial"/>
              </a:rPr>
              <a:t>Mục tiêu nếu phù hợp thời hạn / quy định</a:t>
            </a:r>
          </a:p>
        </p:txBody>
      </p:sp>
      <p:sp>
        <p:nvSpPr>
          <p:cNvPr id="19" name="">
            <a:extLst xmlns:a="http://schemas.openxmlformats.org/drawingml/2006/main">
              <a:ext uri="{FF2B5EF4-FFF2-40B4-BE49-F238E27FC236}">
                <a16:creationId xmlns:a16="http://schemas.microsoft.com/office/drawing/2014/main" id="{C2DE57D7-C855-441B-9846-3B417A7CEC3A}"/>
              </a:ext>
            </a:extLst>
          </p:cNvPr>
          <p:cNvSpPr>
            <a:spLocks xmlns:a="http://schemas.openxmlformats.org/drawingml/2006/main" noGrp="1"/>
          </p:cNvSpPr>
          <p:nvPr/>
        </p:nvSpPr>
        <p:spPr>
          <a:xfrm xmlns:a="http://schemas.openxmlformats.org/drawingml/2006/main">
            <a:off x="6572250" y="1571625"/>
            <a:ext cx="5029200" cy="2667000"/>
          </a:xfrm>
          <a:prstGeom xmlns:a="http://schemas.openxmlformats.org/drawingml/2006/main" prst="roundRect">
            <a:avLst>
              <a:gd name="adj" fmla="val 5000"/>
            </a:avLst>
          </a:prstGeom>
          <a:solidFill xmlns:a="http://schemas.openxmlformats.org/drawingml/2006/main">
            <a:srgbClr val="FFF2D9"/>
          </a:solidFill>
          <a:ln xmlns:a="http://schemas.openxmlformats.org/drawingml/2006/main" w="9525">
            <a:solidFill>
              <a:srgbClr val="EAD29E"/>
            </a:solidFill>
            <a:prstDash val="solid"/>
          </a:ln>
        </p:spPr>
      </p:sp>
      <p:sp>
        <p:nvSpPr>
          <p:cNvPr id="20" name="">
            <a:extLst xmlns:a="http://schemas.openxmlformats.org/drawingml/2006/main">
              <a:ext uri="{FF2B5EF4-FFF2-40B4-BE49-F238E27FC236}">
                <a16:creationId xmlns:a16="http://schemas.microsoft.com/office/drawing/2014/main" id="{00CAB6A7-8A34-4B72-A5FA-9AE6840136BA}"/>
              </a:ext>
            </a:extLst>
          </p:cNvPr>
          <p:cNvSpPr>
            <a:spLocks xmlns:a="http://schemas.openxmlformats.org/drawingml/2006/main" noGrp="1"/>
          </p:cNvSpPr>
          <p:nvPr/>
        </p:nvSpPr>
        <p:spPr>
          <a:xfrm xmlns:a="http://schemas.openxmlformats.org/drawingml/2006/main">
            <a:off x="6838950" y="1790700"/>
            <a:ext cx="447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C47A11"/>
                </a:solidFill>
                <a:latin typeface="Arial"/>
                <a:ea typeface="Arial"/>
                <a:cs typeface="Arial"/>
              </a:defRPr>
            </a:defPPr>
          </a:lstStyle>
          <a:p xmlns:a="http://schemas.openxmlformats.org/drawingml/2006/main">
            <a:pPr algn="l">
              <a:lnSpc>
                <a:spcPct val="100000"/>
              </a:lnSpc>
              <a:buNone/>
              <a:defRPr sz="1200" b="1">
                <a:solidFill>
                  <a:srgbClr val="C47A11"/>
                </a:solidFill>
                <a:latin typeface="Arial"/>
                <a:ea typeface="Arial"/>
                <a:cs typeface="Arial"/>
              </a:defRPr>
            </a:pPr>
            <a:r>
              <a:rPr sz="1200" b="1">
                <a:solidFill>
                  <a:srgbClr val="C47A11"/>
                </a:solidFill>
                <a:latin typeface="Arial"/>
                <a:ea typeface="Arial"/>
                <a:cs typeface="Arial"/>
              </a:rPr>
              <a:t>GIỚI HẠN CẦN NÊU</a:t>
            </a:r>
          </a:p>
        </p:txBody>
      </p:sp>
      <p:sp>
        <p:nvSpPr>
          <p:cNvPr id="21" name="">
            <a:extLst xmlns:a="http://schemas.openxmlformats.org/drawingml/2006/main">
              <a:ext uri="{FF2B5EF4-FFF2-40B4-BE49-F238E27FC236}">
                <a16:creationId xmlns:a16="http://schemas.microsoft.com/office/drawing/2014/main" id="{3E41FFD0-6E1D-416D-B6CC-B491AA9F06F3}"/>
              </a:ext>
            </a:extLst>
          </p:cNvPr>
          <p:cNvSpPr>
            <a:spLocks xmlns:a="http://schemas.openxmlformats.org/drawingml/2006/main" noGrp="1"/>
          </p:cNvSpPr>
          <p:nvPr/>
        </p:nvSpPr>
        <p:spPr>
          <a:xfrm xmlns:a="http://schemas.openxmlformats.org/drawingml/2006/main">
            <a:off x="6838950" y="2247900"/>
            <a:ext cx="44005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14233B"/>
                </a:solidFill>
                <a:latin typeface="Arial"/>
                <a:ea typeface="Arial"/>
                <a:cs typeface="Arial"/>
              </a:defRPr>
            </a:defPPr>
          </a:lstStyle>
          <a:p xmlns:a="http://schemas.openxmlformats.org/drawingml/2006/main">
            <a:pPr algn="l">
              <a:lnSpc>
                <a:spcPct val="125000"/>
              </a:lnSpc>
              <a:buNone/>
              <a:defRPr sz="1275" b="0">
                <a:solidFill>
                  <a:srgbClr val="14233B"/>
                </a:solidFill>
                <a:latin typeface="Arial"/>
                <a:ea typeface="Arial"/>
                <a:cs typeface="Arial"/>
              </a:defRPr>
            </a:pPr>
            <a:r>
              <a:rPr sz="1275" b="0">
                <a:solidFill>
                  <a:srgbClr val="14233B"/>
                </a:solidFill>
                <a:latin typeface="Arial"/>
                <a:ea typeface="Arial"/>
                <a:cs typeface="Arial"/>
              </a:rPr>
              <a:t>• Đặc tả có thể chưa bao quát ý định</a:t>
            </a:r>
          </a:p>
          <a:p xmlns:a="http://schemas.openxmlformats.org/drawingml/2006/main">
            <a:pPr algn="l">
              <a:lnSpc>
                <a:spcPct val="125000"/>
              </a:lnSpc>
              <a:buNone/>
              <a:defRPr sz="1275" b="0">
                <a:solidFill>
                  <a:srgbClr val="14233B"/>
                </a:solidFill>
                <a:latin typeface="Arial"/>
                <a:ea typeface="Arial"/>
                <a:cs typeface="Arial"/>
              </a:defRPr>
            </a:pPr>
            <a:r>
              <a:rPr sz="1275" b="0">
                <a:solidFill>
                  <a:srgbClr val="14233B"/>
                </a:solidFill>
                <a:latin typeface="Arial"/>
                <a:ea typeface="Arial"/>
                <a:cs typeface="Arial"/>
              </a:rPr>
              <a:t>• 30 bài là một tập nhỏ, một lần chạy</a:t>
            </a:r>
          </a:p>
          <a:p xmlns:a="http://schemas.openxmlformats.org/drawingml/2006/main">
            <a:pPr algn="l">
              <a:lnSpc>
                <a:spcPct val="125000"/>
              </a:lnSpc>
              <a:buNone/>
              <a:defRPr sz="1275" b="0">
                <a:solidFill>
                  <a:srgbClr val="14233B"/>
                </a:solidFill>
                <a:latin typeface="Arial"/>
                <a:ea typeface="Arial"/>
                <a:cs typeface="Arial"/>
              </a:defRPr>
            </a:pPr>
            <a:r>
              <a:rPr sz="1275" b="0">
                <a:solidFill>
                  <a:srgbClr val="14233B"/>
                </a:solidFill>
                <a:latin typeface="Arial"/>
                <a:ea typeface="Arial"/>
                <a:cs typeface="Arial"/>
              </a:rPr>
              <a:t>• Chưa kiểm tra ngôn ngữ triển khai khác</a:t>
            </a:r>
          </a:p>
          <a:p xmlns:a="http://schemas.openxmlformats.org/drawingml/2006/main">
            <a:pPr algn="l">
              <a:lnSpc>
                <a:spcPct val="125000"/>
              </a:lnSpc>
              <a:buNone/>
              <a:defRPr sz="1275" b="0">
                <a:solidFill>
                  <a:srgbClr val="14233B"/>
                </a:solidFill>
                <a:latin typeface="Arial"/>
                <a:ea typeface="Arial"/>
                <a:cs typeface="Arial"/>
              </a:defRPr>
            </a:pPr>
            <a:r>
              <a:rPr sz="1275" b="0">
                <a:solidFill>
                  <a:srgbClr val="14233B"/>
                </a:solidFill>
                <a:latin typeface="Arial"/>
                <a:ea typeface="Arial"/>
                <a:cs typeface="Arial"/>
              </a:rPr>
              <a:t>• Verified chỉ áp dụng cho mã và đặc tả Dafny</a:t>
            </a:r>
          </a:p>
        </p:txBody>
      </p:sp>
      <p:sp>
        <p:nvSpPr>
          <p:cNvPr id="22" name="">
            <a:extLst xmlns:a="http://schemas.openxmlformats.org/drawingml/2006/main">
              <a:ext uri="{FF2B5EF4-FFF2-40B4-BE49-F238E27FC236}">
                <a16:creationId xmlns:a16="http://schemas.microsoft.com/office/drawing/2014/main" id="{09606AA6-760C-4E49-A424-9F1A3F7568FF}"/>
              </a:ext>
            </a:extLst>
          </p:cNvPr>
          <p:cNvSpPr>
            <a:spLocks xmlns:a="http://schemas.openxmlformats.org/drawingml/2006/main" noGrp="1"/>
          </p:cNvSpPr>
          <p:nvPr/>
        </p:nvSpPr>
        <p:spPr>
          <a:xfrm xmlns:a="http://schemas.openxmlformats.org/drawingml/2006/main">
            <a:off x="590550" y="5219700"/>
            <a:ext cx="11010900" cy="552450"/>
          </a:xfrm>
          <a:prstGeom xmlns:a="http://schemas.openxmlformats.org/drawingml/2006/main" prst="roundRect">
            <a:avLst>
              <a:gd name="adj" fmla="val 24138"/>
            </a:avLst>
          </a:prstGeom>
          <a:solidFill xmlns:a="http://schemas.openxmlformats.org/drawingml/2006/main">
            <a:srgbClr val="14233B"/>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29056034-BCC4-45A8-917D-FA8C868562A1}"/>
              </a:ext>
            </a:extLst>
          </p:cNvPr>
          <p:cNvSpPr>
            <a:spLocks xmlns:a="http://schemas.openxmlformats.org/drawingml/2006/main" noGrp="1"/>
          </p:cNvSpPr>
          <p:nvPr/>
        </p:nvSpPr>
        <p:spPr>
          <a:xfrm xmlns:a="http://schemas.openxmlformats.org/drawingml/2006/main">
            <a:off x="857250" y="5305425"/>
            <a:ext cx="104298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00" b="1">
                <a:solidFill>
                  <a:srgbClr val="FFFFFF"/>
                </a:solidFill>
                <a:latin typeface="Arial"/>
                <a:ea typeface="Arial"/>
                <a:cs typeface="Arial"/>
              </a:defRPr>
            </a:defPPr>
          </a:lstStyle>
          <a:p xmlns:a="http://schemas.openxmlformats.org/drawingml/2006/main">
            <a:pPr algn="ctr">
              <a:lnSpc>
                <a:spcPct val="100000"/>
              </a:lnSpc>
              <a:buNone/>
              <a:defRPr sz="1500" b="1">
                <a:solidFill>
                  <a:srgbClr val="FFFFFF"/>
                </a:solidFill>
                <a:latin typeface="Arial"/>
                <a:ea typeface="Arial"/>
                <a:cs typeface="Arial"/>
              </a:defRPr>
            </a:pPr>
            <a:r>
              <a:rPr sz="1500" b="1">
                <a:solidFill>
                  <a:srgbClr val="FFFFFF"/>
                </a:solidFill>
                <a:latin typeface="Arial"/>
                <a:ea typeface="Arial"/>
                <a:cs typeface="Arial"/>
              </a:rPr>
              <a:t>Xin góp ý: tập benchmark  |  baseline  |  tiêu chí nghiệm thu</a:t>
            </a:r>
          </a:p>
        </p:txBody>
      </p:sp>
      <p:sp>
        <p:nvSpPr>
          <p:cNvPr id="24" name="">
            <a:extLst xmlns:a="http://schemas.openxmlformats.org/drawingml/2006/main">
              <a:ext uri="{FF2B5EF4-FFF2-40B4-BE49-F238E27FC236}">
                <a16:creationId xmlns:a16="http://schemas.microsoft.com/office/drawing/2014/main" id="{51A0B847-1F26-41FE-B4C9-F0916223D25B}"/>
              </a:ext>
            </a:extLst>
          </p:cNvPr>
          <p:cNvSpPr>
            <a:spLocks xmlns:a="http://schemas.openxmlformats.org/drawingml/2006/main" noGrp="1"/>
          </p:cNvSpPr>
          <p:nvPr/>
        </p:nvSpPr>
        <p:spPr>
          <a:xfrm xmlns:a="http://schemas.openxmlformats.org/drawingml/2006/main">
            <a:off x="590550" y="5943600"/>
            <a:ext cx="11010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0F8B8D"/>
                </a:solidFill>
                <a:latin typeface="Arial"/>
                <a:ea typeface="Arial"/>
                <a:cs typeface="Arial"/>
              </a:defRPr>
            </a:defPPr>
          </a:lstStyle>
          <a:p xmlns:a="http://schemas.openxmlformats.org/drawingml/2006/main">
            <a:pPr algn="ctr">
              <a:lnSpc>
                <a:spcPct val="100000"/>
              </a:lnSpc>
              <a:buNone/>
              <a:defRPr sz="1350" b="1">
                <a:solidFill>
                  <a:srgbClr val="0F8B8D"/>
                </a:solidFill>
                <a:latin typeface="Arial"/>
                <a:ea typeface="Arial"/>
                <a:cs typeface="Arial"/>
              </a:defRPr>
            </a:pPr>
            <a:r>
              <a:rPr sz="1350" b="1">
                <a:solidFill>
                  <a:srgbClr val="0F8B8D"/>
                </a:solidFill>
                <a:latin typeface="Arial"/>
                <a:ea typeface="Arial"/>
                <a:cs typeface="Arial"/>
              </a:rPr>
              <a:t>Cảm ơn Thầy/Cô</a:t>
            </a:r>
          </a:p>
        </p:txBody>
      </p:sp>
    </p:spTree>
    <p:extLst>
      <p:ext uri="{BB962C8B-B14F-4D97-AF65-F5344CB8AC3E}">
        <p14:creationId xmlns:p14="http://schemas.microsoft.com/office/powerpoint/2010/main" val="663338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2026-10-15T11:47:57.5300000Z</dcterms:created>
  <dcterms:modified xsi:type="dcterms:W3CDTF">2026-10-15T11:47:57.5300000Z</dcterms:modified>
</coreProperties>
</file>