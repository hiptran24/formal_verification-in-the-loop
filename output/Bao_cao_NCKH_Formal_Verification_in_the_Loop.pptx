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8471fa59fd1420a" /><Relationship Type="http://schemas.openxmlformats.org/officeDocument/2006/relationships/extended-properties" Target="/docProps/app.xml" Id="Re899acb01c274299" /><Relationship Type="http://schemas.openxmlformats.org/officeDocument/2006/relationships/officeDocument" Target="/ppt/presentation.xml" Id="Rea078ee120674607" /></Relationships>
</file>

<file path=ppt/presentation.xml><?xml version="1.0" encoding="utf-8"?>
<p:presentation xmlns:p="http://schemas.openxmlformats.org/presentationml/2006/main">
  <p:sldMasterIdLst>
    <p:sldMasterId xmlns:r="http://schemas.openxmlformats.org/officeDocument/2006/relationships" id="2147483648" r:id="R71ea7e0fd3d64365"/>
  </p:sldMasterIdLst>
  <p:notesMasterIdLst>
    <p:notesMasterId xmlns:r="http://schemas.openxmlformats.org/officeDocument/2006/relationships" r:id="Rd2364cfe3c6f4736"/>
  </p:notesMasterIdLst>
  <p:sldIdLst>
    <p:sldId xmlns:r="http://schemas.openxmlformats.org/officeDocument/2006/relationships" id="256" r:id="Re1704acd7c93409a"/>
    <p:sldId xmlns:r="http://schemas.openxmlformats.org/officeDocument/2006/relationships" id="257" r:id="Re292047552654b65"/>
    <p:sldId xmlns:r="http://schemas.openxmlformats.org/officeDocument/2006/relationships" id="258" r:id="Rb4534a70fa854f60"/>
    <p:sldId xmlns:r="http://schemas.openxmlformats.org/officeDocument/2006/relationships" id="259" r:id="R603fe89354c84854"/>
    <p:sldId xmlns:r="http://schemas.openxmlformats.org/officeDocument/2006/relationships" id="260" r:id="Rd161cfc999dd4bcf"/>
    <p:sldId xmlns:r="http://schemas.openxmlformats.org/officeDocument/2006/relationships" id="261" r:id="Rb6ec65a761794457"/>
    <p:sldId xmlns:r="http://schemas.openxmlformats.org/officeDocument/2006/relationships" id="262" r:id="R7de03a94147044a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5c77a59766a4244" /><Relationship Type="http://schemas.openxmlformats.org/officeDocument/2006/relationships/slideMaster" Target="/ppt/slideMasters/slideMaster1.xml" Id="R71ea7e0fd3d64365" /><Relationship Type="http://schemas.openxmlformats.org/officeDocument/2006/relationships/notesMaster" Target="/ppt/notesMasters/notesMaster1.xml" Id="Rd2364cfe3c6f4736" /><Relationship Type="http://schemas.openxmlformats.org/officeDocument/2006/relationships/presProps" Target="/ppt/presProps.xml" Id="R4cc0c28a86b642de" /><Relationship Type="http://schemas.openxmlformats.org/officeDocument/2006/relationships/tableStyles" Target="/ppt/tableStyles.xml" Id="R16bf0a245dda4bd4" /><Relationship Type="http://schemas.openxmlformats.org/officeDocument/2006/relationships/slide" Target="/ppt/slides/slide1.xml" Id="Re1704acd7c93409a" /><Relationship Type="http://schemas.openxmlformats.org/officeDocument/2006/relationships/slide" Target="/ppt/slides/slide2.xml" Id="Re292047552654b65" /><Relationship Type="http://schemas.openxmlformats.org/officeDocument/2006/relationships/slide" Target="/ppt/slides/slide3.xml" Id="Rb4534a70fa854f60" /><Relationship Type="http://schemas.openxmlformats.org/officeDocument/2006/relationships/slide" Target="/ppt/slides/slide4.xml" Id="R603fe89354c84854" /><Relationship Type="http://schemas.openxmlformats.org/officeDocument/2006/relationships/slide" Target="/ppt/slides/slide5.xml" Id="Rd161cfc999dd4bcf" /><Relationship Type="http://schemas.openxmlformats.org/officeDocument/2006/relationships/slide" Target="/ppt/slides/slide6.xml" Id="Rb6ec65a761794457" /><Relationship Type="http://schemas.openxmlformats.org/officeDocument/2006/relationships/slide" Target="/ppt/slides/slide7.xml" Id="R7de03a94147044a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2393ec9b985482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c6bf70b191f427e" /><Relationship Type="http://schemas.openxmlformats.org/officeDocument/2006/relationships/notesMaster" Target="/ppt/notesMasters/notesMaster1.xml" Id="Re144f14e7552459d" /></Relationships>
</file>

<file path=ppt/notesSlides/_rels/notesSlide2.xml.rels>&#65279;<?xml version="1.0" encoding="utf-8"?><Relationships xmlns="http://schemas.openxmlformats.org/package/2006/relationships"><Relationship Type="http://schemas.openxmlformats.org/officeDocument/2006/relationships/slide" Target="/ppt/slides/slide2.xml" Id="R78cdd74180e445ff" /><Relationship Type="http://schemas.openxmlformats.org/officeDocument/2006/relationships/notesMaster" Target="/ppt/notesMasters/notesMaster1.xml" Id="R5cb194989be94091" /></Relationships>
</file>

<file path=ppt/notesSlides/_rels/notesSlide3.xml.rels>&#65279;<?xml version="1.0" encoding="utf-8"?><Relationships xmlns="http://schemas.openxmlformats.org/package/2006/relationships"><Relationship Type="http://schemas.openxmlformats.org/officeDocument/2006/relationships/slide" Target="/ppt/slides/slide3.xml" Id="Rec99d7faad354892" /><Relationship Type="http://schemas.openxmlformats.org/officeDocument/2006/relationships/notesMaster" Target="/ppt/notesMasters/notesMaster1.xml" Id="R9730a456713e46c1" /></Relationships>
</file>

<file path=ppt/notesSlides/_rels/notesSlide4.xml.rels>&#65279;<?xml version="1.0" encoding="utf-8"?><Relationships xmlns="http://schemas.openxmlformats.org/package/2006/relationships"><Relationship Type="http://schemas.openxmlformats.org/officeDocument/2006/relationships/slide" Target="/ppt/slides/slide4.xml" Id="Rc7a5b87b9dd3496b" /><Relationship Type="http://schemas.openxmlformats.org/officeDocument/2006/relationships/notesMaster" Target="/ppt/notesMasters/notesMaster1.xml" Id="R12f778bb92e44111" /></Relationships>
</file>

<file path=ppt/notesSlides/_rels/notesSlide5.xml.rels>&#65279;<?xml version="1.0" encoding="utf-8"?><Relationships xmlns="http://schemas.openxmlformats.org/package/2006/relationships"><Relationship Type="http://schemas.openxmlformats.org/officeDocument/2006/relationships/slide" Target="/ppt/slides/slide5.xml" Id="Raff8fa2bf36b4e25" /><Relationship Type="http://schemas.openxmlformats.org/officeDocument/2006/relationships/notesMaster" Target="/ppt/notesMasters/notesMaster1.xml" Id="R4caed27e503d4af0" /></Relationships>
</file>

<file path=ppt/notesSlides/_rels/notesSlide6.xml.rels>&#65279;<?xml version="1.0" encoding="utf-8"?><Relationships xmlns="http://schemas.openxmlformats.org/package/2006/relationships"><Relationship Type="http://schemas.openxmlformats.org/officeDocument/2006/relationships/slide" Target="/ppt/slides/slide6.xml" Id="Raf3e33ef831d4bfa" /><Relationship Type="http://schemas.openxmlformats.org/officeDocument/2006/relationships/notesMaster" Target="/ppt/notesMasters/notesMaster1.xml" Id="R683aaf13762c45fd" /></Relationships>
</file>

<file path=ppt/notesSlides/_rels/notesSlide7.xml.rels>&#65279;<?xml version="1.0" encoding="utf-8"?><Relationships xmlns="http://schemas.openxmlformats.org/package/2006/relationships"><Relationship Type="http://schemas.openxmlformats.org/officeDocument/2006/relationships/slide" Target="/ppt/slides/slide7.xml" Id="R153b2d2dc47a40b4" /><Relationship Type="http://schemas.openxmlformats.org/officeDocument/2006/relationships/notesMaster" Target="/ppt/notesMasters/notesMaster1.xml" Id="R2e0e2127e3c54a5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20 giây.</a:t>
            </a:r>
          </a:p>
          <a:p xmlns:a="http://schemas.openxmlformats.org/drawingml/2006/main">
            <a:r>
              <a:t>Em là Nguyễn Võ Lê Khoa, đại diện nhóm. Nhóm xin trình bày đề tài về khung sinh mã và tự sửa lỗi có vòng kiểm chứng hình thức. GV hướng dẫn là ThS. Bùi Phú Khuyên.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40 giây.</a:t>
            </a:r>
          </a:p>
          <a:p xmlns:a="http://schemas.openxmlformats.org/drawingml/2006/main">
            <a:r>
              <a:t>LLM có thể tạo mã nhìn hợp lý nhưng sai logic. Unit test kiểm tra một số đầu vào cụ thể; kiểm chứng hình thức kiểm tra các nghĩa vụ được suy ra từ đặc tả. Điều này vẫn phụ thuộc vào việc đặc tả có đúng và đủ hay không.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35 giây.</a:t>
            </a:r>
          </a:p>
          <a:p xmlns:a="http://schemas.openxmlformats.org/drawingml/2006/main">
            <a:r>
              <a:t>Mục tiêu nghiên cứu không phải tuyên bố đã giải quyết hoàn toàn hallucination. Câu hỏi cụ thể là liệu vòng phản hồi verifier có tăng Pass@K khi giữ cố định mô hình, tập bài và ngân sách hay không.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60 giây.</a:t>
            </a:r>
          </a:p>
          <a:p xmlns:a="http://schemas.openxmlformats.org/drawingml/2006/main">
            <a:r>
              <a:t>Nhóm đưa đặc tả Dafny cho mô hình sinh mã. Dafny và Z3 kiểm tra mã theo các điều kiện. Nếu đạt, hệ thống báo Verified theo đặc tả. Nếu chưa đạt, bộ phân tích gửi chẩn đoán để mô hình thử sửa, tối đa K lượt. Không phải mọi lỗi đều tạo được phản ví dụ cụ thể, nên nhóm sẽ đo riêng tỷ lệ trích xuất được phản ví dụ.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55 giây.</a:t>
            </a:r>
          </a:p>
          <a:p xmlns:a="http://schemas.openxmlformats.org/drawingml/2006/main">
            <a:r>
              <a:t>Trong lần chạy thử gần nhất của nhóm, Qwen 2.5 Coder 7B chạy trên 30 bài cốt lõi. Có 28 bài được xác minh ở lượt đầu, một bài ở lượt hai, và sorted_insert chưa đạt sau ba lượt. Đây là một lần chạy sơ bộ. [Dừng, chỉ vào khung bên trái: bổ sung ảnh chụp UI hoặc lịch sử thật của 031-is-prime trước khi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55 giây.</a:t>
            </a:r>
          </a:p>
          <a:p xmlns:a="http://schemas.openxmlformats.org/drawingml/2006/main">
            <a:r>
              <a:t>Kế hoạch bắt đầu bằng việc chốt benchmark và kiểm tra đặc tả. Sau đó chạy baseline sinh một lần, vòng sửa nhận lỗi Dafny và pipeline đầy đủ trong cùng điều kiện. Cuối cùng phân tích tỷ lệ xác minh, thời gian và lỗi thất bại. Nhóm sẽ báo cả kết quả chưa đạt.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35 giây.</a:t>
            </a:r>
          </a:p>
          <a:p xmlns:a="http://schemas.openxmlformats.org/drawingml/2006/main">
            <a:r>
              <a:t>Đầu ra dự kiến là prototype, benchmark có nguồn gốc rõ, và báo cáo có thể tái lập. Kết quả chỉ giới hạn trong đặc tả và tập bài được đánh giá. Nhóm mong Thầy Cô góp ý về phạm vi benchmark, baseline và tiêu chí đánh giá. Em xin cảm ơn.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b4ea855a3d3463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41b9bbf1e194d7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4101c7c845349a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8cbb2569a24479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7d5cba39dc64f0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902aadb845f487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912F45C-787C-4BB1-9E37-48A430057C6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1B0B5CB-6A72-4B54-B369-ABCB8E82D5B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D2E1EB9-983A-4E56-BF26-EB85C1B3E4B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6BF8106-E90C-49F6-A9BF-1FD6155C621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49F4CB8-E1B2-4C81-9334-84A1945BF53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4BD6AAB-046E-4E92-B7BE-7387A540223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4770BE1-524E-4E59-AEE3-55A4B63C701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BAA5B05-6571-45B2-89E9-A41287648A0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1D63DED-E260-43E1-8469-F97411A96F8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80BAE36-FF41-4206-B05D-6EE145EDB51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a8779781fb843d8" /><Relationship Type="http://schemas.openxmlformats.org/officeDocument/2006/relationships/slideLayout" Target="/ppt/slideLayouts/slideLayout1.xml" Id="Rd34042dd53874b4d" /><Relationship Type="http://schemas.openxmlformats.org/officeDocument/2006/relationships/slideLayout" Target="/ppt/slideLayouts/slideLayout2.xml" Id="R708b51fbe2ce447d" /><Relationship Type="http://schemas.openxmlformats.org/officeDocument/2006/relationships/slideLayout" Target="/ppt/slideLayouts/slideLayout3.xml" Id="R1cb2bccd51cb4b5b" /><Relationship Type="http://schemas.openxmlformats.org/officeDocument/2006/relationships/slideLayout" Target="/ppt/slideLayouts/slideLayout4.xml" Id="R8d67032a7e6f4667" /><Relationship Type="http://schemas.openxmlformats.org/officeDocument/2006/relationships/slideLayout" Target="/ppt/slideLayouts/slideLayout5.xml" Id="Re31e3577fc044923" /><Relationship Type="http://schemas.openxmlformats.org/officeDocument/2006/relationships/slideLayout" Target="/ppt/slideLayouts/slideLayout6.xml" Id="R9bb0ade2da134bd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34042dd53874b4d"/>
    <p:sldLayoutId xmlns:r="http://schemas.openxmlformats.org/officeDocument/2006/relationships" id="2147483650" r:id="R708b51fbe2ce447d"/>
    <p:sldLayoutId xmlns:r="http://schemas.openxmlformats.org/officeDocument/2006/relationships" id="2147483651" r:id="R1cb2bccd51cb4b5b"/>
    <p:sldLayoutId xmlns:r="http://schemas.openxmlformats.org/officeDocument/2006/relationships" id="2147483652" r:id="R8d67032a7e6f4667"/>
    <p:sldLayoutId xmlns:r="http://schemas.openxmlformats.org/officeDocument/2006/relationships" id="2147483653" r:id="Re31e3577fc044923"/>
    <p:sldLayoutId xmlns:r="http://schemas.openxmlformats.org/officeDocument/2006/relationships" id="2147483654" r:id="R9bb0ade2da134bd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260d69f727541be" /><Relationship Type="http://schemas.openxmlformats.org/officeDocument/2006/relationships/notesSlide" Target="/ppt/notesSlides/notesSlide1.xml" Id="R87a98097382e42e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b9565a0cfce4692" /><Relationship Type="http://schemas.openxmlformats.org/officeDocument/2006/relationships/notesSlide" Target="/ppt/notesSlides/notesSlide2.xml" Id="R5864e103441d402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031668c8b23424e" /><Relationship Type="http://schemas.openxmlformats.org/officeDocument/2006/relationships/notesSlide" Target="/ppt/notesSlides/notesSlide3.xml" Id="R2cd7b06c171e41f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ca7009808f542ee" /><Relationship Type="http://schemas.openxmlformats.org/officeDocument/2006/relationships/notesSlide" Target="/ppt/notesSlides/notesSlide4.xml" Id="R309f3d4c349c415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ff474be47394c89" /><Relationship Type="http://schemas.openxmlformats.org/officeDocument/2006/relationships/notesSlide" Target="/ppt/notesSlides/notesSlide5.xml" Id="R2de302614da94ae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cf0a1232b494b48" /><Relationship Type="http://schemas.openxmlformats.org/officeDocument/2006/relationships/notesSlide" Target="/ppt/notesSlides/notesSlide6.xml" Id="Rd0003f5b8b4142b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1f75a2e899d4cd9" /><Relationship Type="http://schemas.openxmlformats.org/officeDocument/2006/relationships/notesSlide" Target="/ppt/notesSlides/notesSlide7.xml" Id="R4b399f02ce1847e5" /></Relationships>
</file>

<file path=ppt/slides/slide1.xml><?xml version="1.0" encoding="utf-8"?>
<p:sld xmlns:p="http://schemas.openxmlformats.org/presentationml/2006/main">
  <p:cSld>
    <p:bg>
      <p:bgPr>
        <a:solidFill xmlns:a="http://schemas.openxmlformats.org/drawingml/2006/main">
          <a:srgbClr val="14233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D53A38C-7BF9-4DB4-B7E0-7501C707184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17406AD-3CD7-4B7E-AAAE-8C06860A8477}"/>
              </a:ext>
            </a:extLst>
          </p:cNvPr>
          <p:cNvSpPr>
            <a:spLocks xmlns:a="http://schemas.openxmlformats.org/drawingml/2006/main" noGrp="1"/>
          </p:cNvSpPr>
          <p:nvPr/>
        </p:nvSpPr>
        <p:spPr>
          <a:xfrm xmlns:a="http://schemas.openxmlformats.org/drawingml/2006/main">
            <a:off x="685800" y="55245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8CC8FF"/>
                </a:solidFill>
                <a:latin typeface="Arial"/>
                <a:ea typeface="Arial"/>
                <a:cs typeface="Arial"/>
              </a:defRPr>
            </a:defPPr>
          </a:lstStyle>
          <a:p xmlns:a="http://schemas.openxmlformats.org/drawingml/2006/main">
            <a:pPr algn="l">
              <a:lnSpc>
                <a:spcPct val="100000"/>
              </a:lnSpc>
              <a:buNone/>
              <a:defRPr sz="1200" b="1">
                <a:solidFill>
                  <a:srgbClr val="8CC8FF"/>
                </a:solidFill>
                <a:latin typeface="Arial"/>
                <a:ea typeface="Arial"/>
                <a:cs typeface="Arial"/>
              </a:defRPr>
            </a:pPr>
            <a:r>
              <a:rPr sz="1200" b="1">
                <a:solidFill>
                  <a:srgbClr val="8CC8FF"/>
                </a:solidFill>
                <a:latin typeface="Arial"/>
                <a:ea typeface="Arial"/>
                <a:cs typeface="Arial"/>
              </a:rPr>
              <a:t>NGHIÊN CỨU KHOA HỌC SINH VIÊN 2026</a:t>
            </a:r>
          </a:p>
        </p:txBody>
      </p:sp>
      <p:sp>
        <p:nvSpPr>
          <p:cNvPr id="3" name="">
            <a:extLst xmlns:a="http://schemas.openxmlformats.org/drawingml/2006/main">
              <a:ext uri="{FF2B5EF4-FFF2-40B4-BE49-F238E27FC236}">
                <a16:creationId xmlns:a16="http://schemas.microsoft.com/office/drawing/2014/main" id="{F5C34795-8AE4-49C6-911E-06058B857142}"/>
              </a:ext>
            </a:extLst>
          </p:cNvPr>
          <p:cNvSpPr>
            <a:spLocks xmlns:a="http://schemas.openxmlformats.org/drawingml/2006/main" noGrp="1"/>
          </p:cNvSpPr>
          <p:nvPr/>
        </p:nvSpPr>
        <p:spPr>
          <a:xfrm xmlns:a="http://schemas.openxmlformats.org/drawingml/2006/main">
            <a:off x="685800" y="1257300"/>
            <a:ext cx="10001250" cy="1962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700" b="1">
                <a:solidFill>
                  <a:srgbClr val="FFFFFF"/>
                </a:solidFill>
                <a:latin typeface="Arial"/>
                <a:ea typeface="Arial"/>
                <a:cs typeface="Arial"/>
              </a:defRPr>
            </a:defPPr>
          </a:lstStyle>
          <a:p xmlns:a="http://schemas.openxmlformats.org/drawingml/2006/main">
            <a:pPr algn="l">
              <a:lnSpc>
                <a:spcPct val="103000"/>
              </a:lnSpc>
              <a:buNone/>
              <a:defRPr sz="2700" b="1">
                <a:solidFill>
                  <a:srgbClr val="FFFFFF"/>
                </a:solidFill>
                <a:latin typeface="Arial"/>
                <a:ea typeface="Arial"/>
                <a:cs typeface="Arial"/>
              </a:defRPr>
            </a:pPr>
            <a:r>
              <a:rPr sz="2700" b="1">
                <a:solidFill>
                  <a:srgbClr val="FFFFFF"/>
                </a:solidFill>
                <a:latin typeface="Arial"/>
                <a:ea typeface="Arial"/>
                <a:cs typeface="Arial"/>
              </a:rPr>
              <a:t>Nghiên cứu khung sinh mã nguồn</a:t>
            </a:r>
          </a:p>
          <a:p xmlns:a="http://schemas.openxmlformats.org/drawingml/2006/main">
            <a:pPr algn="l">
              <a:lnSpc>
                <a:spcPct val="103000"/>
              </a:lnSpc>
              <a:buNone/>
              <a:defRPr sz="2700" b="1">
                <a:solidFill>
                  <a:srgbClr val="FFFFFF"/>
                </a:solidFill>
                <a:latin typeface="Arial"/>
                <a:ea typeface="Arial"/>
                <a:cs typeface="Arial"/>
              </a:defRPr>
            </a:pPr>
            <a:r>
              <a:rPr sz="2700" b="1">
                <a:solidFill>
                  <a:srgbClr val="FFFFFF"/>
                </a:solidFill>
                <a:latin typeface="Arial"/>
                <a:ea typeface="Arial"/>
                <a:cs typeface="Arial"/>
              </a:rPr>
              <a:t>và tự sửa lỗi tự động loại bỏ ảo giác</a:t>
            </a:r>
          </a:p>
          <a:p xmlns:a="http://schemas.openxmlformats.org/drawingml/2006/main">
            <a:pPr algn="l">
              <a:lnSpc>
                <a:spcPct val="103000"/>
              </a:lnSpc>
              <a:buNone/>
              <a:defRPr sz="2700" b="1">
                <a:solidFill>
                  <a:srgbClr val="FFFFFF"/>
                </a:solidFill>
                <a:latin typeface="Arial"/>
                <a:ea typeface="Arial"/>
                <a:cs typeface="Arial"/>
              </a:defRPr>
            </a:pPr>
            <a:r>
              <a:rPr sz="2700" b="1">
                <a:solidFill>
                  <a:srgbClr val="FFFFFF"/>
                </a:solidFill>
                <a:latin typeface="Arial"/>
                <a:ea typeface="Arial"/>
                <a:cs typeface="Arial"/>
              </a:rPr>
              <a:t>dựa trên kiểm định logic hình thức</a:t>
            </a:r>
          </a:p>
        </p:txBody>
      </p:sp>
      <p:sp>
        <p:nvSpPr>
          <p:cNvPr id="4" name="">
            <a:extLst xmlns:a="http://schemas.openxmlformats.org/drawingml/2006/main">
              <a:ext uri="{FF2B5EF4-FFF2-40B4-BE49-F238E27FC236}">
                <a16:creationId xmlns:a16="http://schemas.microsoft.com/office/drawing/2014/main" id="{817A4BAD-9BFD-4A62-A317-D357AA49526E}"/>
              </a:ext>
            </a:extLst>
          </p:cNvPr>
          <p:cNvSpPr>
            <a:spLocks xmlns:a="http://schemas.openxmlformats.org/drawingml/2006/main" noGrp="1"/>
          </p:cNvSpPr>
          <p:nvPr/>
        </p:nvSpPr>
        <p:spPr>
          <a:xfrm xmlns:a="http://schemas.openxmlformats.org/drawingml/2006/main">
            <a:off x="704850" y="3371850"/>
            <a:ext cx="819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0">
                <a:solidFill>
                  <a:srgbClr val="A9D8E8"/>
                </a:solidFill>
                <a:latin typeface="Arial"/>
                <a:ea typeface="Arial"/>
                <a:cs typeface="Arial"/>
              </a:defRPr>
            </a:defPPr>
          </a:lstStyle>
          <a:p xmlns:a="http://schemas.openxmlformats.org/drawingml/2006/main">
            <a:pPr algn="l">
              <a:lnSpc>
                <a:spcPct val="100000"/>
              </a:lnSpc>
              <a:buNone/>
              <a:defRPr sz="1800" b="0">
                <a:solidFill>
                  <a:srgbClr val="A9D8E8"/>
                </a:solidFill>
                <a:latin typeface="Arial"/>
                <a:ea typeface="Arial"/>
                <a:cs typeface="Arial"/>
              </a:defRPr>
            </a:pPr>
            <a:r>
              <a:rPr sz="1800" b="0">
                <a:solidFill>
                  <a:srgbClr val="A9D8E8"/>
                </a:solidFill>
                <a:latin typeface="Arial"/>
                <a:ea typeface="Arial"/>
                <a:cs typeface="Arial"/>
              </a:rPr>
              <a:t>Formal Verification-in-the-Loop</a:t>
            </a:r>
          </a:p>
        </p:txBody>
      </p:sp>
      <p:sp>
        <p:nvSpPr>
          <p:cNvPr id="5" name="">
            <a:extLst xmlns:a="http://schemas.openxmlformats.org/drawingml/2006/main">
              <a:ext uri="{FF2B5EF4-FFF2-40B4-BE49-F238E27FC236}">
                <a16:creationId xmlns:a16="http://schemas.microsoft.com/office/drawing/2014/main" id="{CFDFCE25-540D-464E-A8EB-6B9046E70F35}"/>
              </a:ext>
            </a:extLst>
          </p:cNvPr>
          <p:cNvSpPr>
            <a:spLocks xmlns:a="http://schemas.openxmlformats.org/drawingml/2006/main" noGrp="1"/>
          </p:cNvSpPr>
          <p:nvPr/>
        </p:nvSpPr>
        <p:spPr>
          <a:xfrm xmlns:a="http://schemas.openxmlformats.org/drawingml/2006/main">
            <a:off x="704850" y="4000500"/>
            <a:ext cx="4762500" cy="0"/>
          </a:xfrm>
          <a:prstGeom xmlns:a="http://schemas.openxmlformats.org/drawingml/2006/main" prst="line">
            <a:avLst/>
          </a:prstGeom>
          <a:noFill xmlns:a="http://schemas.openxmlformats.org/drawingml/2006/main"/>
          <a:ln xmlns:a="http://schemas.openxmlformats.org/drawingml/2006/main" w="9525">
            <a:solidFill>
              <a:srgbClr val="496078"/>
            </a:solidFill>
            <a:prstDash val="solid"/>
          </a:ln>
        </p:spPr>
      </p:sp>
      <p:sp>
        <p:nvSpPr>
          <p:cNvPr id="6" name="">
            <a:extLst xmlns:a="http://schemas.openxmlformats.org/drawingml/2006/main">
              <a:ext uri="{FF2B5EF4-FFF2-40B4-BE49-F238E27FC236}">
                <a16:creationId xmlns:a16="http://schemas.microsoft.com/office/drawing/2014/main" id="{E0871CC0-645B-4145-8268-2B9E9CB88131}"/>
              </a:ext>
            </a:extLst>
          </p:cNvPr>
          <p:cNvSpPr>
            <a:spLocks xmlns:a="http://schemas.openxmlformats.org/drawingml/2006/main" noGrp="1"/>
          </p:cNvSpPr>
          <p:nvPr/>
        </p:nvSpPr>
        <p:spPr>
          <a:xfrm xmlns:a="http://schemas.openxmlformats.org/drawingml/2006/main">
            <a:off x="704850" y="42481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9FB2C6"/>
                </a:solidFill>
                <a:latin typeface="Arial"/>
                <a:ea typeface="Arial"/>
                <a:cs typeface="Arial"/>
              </a:defRPr>
            </a:defPPr>
          </a:lstStyle>
          <a:p xmlns:a="http://schemas.openxmlformats.org/drawingml/2006/main">
            <a:pPr algn="l">
              <a:lnSpc>
                <a:spcPct val="100000"/>
              </a:lnSpc>
              <a:buNone/>
              <a:defRPr sz="1125" b="0">
                <a:solidFill>
                  <a:srgbClr val="9FB2C6"/>
                </a:solidFill>
                <a:latin typeface="Arial"/>
                <a:ea typeface="Arial"/>
                <a:cs typeface="Arial"/>
              </a:defRPr>
            </a:pPr>
            <a:r>
              <a:rPr sz="1125" b="0">
                <a:solidFill>
                  <a:srgbClr val="9FB2C6"/>
                </a:solidFill>
                <a:latin typeface="Arial"/>
                <a:ea typeface="Arial"/>
                <a:cs typeface="Arial"/>
              </a:rPr>
              <a:t>GV hướng dẫn</a:t>
            </a:r>
          </a:p>
        </p:txBody>
      </p:sp>
      <p:sp>
        <p:nvSpPr>
          <p:cNvPr id="7" name="">
            <a:extLst xmlns:a="http://schemas.openxmlformats.org/drawingml/2006/main">
              <a:ext uri="{FF2B5EF4-FFF2-40B4-BE49-F238E27FC236}">
                <a16:creationId xmlns:a16="http://schemas.microsoft.com/office/drawing/2014/main" id="{1CF88333-01C0-4795-9D8B-6B4EE4BF4225}"/>
              </a:ext>
            </a:extLst>
          </p:cNvPr>
          <p:cNvSpPr>
            <a:spLocks xmlns:a="http://schemas.openxmlformats.org/drawingml/2006/main" noGrp="1"/>
          </p:cNvSpPr>
          <p:nvPr/>
        </p:nvSpPr>
        <p:spPr>
          <a:xfrm xmlns:a="http://schemas.openxmlformats.org/drawingml/2006/main">
            <a:off x="704850" y="4524375"/>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FFFFFF"/>
                </a:solidFill>
                <a:latin typeface="Arial"/>
                <a:ea typeface="Arial"/>
                <a:cs typeface="Arial"/>
              </a:defRPr>
            </a:defPPr>
          </a:lstStyle>
          <a:p xmlns:a="http://schemas.openxmlformats.org/drawingml/2006/main">
            <a:pPr algn="l">
              <a:lnSpc>
                <a:spcPct val="100000"/>
              </a:lnSpc>
              <a:buNone/>
              <a:defRPr sz="1650" b="1">
                <a:solidFill>
                  <a:srgbClr val="FFFFFF"/>
                </a:solidFill>
                <a:latin typeface="Arial"/>
                <a:ea typeface="Arial"/>
                <a:cs typeface="Arial"/>
              </a:defRPr>
            </a:pPr>
            <a:r>
              <a:rPr sz="1650" b="1">
                <a:solidFill>
                  <a:srgbClr val="FFFFFF"/>
                </a:solidFill>
                <a:latin typeface="Arial"/>
                <a:ea typeface="Arial"/>
                <a:cs typeface="Arial"/>
              </a:rPr>
              <a:t>ThS. Bùi Phú Khuyên</a:t>
            </a:r>
          </a:p>
        </p:txBody>
      </p:sp>
      <p:sp>
        <p:nvSpPr>
          <p:cNvPr id="8" name="">
            <a:extLst xmlns:a="http://schemas.openxmlformats.org/drawingml/2006/main">
              <a:ext uri="{FF2B5EF4-FFF2-40B4-BE49-F238E27FC236}">
                <a16:creationId xmlns:a16="http://schemas.microsoft.com/office/drawing/2014/main" id="{4FE3BD3E-CB0E-4D30-B1F9-A897D71CA361}"/>
              </a:ext>
            </a:extLst>
          </p:cNvPr>
          <p:cNvSpPr>
            <a:spLocks xmlns:a="http://schemas.openxmlformats.org/drawingml/2006/main" noGrp="1"/>
          </p:cNvSpPr>
          <p:nvPr/>
        </p:nvSpPr>
        <p:spPr>
          <a:xfrm xmlns:a="http://schemas.openxmlformats.org/drawingml/2006/main">
            <a:off x="704850" y="5153025"/>
            <a:ext cx="666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DCE6F0"/>
                </a:solidFill>
                <a:latin typeface="Arial"/>
                <a:ea typeface="Arial"/>
                <a:cs typeface="Arial"/>
              </a:defRPr>
            </a:defPPr>
          </a:lstStyle>
          <a:p xmlns:a="http://schemas.openxmlformats.org/drawingml/2006/main">
            <a:pPr algn="l">
              <a:lnSpc>
                <a:spcPct val="120000"/>
              </a:lnSpc>
              <a:buNone/>
              <a:defRPr sz="1350" b="0">
                <a:solidFill>
                  <a:srgbClr val="DCE6F0"/>
                </a:solidFill>
                <a:latin typeface="Arial"/>
                <a:ea typeface="Arial"/>
                <a:cs typeface="Arial"/>
              </a:defRPr>
            </a:pPr>
            <a:r>
              <a:rPr sz="1350" b="0">
                <a:solidFill>
                  <a:srgbClr val="DCE6F0"/>
                </a:solidFill>
                <a:latin typeface="Arial"/>
                <a:ea typeface="Arial"/>
                <a:cs typeface="Arial"/>
              </a:rPr>
              <a:t>Nguyễn Võ Lê Khoa  ·  Trần Thanh Hiệp</a:t>
            </a:r>
          </a:p>
          <a:p xmlns:a="http://schemas.openxmlformats.org/drawingml/2006/main">
            <a:pPr algn="l">
              <a:lnSpc>
                <a:spcPct val="120000"/>
              </a:lnSpc>
              <a:buNone/>
              <a:defRPr sz="1350" b="0">
                <a:solidFill>
                  <a:srgbClr val="DCE6F0"/>
                </a:solidFill>
                <a:latin typeface="Arial"/>
                <a:ea typeface="Arial"/>
                <a:cs typeface="Arial"/>
              </a:defRPr>
            </a:pPr>
            <a:r>
              <a:rPr sz="1350" b="0">
                <a:solidFill>
                  <a:srgbClr val="DCE6F0"/>
                </a:solidFill>
                <a:latin typeface="Arial"/>
                <a:ea typeface="Arial"/>
                <a:cs typeface="Arial"/>
              </a:rPr>
              <a:t>Nguyễn Thành Nhất Nam  ·  Trần Đức Huy</a:t>
            </a:r>
          </a:p>
        </p:txBody>
      </p:sp>
      <p:sp>
        <p:nvSpPr>
          <p:cNvPr id="9" name="">
            <a:extLst xmlns:a="http://schemas.openxmlformats.org/drawingml/2006/main">
              <a:ext uri="{FF2B5EF4-FFF2-40B4-BE49-F238E27FC236}">
                <a16:creationId xmlns:a16="http://schemas.microsoft.com/office/drawing/2014/main" id="{EC5E5DBA-0941-47FD-90E2-B090F9288FD6}"/>
              </a:ext>
            </a:extLst>
          </p:cNvPr>
          <p:cNvSpPr>
            <a:spLocks xmlns:a="http://schemas.openxmlformats.org/drawingml/2006/main" noGrp="1"/>
          </p:cNvSpPr>
          <p:nvPr/>
        </p:nvSpPr>
        <p:spPr>
          <a:xfrm xmlns:a="http://schemas.openxmlformats.org/drawingml/2006/main">
            <a:off x="7848600" y="5829300"/>
            <a:ext cx="3524250" cy="304800"/>
          </a:xfrm>
          <a:prstGeom xmlns:a="http://schemas.openxmlformats.org/drawingml/2006/main" prst="roundRect">
            <a:avLst>
              <a:gd name="adj" fmla="val 50000"/>
            </a:avLst>
          </a:prstGeom>
          <a:solidFill xmlns:a="http://schemas.openxmlformats.org/drawingml/2006/main">
            <a:srgbClr val="20385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825FD7B-F539-436F-BC3D-AAEA5B386EEB}"/>
              </a:ext>
            </a:extLst>
          </p:cNvPr>
          <p:cNvSpPr>
            <a:spLocks xmlns:a="http://schemas.openxmlformats.org/drawingml/2006/main" noGrp="1"/>
          </p:cNvSpPr>
          <p:nvPr/>
        </p:nvSpPr>
        <p:spPr>
          <a:xfrm xmlns:a="http://schemas.openxmlformats.org/drawingml/2006/main">
            <a:off x="7943850" y="5838825"/>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A9D8E8"/>
                </a:solidFill>
                <a:latin typeface="Arial"/>
                <a:ea typeface="Arial"/>
                <a:cs typeface="Arial"/>
              </a:defRPr>
            </a:defPPr>
          </a:lstStyle>
          <a:p xmlns:a="http://schemas.openxmlformats.org/drawingml/2006/main">
            <a:pPr algn="ctr">
              <a:lnSpc>
                <a:spcPct val="100000"/>
              </a:lnSpc>
              <a:buNone/>
              <a:defRPr sz="1050" b="1">
                <a:solidFill>
                  <a:srgbClr val="A9D8E8"/>
                </a:solidFill>
                <a:latin typeface="Arial"/>
                <a:ea typeface="Arial"/>
                <a:cs typeface="Arial"/>
              </a:defRPr>
            </a:pPr>
            <a:r>
              <a:rPr sz="1050" b="1">
                <a:solidFill>
                  <a:srgbClr val="A9D8E8"/>
                </a:solidFill>
                <a:latin typeface="Arial"/>
                <a:ea typeface="Arial"/>
                <a:cs typeface="Arial"/>
              </a:rPr>
              <a:t>THUYẾT TRÌNH: NGUYỄN VÕ LÊ KHOA</a:t>
            </a:r>
          </a:p>
        </p:txBody>
      </p:sp>
    </p:spTree>
    <p:extLst>
      <p:ext uri="{BB962C8B-B14F-4D97-AF65-F5344CB8AC3E}">
        <p14:creationId xmlns:p14="http://schemas.microsoft.com/office/powerpoint/2010/main" val="993249457"/>
      </p:ext>
    </p:extLst>
  </p:cSld>
</p:sld>
</file>

<file path=ppt/slides/slide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C9178AE-76FB-4B3B-97D5-44E97044B187}"/>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B4CC1F0-6662-4B3E-AD87-53276E8A5D1C}"/>
              </a:ext>
            </a:extLst>
          </p:cNvPr>
          <p:cNvSpPr>
            <a:spLocks xmlns:a="http://schemas.openxmlformats.org/drawingml/2006/main" noGrp="1"/>
          </p:cNvSpPr>
          <p:nvPr/>
        </p:nvSpPr>
        <p:spPr>
          <a:xfrm xmlns:a="http://schemas.openxmlformats.org/drawingml/2006/main">
            <a:off x="590550" y="3238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2563EB"/>
                </a:solidFill>
                <a:latin typeface="Arial"/>
                <a:ea typeface="Arial"/>
                <a:cs typeface="Arial"/>
              </a:defRPr>
            </a:defPPr>
          </a:lstStyle>
          <a:p xmlns:a="http://schemas.openxmlformats.org/drawingml/2006/main">
            <a:pPr algn="l">
              <a:lnSpc>
                <a:spcPct val="100000"/>
              </a:lnSpc>
              <a:buNone/>
              <a:defRPr sz="975" b="1">
                <a:solidFill>
                  <a:srgbClr val="2563EB"/>
                </a:solidFill>
                <a:latin typeface="Arial"/>
                <a:ea typeface="Arial"/>
                <a:cs typeface="Arial"/>
              </a:defRPr>
            </a:pPr>
            <a:r>
              <a:rPr sz="975" b="1">
                <a:solidFill>
                  <a:srgbClr val="2563EB"/>
                </a:solidFill>
                <a:latin typeface="Arial"/>
                <a:ea typeface="Arial"/>
                <a:cs typeface="Arial"/>
              </a:rPr>
              <a:t>NCKH SINH VIÊN 2026</a:t>
            </a:r>
          </a:p>
        </p:txBody>
      </p:sp>
      <p:sp>
        <p:nvSpPr>
          <p:cNvPr id="3" name="">
            <a:extLst xmlns:a="http://schemas.openxmlformats.org/drawingml/2006/main">
              <a:ext uri="{FF2B5EF4-FFF2-40B4-BE49-F238E27FC236}">
                <a16:creationId xmlns:a16="http://schemas.microsoft.com/office/drawing/2014/main" id="{8AA4299A-7DC2-40C1-84D7-9AB82935C4CC}"/>
              </a:ext>
            </a:extLst>
          </p:cNvPr>
          <p:cNvSpPr>
            <a:spLocks xmlns:a="http://schemas.openxmlformats.org/drawingml/2006/main" noGrp="1"/>
          </p:cNvSpPr>
          <p:nvPr/>
        </p:nvSpPr>
        <p:spPr>
          <a:xfrm xmlns:a="http://schemas.openxmlformats.org/drawingml/2006/main">
            <a:off x="590550" y="666750"/>
            <a:ext cx="11010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550" b="1">
                <a:solidFill>
                  <a:srgbClr val="14233B"/>
                </a:solidFill>
                <a:latin typeface="Arial"/>
                <a:ea typeface="Arial"/>
                <a:cs typeface="Arial"/>
              </a:defRPr>
            </a:defPPr>
          </a:lstStyle>
          <a:p xmlns:a="http://schemas.openxmlformats.org/drawingml/2006/main">
            <a:pPr algn="l">
              <a:lnSpc>
                <a:spcPct val="100000"/>
              </a:lnSpc>
              <a:buNone/>
              <a:defRPr sz="2550" b="1">
                <a:solidFill>
                  <a:srgbClr val="14233B"/>
                </a:solidFill>
                <a:latin typeface="Arial"/>
                <a:ea typeface="Arial"/>
                <a:cs typeface="Arial"/>
              </a:defRPr>
            </a:pPr>
            <a:r>
              <a:rPr sz="2550" b="1">
                <a:solidFill>
                  <a:srgbClr val="14233B"/>
                </a:solidFill>
                <a:latin typeface="Arial"/>
                <a:ea typeface="Arial"/>
                <a:cs typeface="Arial"/>
              </a:rPr>
              <a:t>Vấn đề nghiên cứu</a:t>
            </a:r>
          </a:p>
        </p:txBody>
      </p:sp>
      <p:sp>
        <p:nvSpPr>
          <p:cNvPr id="4" name="">
            <a:extLst xmlns:a="http://schemas.openxmlformats.org/drawingml/2006/main">
              <a:ext uri="{FF2B5EF4-FFF2-40B4-BE49-F238E27FC236}">
                <a16:creationId xmlns:a16="http://schemas.microsoft.com/office/drawing/2014/main" id="{FF13183C-0549-46D9-BCB7-CD536E5339D0}"/>
              </a:ext>
            </a:extLst>
          </p:cNvPr>
          <p:cNvSpPr>
            <a:spLocks xmlns:a="http://schemas.openxmlformats.org/drawingml/2006/main" noGrp="1"/>
          </p:cNvSpPr>
          <p:nvPr/>
        </p:nvSpPr>
        <p:spPr>
          <a:xfrm xmlns:a="http://schemas.openxmlformats.org/drawingml/2006/main">
            <a:off x="590550" y="1304925"/>
            <a:ext cx="110109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5" name="">
            <a:extLst xmlns:a="http://schemas.openxmlformats.org/drawingml/2006/main">
              <a:ext uri="{FF2B5EF4-FFF2-40B4-BE49-F238E27FC236}">
                <a16:creationId xmlns:a16="http://schemas.microsoft.com/office/drawing/2014/main" id="{4FDA28EA-5131-4D97-A985-0376E7EB1EBD}"/>
              </a:ext>
            </a:extLst>
          </p:cNvPr>
          <p:cNvSpPr>
            <a:spLocks xmlns:a="http://schemas.openxmlformats.org/drawingml/2006/main" noGrp="1"/>
          </p:cNvSpPr>
          <p:nvPr/>
        </p:nvSpPr>
        <p:spPr>
          <a:xfrm xmlns:a="http://schemas.openxmlformats.org/drawingml/2006/main">
            <a:off x="10572750" y="6438900"/>
            <a:ext cx="1028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52647A"/>
                </a:solidFill>
                <a:latin typeface="Arial"/>
                <a:ea typeface="Arial"/>
                <a:cs typeface="Arial"/>
              </a:defRPr>
            </a:defPPr>
          </a:lstStyle>
          <a:p xmlns:a="http://schemas.openxmlformats.org/drawingml/2006/main">
            <a:pPr algn="r">
              <a:lnSpc>
                <a:spcPct val="100000"/>
              </a:lnSpc>
              <a:buNone/>
              <a:defRPr sz="975" b="1">
                <a:solidFill>
                  <a:srgbClr val="52647A"/>
                </a:solidFill>
                <a:latin typeface="Arial"/>
                <a:ea typeface="Arial"/>
                <a:cs typeface="Arial"/>
              </a:defRPr>
            </a:pPr>
            <a:r>
              <a:rPr sz="975" b="1">
                <a:solidFill>
                  <a:srgbClr val="52647A"/>
                </a:solidFill>
                <a:latin typeface="Arial"/>
                <a:ea typeface="Arial"/>
                <a:cs typeface="Arial"/>
              </a:rPr>
              <a:t>02  /  07</a:t>
            </a:r>
          </a:p>
        </p:txBody>
      </p:sp>
      <p:sp>
        <p:nvSpPr>
          <p:cNvPr id="6" name="">
            <a:extLst xmlns:a="http://schemas.openxmlformats.org/drawingml/2006/main">
              <a:ext uri="{FF2B5EF4-FFF2-40B4-BE49-F238E27FC236}">
                <a16:creationId xmlns:a16="http://schemas.microsoft.com/office/drawing/2014/main" id="{BB1506A1-B2EF-4C8A-A126-360BF427B322}"/>
              </a:ext>
            </a:extLst>
          </p:cNvPr>
          <p:cNvSpPr>
            <a:spLocks xmlns:a="http://schemas.openxmlformats.org/drawingml/2006/main" noGrp="1"/>
          </p:cNvSpPr>
          <p:nvPr/>
        </p:nvSpPr>
        <p:spPr>
          <a:xfrm xmlns:a="http://schemas.openxmlformats.org/drawingml/2006/main">
            <a:off x="590550" y="1562100"/>
            <a:ext cx="10810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14233B"/>
                </a:solidFill>
                <a:latin typeface="Arial"/>
                <a:ea typeface="Arial"/>
                <a:cs typeface="Arial"/>
              </a:defRPr>
            </a:defPPr>
          </a:lstStyle>
          <a:p xmlns:a="http://schemas.openxmlformats.org/drawingml/2006/main">
            <a:pPr algn="l">
              <a:lnSpc>
                <a:spcPct val="100000"/>
              </a:lnSpc>
              <a:buNone/>
              <a:defRPr sz="1875" b="1">
                <a:solidFill>
                  <a:srgbClr val="14233B"/>
                </a:solidFill>
                <a:latin typeface="Arial"/>
                <a:ea typeface="Arial"/>
                <a:cs typeface="Arial"/>
              </a:defRPr>
            </a:pPr>
            <a:r>
              <a:rPr sz="1875" b="1">
                <a:solidFill>
                  <a:srgbClr val="14233B"/>
                </a:solidFill>
                <a:latin typeface="Arial"/>
                <a:ea typeface="Arial"/>
                <a:cs typeface="Arial"/>
              </a:rPr>
              <a:t>Mã do LLM sinh có thể chạy qua một số ca thử nhưng vẫn vi phạm yêu cầu ở trường hợp khác.</a:t>
            </a:r>
          </a:p>
        </p:txBody>
      </p:sp>
      <p:sp>
        <p:nvSpPr>
          <p:cNvPr id="7" name="">
            <a:extLst xmlns:a="http://schemas.openxmlformats.org/drawingml/2006/main">
              <a:ext uri="{FF2B5EF4-FFF2-40B4-BE49-F238E27FC236}">
                <a16:creationId xmlns:a16="http://schemas.microsoft.com/office/drawing/2014/main" id="{845E42CF-299C-4E76-A546-7FB144BBC25D}"/>
              </a:ext>
            </a:extLst>
          </p:cNvPr>
          <p:cNvSpPr>
            <a:spLocks xmlns:a="http://schemas.openxmlformats.org/drawingml/2006/main" noGrp="1"/>
          </p:cNvSpPr>
          <p:nvPr/>
        </p:nvSpPr>
        <p:spPr>
          <a:xfrm xmlns:a="http://schemas.openxmlformats.org/drawingml/2006/main">
            <a:off x="590550" y="2476500"/>
            <a:ext cx="4762500" cy="25146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D8E0EA"/>
            </a:solidFill>
            <a:prstDash val="solid"/>
          </a:ln>
        </p:spPr>
      </p:sp>
      <p:sp>
        <p:nvSpPr>
          <p:cNvPr id="8" name="">
            <a:extLst xmlns:a="http://schemas.openxmlformats.org/drawingml/2006/main">
              <a:ext uri="{FF2B5EF4-FFF2-40B4-BE49-F238E27FC236}">
                <a16:creationId xmlns:a16="http://schemas.microsoft.com/office/drawing/2014/main" id="{3CBEC5C9-A2C3-4DEB-8B04-D0B46F8BFD75}"/>
              </a:ext>
            </a:extLst>
          </p:cNvPr>
          <p:cNvSpPr>
            <a:spLocks xmlns:a="http://schemas.openxmlformats.org/drawingml/2006/main" noGrp="1"/>
          </p:cNvSpPr>
          <p:nvPr/>
        </p:nvSpPr>
        <p:spPr>
          <a:xfrm xmlns:a="http://schemas.openxmlformats.org/drawingml/2006/main">
            <a:off x="876300" y="27241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2563EB"/>
                </a:solidFill>
                <a:latin typeface="Arial"/>
                <a:ea typeface="Arial"/>
                <a:cs typeface="Arial"/>
              </a:defRPr>
            </a:defPPr>
          </a:lstStyle>
          <a:p xmlns:a="http://schemas.openxmlformats.org/drawingml/2006/main">
            <a:pPr algn="l">
              <a:lnSpc>
                <a:spcPct val="100000"/>
              </a:lnSpc>
              <a:buNone/>
              <a:defRPr sz="1275" b="1">
                <a:solidFill>
                  <a:srgbClr val="2563EB"/>
                </a:solidFill>
                <a:latin typeface="Arial"/>
                <a:ea typeface="Arial"/>
                <a:cs typeface="Arial"/>
              </a:defRPr>
            </a:pPr>
            <a:r>
              <a:rPr sz="1275" b="1">
                <a:solidFill>
                  <a:srgbClr val="2563EB"/>
                </a:solidFill>
                <a:latin typeface="Arial"/>
                <a:ea typeface="Arial"/>
                <a:cs typeface="Arial"/>
              </a:rPr>
              <a:t>KIỂM THỬ MẪU</a:t>
            </a:r>
          </a:p>
        </p:txBody>
      </p:sp>
      <p:sp>
        <p:nvSpPr>
          <p:cNvPr id="9" name="">
            <a:extLst xmlns:a="http://schemas.openxmlformats.org/drawingml/2006/main">
              <a:ext uri="{FF2B5EF4-FFF2-40B4-BE49-F238E27FC236}">
                <a16:creationId xmlns:a16="http://schemas.microsoft.com/office/drawing/2014/main" id="{1AD9A425-5EBF-4A7E-9F06-19D8CC7D4968}"/>
              </a:ext>
            </a:extLst>
          </p:cNvPr>
          <p:cNvSpPr>
            <a:spLocks xmlns:a="http://schemas.openxmlformats.org/drawingml/2006/main" noGrp="1"/>
          </p:cNvSpPr>
          <p:nvPr/>
        </p:nvSpPr>
        <p:spPr>
          <a:xfrm xmlns:a="http://schemas.openxmlformats.org/drawingml/2006/main">
            <a:off x="876300" y="319087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4233B"/>
                </a:solidFill>
                <a:latin typeface="Arial"/>
                <a:ea typeface="Arial"/>
                <a:cs typeface="Arial"/>
              </a:defRPr>
            </a:defPPr>
          </a:lstStyle>
          <a:p xmlns:a="http://schemas.openxmlformats.org/drawingml/2006/main">
            <a:pPr algn="l">
              <a:lnSpc>
                <a:spcPct val="100000"/>
              </a:lnSpc>
              <a:buNone/>
              <a:defRPr sz="1650" b="1">
                <a:solidFill>
                  <a:srgbClr val="14233B"/>
                </a:solidFill>
                <a:latin typeface="Arial"/>
                <a:ea typeface="Arial"/>
                <a:cs typeface="Arial"/>
              </a:defRPr>
            </a:pPr>
            <a:r>
              <a:rPr sz="1650" b="1">
                <a:solidFill>
                  <a:srgbClr val="14233B"/>
                </a:solidFill>
                <a:latin typeface="Arial"/>
                <a:ea typeface="Arial"/>
                <a:cs typeface="Arial"/>
              </a:rPr>
              <a:t>Kiểm tra các đầu vào đã chọn</a:t>
            </a:r>
          </a:p>
        </p:txBody>
      </p:sp>
      <p:sp>
        <p:nvSpPr>
          <p:cNvPr id="10" name="">
            <a:extLst xmlns:a="http://schemas.openxmlformats.org/drawingml/2006/main">
              <a:ext uri="{FF2B5EF4-FFF2-40B4-BE49-F238E27FC236}">
                <a16:creationId xmlns:a16="http://schemas.microsoft.com/office/drawing/2014/main" id="{0146B0AC-ADCF-4F29-9E95-716F8C8A9157}"/>
              </a:ext>
            </a:extLst>
          </p:cNvPr>
          <p:cNvSpPr>
            <a:spLocks xmlns:a="http://schemas.openxmlformats.org/drawingml/2006/main" noGrp="1"/>
          </p:cNvSpPr>
          <p:nvPr/>
        </p:nvSpPr>
        <p:spPr>
          <a:xfrm xmlns:a="http://schemas.openxmlformats.org/drawingml/2006/main">
            <a:off x="876300" y="3695700"/>
            <a:ext cx="3905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52647A"/>
                </a:solidFill>
                <a:latin typeface="Arial"/>
                <a:ea typeface="Arial"/>
                <a:cs typeface="Arial"/>
              </a:defRPr>
            </a:defPPr>
          </a:lstStyle>
          <a:p xmlns:a="http://schemas.openxmlformats.org/drawingml/2006/main">
            <a:pPr algn="l">
              <a:lnSpc>
                <a:spcPct val="115000"/>
              </a:lnSpc>
              <a:buNone/>
              <a:defRPr sz="1425" b="0">
                <a:solidFill>
                  <a:srgbClr val="52647A"/>
                </a:solidFill>
                <a:latin typeface="Arial"/>
                <a:ea typeface="Arial"/>
                <a:cs typeface="Arial"/>
              </a:defRPr>
            </a:pPr>
            <a:r>
              <a:rPr sz="1425" b="0">
                <a:solidFill>
                  <a:srgbClr val="52647A"/>
                </a:solidFill>
                <a:latin typeface="Arial"/>
                <a:ea typeface="Arial"/>
                <a:cs typeface="Arial"/>
              </a:rPr>
              <a:t>Có ích để phát hiện lỗi, nhưng không bao phủ hết mọi trường hợp đầu vào.</a:t>
            </a:r>
          </a:p>
        </p:txBody>
      </p:sp>
      <p:sp>
        <p:nvSpPr>
          <p:cNvPr id="11" name="">
            <a:extLst xmlns:a="http://schemas.openxmlformats.org/drawingml/2006/main">
              <a:ext uri="{FF2B5EF4-FFF2-40B4-BE49-F238E27FC236}">
                <a16:creationId xmlns:a16="http://schemas.microsoft.com/office/drawing/2014/main" id="{CE44AA3C-5ED7-4A08-8111-622C8004E08B}"/>
              </a:ext>
            </a:extLst>
          </p:cNvPr>
          <p:cNvSpPr>
            <a:spLocks xmlns:a="http://schemas.openxmlformats.org/drawingml/2006/main" noGrp="1"/>
          </p:cNvSpPr>
          <p:nvPr/>
        </p:nvSpPr>
        <p:spPr>
          <a:xfrm xmlns:a="http://schemas.openxmlformats.org/drawingml/2006/main">
            <a:off x="5619750" y="2476500"/>
            <a:ext cx="5981700" cy="2514600"/>
          </a:xfrm>
          <a:prstGeom xmlns:a="http://schemas.openxmlformats.org/drawingml/2006/main" prst="roundRect">
            <a:avLst>
              <a:gd name="adj" fmla="val 6061"/>
            </a:avLst>
          </a:prstGeom>
          <a:solidFill xmlns:a="http://schemas.openxmlformats.org/drawingml/2006/main">
            <a:srgbClr val="E3F5F3"/>
          </a:solidFill>
          <a:ln xmlns:a="http://schemas.openxmlformats.org/drawingml/2006/main" w="9525">
            <a:solidFill>
              <a:srgbClr val="B8DFD9"/>
            </a:solidFill>
            <a:prstDash val="solid"/>
          </a:ln>
        </p:spPr>
      </p:sp>
      <p:sp>
        <p:nvSpPr>
          <p:cNvPr id="12" name="">
            <a:extLst xmlns:a="http://schemas.openxmlformats.org/drawingml/2006/main">
              <a:ext uri="{FF2B5EF4-FFF2-40B4-BE49-F238E27FC236}">
                <a16:creationId xmlns:a16="http://schemas.microsoft.com/office/drawing/2014/main" id="{AEC3409A-C5CA-4700-8786-376E73306CF9}"/>
              </a:ext>
            </a:extLst>
          </p:cNvPr>
          <p:cNvSpPr>
            <a:spLocks xmlns:a="http://schemas.openxmlformats.org/drawingml/2006/main" noGrp="1"/>
          </p:cNvSpPr>
          <p:nvPr/>
        </p:nvSpPr>
        <p:spPr>
          <a:xfrm xmlns:a="http://schemas.openxmlformats.org/drawingml/2006/main">
            <a:off x="5905500" y="2724150"/>
            <a:ext cx="514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0F8B8D"/>
                </a:solidFill>
                <a:latin typeface="Arial"/>
                <a:ea typeface="Arial"/>
                <a:cs typeface="Arial"/>
              </a:defRPr>
            </a:defPPr>
          </a:lstStyle>
          <a:p xmlns:a="http://schemas.openxmlformats.org/drawingml/2006/main">
            <a:pPr algn="l">
              <a:lnSpc>
                <a:spcPct val="100000"/>
              </a:lnSpc>
              <a:buNone/>
              <a:defRPr sz="1275" b="1">
                <a:solidFill>
                  <a:srgbClr val="0F8B8D"/>
                </a:solidFill>
                <a:latin typeface="Arial"/>
                <a:ea typeface="Arial"/>
                <a:cs typeface="Arial"/>
              </a:defRPr>
            </a:pPr>
            <a:r>
              <a:rPr sz="1275" b="1">
                <a:solidFill>
                  <a:srgbClr val="0F8B8D"/>
                </a:solidFill>
                <a:latin typeface="Arial"/>
                <a:ea typeface="Arial"/>
                <a:cs typeface="Arial"/>
              </a:rPr>
              <a:t>KIỂM CHỨNG THEO ĐẶC TẢ</a:t>
            </a:r>
          </a:p>
        </p:txBody>
      </p:sp>
      <p:sp>
        <p:nvSpPr>
          <p:cNvPr id="13" name="">
            <a:extLst xmlns:a="http://schemas.openxmlformats.org/drawingml/2006/main">
              <a:ext uri="{FF2B5EF4-FFF2-40B4-BE49-F238E27FC236}">
                <a16:creationId xmlns:a16="http://schemas.microsoft.com/office/drawing/2014/main" id="{006B061C-41A9-499F-A02F-D033617B174E}"/>
              </a:ext>
            </a:extLst>
          </p:cNvPr>
          <p:cNvSpPr>
            <a:spLocks xmlns:a="http://schemas.openxmlformats.org/drawingml/2006/main" noGrp="1"/>
          </p:cNvSpPr>
          <p:nvPr/>
        </p:nvSpPr>
        <p:spPr>
          <a:xfrm xmlns:a="http://schemas.openxmlformats.org/drawingml/2006/main">
            <a:off x="5905500" y="3190875"/>
            <a:ext cx="514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4233B"/>
                </a:solidFill>
                <a:latin typeface="Arial"/>
                <a:ea typeface="Arial"/>
                <a:cs typeface="Arial"/>
              </a:defRPr>
            </a:defPPr>
          </a:lstStyle>
          <a:p xmlns:a="http://schemas.openxmlformats.org/drawingml/2006/main">
            <a:pPr algn="l">
              <a:lnSpc>
                <a:spcPct val="100000"/>
              </a:lnSpc>
              <a:buNone/>
              <a:defRPr sz="1650" b="1">
                <a:solidFill>
                  <a:srgbClr val="14233B"/>
                </a:solidFill>
                <a:latin typeface="Arial"/>
                <a:ea typeface="Arial"/>
                <a:cs typeface="Arial"/>
              </a:defRPr>
            </a:pPr>
            <a:r>
              <a:rPr sz="1650" b="1">
                <a:solidFill>
                  <a:srgbClr val="14233B"/>
                </a:solidFill>
                <a:latin typeface="Arial"/>
                <a:ea typeface="Arial"/>
                <a:cs typeface="Arial"/>
              </a:rPr>
              <a:t>Dafny tạo nghĩa vụ chứng minh</a:t>
            </a:r>
          </a:p>
        </p:txBody>
      </p:sp>
      <p:sp>
        <p:nvSpPr>
          <p:cNvPr id="14" name="">
            <a:extLst xmlns:a="http://schemas.openxmlformats.org/drawingml/2006/main">
              <a:ext uri="{FF2B5EF4-FFF2-40B4-BE49-F238E27FC236}">
                <a16:creationId xmlns:a16="http://schemas.microsoft.com/office/drawing/2014/main" id="{55AA1613-CAA8-4BB5-B2E5-456ADEF3EEB4}"/>
              </a:ext>
            </a:extLst>
          </p:cNvPr>
          <p:cNvSpPr>
            <a:spLocks xmlns:a="http://schemas.openxmlformats.org/drawingml/2006/main" noGrp="1"/>
          </p:cNvSpPr>
          <p:nvPr/>
        </p:nvSpPr>
        <p:spPr>
          <a:xfrm xmlns:a="http://schemas.openxmlformats.org/drawingml/2006/main">
            <a:off x="5905500" y="3695700"/>
            <a:ext cx="5048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52647A"/>
                </a:solidFill>
                <a:latin typeface="Arial"/>
                <a:ea typeface="Arial"/>
                <a:cs typeface="Arial"/>
              </a:defRPr>
            </a:defPPr>
          </a:lstStyle>
          <a:p xmlns:a="http://schemas.openxmlformats.org/drawingml/2006/main">
            <a:pPr algn="l">
              <a:lnSpc>
                <a:spcPct val="115000"/>
              </a:lnSpc>
              <a:buNone/>
              <a:defRPr sz="1425" b="0">
                <a:solidFill>
                  <a:srgbClr val="52647A"/>
                </a:solidFill>
                <a:latin typeface="Arial"/>
                <a:ea typeface="Arial"/>
                <a:cs typeface="Arial"/>
              </a:defRPr>
            </a:pPr>
            <a:r>
              <a:rPr sz="1425" b="0">
                <a:solidFill>
                  <a:srgbClr val="52647A"/>
                </a:solidFill>
                <a:latin typeface="Arial"/>
                <a:ea typeface="Arial"/>
                <a:cs typeface="Arial"/>
              </a:rPr>
              <a:t>Nếu verifier xác nhận, mã thỏa các điều kiện đã đặc tả trong phạm vi mô hình và giả định của Dafny.</a:t>
            </a:r>
          </a:p>
        </p:txBody>
      </p:sp>
      <p:sp>
        <p:nvSpPr>
          <p:cNvPr id="15" name="">
            <a:extLst xmlns:a="http://schemas.openxmlformats.org/drawingml/2006/main">
              <a:ext uri="{FF2B5EF4-FFF2-40B4-BE49-F238E27FC236}">
                <a16:creationId xmlns:a16="http://schemas.microsoft.com/office/drawing/2014/main" id="{E28A8CD8-629F-434F-90CC-8E9FAA58D575}"/>
              </a:ext>
            </a:extLst>
          </p:cNvPr>
          <p:cNvSpPr>
            <a:spLocks xmlns:a="http://schemas.openxmlformats.org/drawingml/2006/main" noGrp="1"/>
          </p:cNvSpPr>
          <p:nvPr/>
        </p:nvSpPr>
        <p:spPr>
          <a:xfrm xmlns:a="http://schemas.openxmlformats.org/drawingml/2006/main">
            <a:off x="590550" y="5372100"/>
            <a:ext cx="5619750" cy="304800"/>
          </a:xfrm>
          <a:prstGeom xmlns:a="http://schemas.openxmlformats.org/drawingml/2006/main" prst="roundRect">
            <a:avLst>
              <a:gd name="adj" fmla="val 50000"/>
            </a:avLst>
          </a:prstGeom>
          <a:solidFill xmlns:a="http://schemas.openxmlformats.org/drawingml/2006/main">
            <a:srgbClr val="FFF2D9"/>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B537CB4-30C8-4469-80D5-6A7DE3E30236}"/>
              </a:ext>
            </a:extLst>
          </p:cNvPr>
          <p:cNvSpPr>
            <a:spLocks xmlns:a="http://schemas.openxmlformats.org/drawingml/2006/main" noGrp="1"/>
          </p:cNvSpPr>
          <p:nvPr/>
        </p:nvSpPr>
        <p:spPr>
          <a:xfrm xmlns:a="http://schemas.openxmlformats.org/drawingml/2006/main">
            <a:off x="685800" y="5381625"/>
            <a:ext cx="542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C47A11"/>
                </a:solidFill>
                <a:latin typeface="Arial"/>
                <a:ea typeface="Arial"/>
                <a:cs typeface="Arial"/>
              </a:defRPr>
            </a:defPPr>
          </a:lstStyle>
          <a:p xmlns:a="http://schemas.openxmlformats.org/drawingml/2006/main">
            <a:pPr algn="ctr">
              <a:lnSpc>
                <a:spcPct val="100000"/>
              </a:lnSpc>
              <a:buNone/>
              <a:defRPr sz="1050" b="1">
                <a:solidFill>
                  <a:srgbClr val="C47A11"/>
                </a:solidFill>
                <a:latin typeface="Arial"/>
                <a:ea typeface="Arial"/>
                <a:cs typeface="Arial"/>
              </a:defRPr>
            </a:pPr>
            <a:r>
              <a:rPr sz="1050" b="1">
                <a:solidFill>
                  <a:srgbClr val="C47A11"/>
                </a:solidFill>
                <a:latin typeface="Arial"/>
                <a:ea typeface="Arial"/>
                <a:cs typeface="Arial"/>
              </a:rPr>
              <a:t>ĐẶC TẢ ĐÚNG VÀ ĐỦ LÀ GIẢ ĐỊNH TRỌNG YẾU</a:t>
            </a:r>
          </a:p>
        </p:txBody>
      </p:sp>
      <p:sp>
        <p:nvSpPr>
          <p:cNvPr id="17" name="">
            <a:extLst xmlns:a="http://schemas.openxmlformats.org/drawingml/2006/main">
              <a:ext uri="{FF2B5EF4-FFF2-40B4-BE49-F238E27FC236}">
                <a16:creationId xmlns:a16="http://schemas.microsoft.com/office/drawing/2014/main" id="{99111EBD-7F1D-4D2D-88C3-F26CFE8D2E44}"/>
              </a:ext>
            </a:extLst>
          </p:cNvPr>
          <p:cNvSpPr>
            <a:spLocks xmlns:a="http://schemas.openxmlformats.org/drawingml/2006/main" noGrp="1"/>
          </p:cNvSpPr>
          <p:nvPr/>
        </p:nvSpPr>
        <p:spPr>
          <a:xfrm xmlns:a="http://schemas.openxmlformats.org/drawingml/2006/main">
            <a:off x="590550" y="5848350"/>
            <a:ext cx="1000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2647A"/>
                </a:solidFill>
                <a:latin typeface="Arial"/>
                <a:ea typeface="Arial"/>
                <a:cs typeface="Arial"/>
              </a:defRPr>
            </a:defPPr>
          </a:lstStyle>
          <a:p xmlns:a="http://schemas.openxmlformats.org/drawingml/2006/main">
            <a:pPr algn="l">
              <a:lnSpc>
                <a:spcPct val="100000"/>
              </a:lnSpc>
              <a:buNone/>
              <a:defRPr sz="1350" b="0">
                <a:solidFill>
                  <a:srgbClr val="52647A"/>
                </a:solidFill>
                <a:latin typeface="Arial"/>
                <a:ea typeface="Arial"/>
                <a:cs typeface="Arial"/>
              </a:defRPr>
            </a:pPr>
            <a:r>
              <a:rPr sz="1350" b="0">
                <a:solidFill>
                  <a:srgbClr val="52647A"/>
                </a:solidFill>
                <a:latin typeface="Arial"/>
                <a:ea typeface="Arial"/>
                <a:cs typeface="Arial"/>
              </a:rPr>
              <a:t>Xác minh theo đặc tả không tự chứng minh đặc tả phản ánh đầy đủ ý định người dùng.</a:t>
            </a:r>
          </a:p>
        </p:txBody>
      </p:sp>
    </p:spTree>
    <p:extLst>
      <p:ext uri="{BB962C8B-B14F-4D97-AF65-F5344CB8AC3E}">
        <p14:creationId xmlns:p14="http://schemas.microsoft.com/office/powerpoint/2010/main" val="820727493"/>
      </p:ext>
    </p:extLst>
  </p:cSld>
</p:sld>
</file>

<file path=ppt/slides/slide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BFD1E8C-E01A-499C-8EE2-1A82669EF5BF}"/>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4CBA37E-8D1F-4D58-BFE9-D3C5F69F022F}"/>
              </a:ext>
            </a:extLst>
          </p:cNvPr>
          <p:cNvSpPr>
            <a:spLocks xmlns:a="http://schemas.openxmlformats.org/drawingml/2006/main" noGrp="1"/>
          </p:cNvSpPr>
          <p:nvPr/>
        </p:nvSpPr>
        <p:spPr>
          <a:xfrm xmlns:a="http://schemas.openxmlformats.org/drawingml/2006/main">
            <a:off x="590550" y="3238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2563EB"/>
                </a:solidFill>
                <a:latin typeface="Arial"/>
                <a:ea typeface="Arial"/>
                <a:cs typeface="Arial"/>
              </a:defRPr>
            </a:defPPr>
          </a:lstStyle>
          <a:p xmlns:a="http://schemas.openxmlformats.org/drawingml/2006/main">
            <a:pPr algn="l">
              <a:lnSpc>
                <a:spcPct val="100000"/>
              </a:lnSpc>
              <a:buNone/>
              <a:defRPr sz="975" b="1">
                <a:solidFill>
                  <a:srgbClr val="2563EB"/>
                </a:solidFill>
                <a:latin typeface="Arial"/>
                <a:ea typeface="Arial"/>
                <a:cs typeface="Arial"/>
              </a:defRPr>
            </a:pPr>
            <a:r>
              <a:rPr sz="975" b="1">
                <a:solidFill>
                  <a:srgbClr val="2563EB"/>
                </a:solidFill>
                <a:latin typeface="Arial"/>
                <a:ea typeface="Arial"/>
                <a:cs typeface="Arial"/>
              </a:rPr>
              <a:t>NCKH SINH VIÊN 2026</a:t>
            </a:r>
          </a:p>
        </p:txBody>
      </p:sp>
      <p:sp>
        <p:nvSpPr>
          <p:cNvPr id="3" name="">
            <a:extLst xmlns:a="http://schemas.openxmlformats.org/drawingml/2006/main">
              <a:ext uri="{FF2B5EF4-FFF2-40B4-BE49-F238E27FC236}">
                <a16:creationId xmlns:a16="http://schemas.microsoft.com/office/drawing/2014/main" id="{78E31005-FFFA-4183-B124-428E384A9836}"/>
              </a:ext>
            </a:extLst>
          </p:cNvPr>
          <p:cNvSpPr>
            <a:spLocks xmlns:a="http://schemas.openxmlformats.org/drawingml/2006/main" noGrp="1"/>
          </p:cNvSpPr>
          <p:nvPr/>
        </p:nvSpPr>
        <p:spPr>
          <a:xfrm xmlns:a="http://schemas.openxmlformats.org/drawingml/2006/main">
            <a:off x="590550" y="666750"/>
            <a:ext cx="11010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550" b="1">
                <a:solidFill>
                  <a:srgbClr val="14233B"/>
                </a:solidFill>
                <a:latin typeface="Arial"/>
                <a:ea typeface="Arial"/>
                <a:cs typeface="Arial"/>
              </a:defRPr>
            </a:defPPr>
          </a:lstStyle>
          <a:p xmlns:a="http://schemas.openxmlformats.org/drawingml/2006/main">
            <a:pPr algn="l">
              <a:lnSpc>
                <a:spcPct val="100000"/>
              </a:lnSpc>
              <a:buNone/>
              <a:defRPr sz="2550" b="1">
                <a:solidFill>
                  <a:srgbClr val="14233B"/>
                </a:solidFill>
                <a:latin typeface="Arial"/>
                <a:ea typeface="Arial"/>
                <a:cs typeface="Arial"/>
              </a:defRPr>
            </a:pPr>
            <a:r>
              <a:rPr sz="2550" b="1">
                <a:solidFill>
                  <a:srgbClr val="14233B"/>
                </a:solidFill>
                <a:latin typeface="Arial"/>
                <a:ea typeface="Arial"/>
                <a:cs typeface="Arial"/>
              </a:rPr>
              <a:t>Mục tiêu và câu hỏi nghiên cứu</a:t>
            </a:r>
          </a:p>
        </p:txBody>
      </p:sp>
      <p:sp>
        <p:nvSpPr>
          <p:cNvPr id="4" name="">
            <a:extLst xmlns:a="http://schemas.openxmlformats.org/drawingml/2006/main">
              <a:ext uri="{FF2B5EF4-FFF2-40B4-BE49-F238E27FC236}">
                <a16:creationId xmlns:a16="http://schemas.microsoft.com/office/drawing/2014/main" id="{4BCA1EB2-C0D5-45DE-ADDF-15FB63C2BA09}"/>
              </a:ext>
            </a:extLst>
          </p:cNvPr>
          <p:cNvSpPr>
            <a:spLocks xmlns:a="http://schemas.openxmlformats.org/drawingml/2006/main" noGrp="1"/>
          </p:cNvSpPr>
          <p:nvPr/>
        </p:nvSpPr>
        <p:spPr>
          <a:xfrm xmlns:a="http://schemas.openxmlformats.org/drawingml/2006/main">
            <a:off x="590550" y="1304925"/>
            <a:ext cx="110109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5" name="">
            <a:extLst xmlns:a="http://schemas.openxmlformats.org/drawingml/2006/main">
              <a:ext uri="{FF2B5EF4-FFF2-40B4-BE49-F238E27FC236}">
                <a16:creationId xmlns:a16="http://schemas.microsoft.com/office/drawing/2014/main" id="{0BEA4CAE-D1F4-4CAF-8A1B-B11CE4F16687}"/>
              </a:ext>
            </a:extLst>
          </p:cNvPr>
          <p:cNvSpPr>
            <a:spLocks xmlns:a="http://schemas.openxmlformats.org/drawingml/2006/main" noGrp="1"/>
          </p:cNvSpPr>
          <p:nvPr/>
        </p:nvSpPr>
        <p:spPr>
          <a:xfrm xmlns:a="http://schemas.openxmlformats.org/drawingml/2006/main">
            <a:off x="10572750" y="6438900"/>
            <a:ext cx="1028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52647A"/>
                </a:solidFill>
                <a:latin typeface="Arial"/>
                <a:ea typeface="Arial"/>
                <a:cs typeface="Arial"/>
              </a:defRPr>
            </a:defPPr>
          </a:lstStyle>
          <a:p xmlns:a="http://schemas.openxmlformats.org/drawingml/2006/main">
            <a:pPr algn="r">
              <a:lnSpc>
                <a:spcPct val="100000"/>
              </a:lnSpc>
              <a:buNone/>
              <a:defRPr sz="975" b="1">
                <a:solidFill>
                  <a:srgbClr val="52647A"/>
                </a:solidFill>
                <a:latin typeface="Arial"/>
                <a:ea typeface="Arial"/>
                <a:cs typeface="Arial"/>
              </a:defRPr>
            </a:pPr>
            <a:r>
              <a:rPr sz="975" b="1">
                <a:solidFill>
                  <a:srgbClr val="52647A"/>
                </a:solidFill>
                <a:latin typeface="Arial"/>
                <a:ea typeface="Arial"/>
                <a:cs typeface="Arial"/>
              </a:rPr>
              <a:t>03  /  07</a:t>
            </a:r>
          </a:p>
        </p:txBody>
      </p:sp>
      <p:sp>
        <p:nvSpPr>
          <p:cNvPr id="6" name="">
            <a:extLst xmlns:a="http://schemas.openxmlformats.org/drawingml/2006/main">
              <a:ext uri="{FF2B5EF4-FFF2-40B4-BE49-F238E27FC236}">
                <a16:creationId xmlns:a16="http://schemas.microsoft.com/office/drawing/2014/main" id="{D83CCBDB-A36C-403C-B5F3-9987F6FA7C9B}"/>
              </a:ext>
            </a:extLst>
          </p:cNvPr>
          <p:cNvSpPr>
            <a:spLocks xmlns:a="http://schemas.openxmlformats.org/drawingml/2006/main" noGrp="1"/>
          </p:cNvSpPr>
          <p:nvPr/>
        </p:nvSpPr>
        <p:spPr>
          <a:xfrm xmlns:a="http://schemas.openxmlformats.org/drawingml/2006/main">
            <a:off x="590550" y="163830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2563EB"/>
                </a:solidFill>
                <a:latin typeface="Arial"/>
                <a:ea typeface="Arial"/>
                <a:cs typeface="Arial"/>
              </a:defRPr>
            </a:defPPr>
          </a:lstStyle>
          <a:p xmlns:a="http://schemas.openxmlformats.org/drawingml/2006/main">
            <a:pPr algn="l">
              <a:lnSpc>
                <a:spcPct val="100000"/>
              </a:lnSpc>
              <a:buNone/>
              <a:defRPr sz="1350" b="1">
                <a:solidFill>
                  <a:srgbClr val="2563EB"/>
                </a:solidFill>
                <a:latin typeface="Arial"/>
                <a:ea typeface="Arial"/>
                <a:cs typeface="Arial"/>
              </a:defRPr>
            </a:pPr>
            <a:r>
              <a:rPr sz="1350" b="1">
                <a:solidFill>
                  <a:srgbClr val="2563EB"/>
                </a:solidFill>
                <a:latin typeface="Arial"/>
                <a:ea typeface="Arial"/>
                <a:cs typeface="Arial"/>
              </a:rPr>
              <a:t>Mục tiêu</a:t>
            </a:r>
          </a:p>
        </p:txBody>
      </p:sp>
      <p:sp>
        <p:nvSpPr>
          <p:cNvPr id="7" name="">
            <a:extLst xmlns:a="http://schemas.openxmlformats.org/drawingml/2006/main">
              <a:ext uri="{FF2B5EF4-FFF2-40B4-BE49-F238E27FC236}">
                <a16:creationId xmlns:a16="http://schemas.microsoft.com/office/drawing/2014/main" id="{8126560E-6CF3-48CA-8C6B-956FD1E6D2C5}"/>
              </a:ext>
            </a:extLst>
          </p:cNvPr>
          <p:cNvSpPr>
            <a:spLocks xmlns:a="http://schemas.openxmlformats.org/drawingml/2006/main" noGrp="1"/>
          </p:cNvSpPr>
          <p:nvPr/>
        </p:nvSpPr>
        <p:spPr>
          <a:xfrm xmlns:a="http://schemas.openxmlformats.org/drawingml/2006/main">
            <a:off x="590550" y="2028825"/>
            <a:ext cx="1057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250" b="1">
                <a:solidFill>
                  <a:srgbClr val="14233B"/>
                </a:solidFill>
                <a:latin typeface="Arial"/>
                <a:ea typeface="Arial"/>
                <a:cs typeface="Arial"/>
              </a:defRPr>
            </a:defPPr>
          </a:lstStyle>
          <a:p xmlns:a="http://schemas.openxmlformats.org/drawingml/2006/main">
            <a:pPr algn="l">
              <a:lnSpc>
                <a:spcPct val="105000"/>
              </a:lnSpc>
              <a:buNone/>
              <a:defRPr sz="2250" b="1">
                <a:solidFill>
                  <a:srgbClr val="14233B"/>
                </a:solidFill>
                <a:latin typeface="Arial"/>
                <a:ea typeface="Arial"/>
                <a:cs typeface="Arial"/>
              </a:defRPr>
            </a:pPr>
            <a:r>
              <a:rPr sz="2250" b="1">
                <a:solidFill>
                  <a:srgbClr val="14233B"/>
                </a:solidFill>
                <a:latin typeface="Arial"/>
                <a:ea typeface="Arial"/>
                <a:cs typeface="Arial"/>
              </a:rPr>
              <a:t>Đánh giá liệu phản hồi từ Dafny/Z3 có giúp tăng tỷ lệ mã Dafny do LLM sinh được xác minh hay không.</a:t>
            </a:r>
          </a:p>
        </p:txBody>
      </p:sp>
      <p:sp>
        <p:nvSpPr>
          <p:cNvPr id="8" name="">
            <a:extLst xmlns:a="http://schemas.openxmlformats.org/drawingml/2006/main">
              <a:ext uri="{FF2B5EF4-FFF2-40B4-BE49-F238E27FC236}">
                <a16:creationId xmlns:a16="http://schemas.microsoft.com/office/drawing/2014/main" id="{6105A0B3-BD99-49D4-B2D2-C69023FBCBBA}"/>
              </a:ext>
            </a:extLst>
          </p:cNvPr>
          <p:cNvSpPr>
            <a:spLocks xmlns:a="http://schemas.openxmlformats.org/drawingml/2006/main" noGrp="1"/>
          </p:cNvSpPr>
          <p:nvPr/>
        </p:nvSpPr>
        <p:spPr>
          <a:xfrm xmlns:a="http://schemas.openxmlformats.org/drawingml/2006/main">
            <a:off x="590550" y="3152775"/>
            <a:ext cx="110109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9" name="">
            <a:extLst xmlns:a="http://schemas.openxmlformats.org/drawingml/2006/main">
              <a:ext uri="{FF2B5EF4-FFF2-40B4-BE49-F238E27FC236}">
                <a16:creationId xmlns:a16="http://schemas.microsoft.com/office/drawing/2014/main" id="{91103C2C-D4B2-4B87-9537-0A469533E9A3}"/>
              </a:ext>
            </a:extLst>
          </p:cNvPr>
          <p:cNvSpPr>
            <a:spLocks xmlns:a="http://schemas.openxmlformats.org/drawingml/2006/main" noGrp="1"/>
          </p:cNvSpPr>
          <p:nvPr/>
        </p:nvSpPr>
        <p:spPr>
          <a:xfrm xmlns:a="http://schemas.openxmlformats.org/drawingml/2006/main">
            <a:off x="590550" y="347662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0F8B8D"/>
                </a:solidFill>
                <a:latin typeface="Arial"/>
                <a:ea typeface="Arial"/>
                <a:cs typeface="Arial"/>
              </a:defRPr>
            </a:defPPr>
          </a:lstStyle>
          <a:p xmlns:a="http://schemas.openxmlformats.org/drawingml/2006/main">
            <a:pPr algn="l">
              <a:lnSpc>
                <a:spcPct val="100000"/>
              </a:lnSpc>
              <a:buNone/>
              <a:defRPr sz="1350" b="1">
                <a:solidFill>
                  <a:srgbClr val="0F8B8D"/>
                </a:solidFill>
                <a:latin typeface="Arial"/>
                <a:ea typeface="Arial"/>
                <a:cs typeface="Arial"/>
              </a:defRPr>
            </a:pPr>
            <a:r>
              <a:rPr sz="1350" b="1">
                <a:solidFill>
                  <a:srgbClr val="0F8B8D"/>
                </a:solidFill>
                <a:latin typeface="Arial"/>
                <a:ea typeface="Arial"/>
                <a:cs typeface="Arial"/>
              </a:rPr>
              <a:t>Câu hỏi chính</a:t>
            </a:r>
          </a:p>
        </p:txBody>
      </p:sp>
      <p:sp>
        <p:nvSpPr>
          <p:cNvPr id="10" name="">
            <a:extLst xmlns:a="http://schemas.openxmlformats.org/drawingml/2006/main">
              <a:ext uri="{FF2B5EF4-FFF2-40B4-BE49-F238E27FC236}">
                <a16:creationId xmlns:a16="http://schemas.microsoft.com/office/drawing/2014/main" id="{C6C3C7E0-573C-41F6-8FF0-2BD255C8EC9C}"/>
              </a:ext>
            </a:extLst>
          </p:cNvPr>
          <p:cNvSpPr>
            <a:spLocks xmlns:a="http://schemas.openxmlformats.org/drawingml/2006/main" noGrp="1"/>
          </p:cNvSpPr>
          <p:nvPr/>
        </p:nvSpPr>
        <p:spPr>
          <a:xfrm xmlns:a="http://schemas.openxmlformats.org/drawingml/2006/main">
            <a:off x="590550" y="3886200"/>
            <a:ext cx="10382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950" b="0">
                <a:solidFill>
                  <a:srgbClr val="14233B"/>
                </a:solidFill>
                <a:latin typeface="Arial"/>
                <a:ea typeface="Arial"/>
                <a:cs typeface="Arial"/>
              </a:defRPr>
            </a:defPPr>
          </a:lstStyle>
          <a:p xmlns:a="http://schemas.openxmlformats.org/drawingml/2006/main">
            <a:pPr algn="l">
              <a:lnSpc>
                <a:spcPct val="110000"/>
              </a:lnSpc>
              <a:buNone/>
              <a:defRPr sz="1950" b="0">
                <a:solidFill>
                  <a:srgbClr val="14233B"/>
                </a:solidFill>
                <a:latin typeface="Arial"/>
                <a:ea typeface="Arial"/>
                <a:cs typeface="Arial"/>
              </a:defRPr>
            </a:pPr>
            <a:r>
              <a:rPr sz="1950" b="0">
                <a:solidFill>
                  <a:srgbClr val="14233B"/>
                </a:solidFill>
                <a:latin typeface="Arial"/>
                <a:ea typeface="Arial"/>
                <a:cs typeface="Arial"/>
              </a:rPr>
              <a:t>Với cùng mô hình, tập bài và ngân sách tối đa K lượt, vòng lặp kiểm chứng có cải thiện Pass@K so với sinh một lần không?</a:t>
            </a:r>
          </a:p>
        </p:txBody>
      </p:sp>
      <p:sp>
        <p:nvSpPr>
          <p:cNvPr id="11" name="">
            <a:extLst xmlns:a="http://schemas.openxmlformats.org/drawingml/2006/main">
              <a:ext uri="{FF2B5EF4-FFF2-40B4-BE49-F238E27FC236}">
                <a16:creationId xmlns:a16="http://schemas.microsoft.com/office/drawing/2014/main" id="{58F61164-460E-4474-881B-5F5A15E83FCA}"/>
              </a:ext>
            </a:extLst>
          </p:cNvPr>
          <p:cNvSpPr>
            <a:spLocks xmlns:a="http://schemas.openxmlformats.org/drawingml/2006/main" noGrp="1"/>
          </p:cNvSpPr>
          <p:nvPr/>
        </p:nvSpPr>
        <p:spPr>
          <a:xfrm xmlns:a="http://schemas.openxmlformats.org/drawingml/2006/main">
            <a:off x="590550" y="5143500"/>
            <a:ext cx="10572750" cy="704850"/>
          </a:xfrm>
          <a:prstGeom xmlns:a="http://schemas.openxmlformats.org/drawingml/2006/main" prst="roundRect">
            <a:avLst>
              <a:gd name="adj" fmla="val 16216"/>
            </a:avLst>
          </a:prstGeom>
          <a:solidFill xmlns:a="http://schemas.openxmlformats.org/drawingml/2006/main">
            <a:srgbClr val="E8F0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5E28A43-1726-4090-8FEA-BB4A911C8C30}"/>
              </a:ext>
            </a:extLst>
          </p:cNvPr>
          <p:cNvSpPr>
            <a:spLocks xmlns:a="http://schemas.openxmlformats.org/drawingml/2006/main" noGrp="1"/>
          </p:cNvSpPr>
          <p:nvPr/>
        </p:nvSpPr>
        <p:spPr>
          <a:xfrm xmlns:a="http://schemas.openxmlformats.org/drawingml/2006/main">
            <a:off x="819150" y="5286375"/>
            <a:ext cx="990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2563EB"/>
                </a:solidFill>
                <a:latin typeface="Arial"/>
                <a:ea typeface="Arial"/>
                <a:cs typeface="Arial"/>
              </a:defRPr>
            </a:defPPr>
          </a:lstStyle>
          <a:p xmlns:a="http://schemas.openxmlformats.org/drawingml/2006/main">
            <a:pPr algn="l">
              <a:lnSpc>
                <a:spcPct val="100000"/>
              </a:lnSpc>
              <a:buNone/>
              <a:defRPr sz="1425" b="1">
                <a:solidFill>
                  <a:srgbClr val="2563EB"/>
                </a:solidFill>
                <a:latin typeface="Arial"/>
                <a:ea typeface="Arial"/>
                <a:cs typeface="Arial"/>
              </a:defRPr>
            </a:pPr>
            <a:r>
              <a:rPr sz="1425" b="1">
                <a:solidFill>
                  <a:srgbClr val="2563EB"/>
                </a:solidFill>
                <a:latin typeface="Arial"/>
                <a:ea typeface="Arial"/>
                <a:cs typeface="Arial"/>
              </a:rPr>
              <a:t>Giả thuyết cần kiểm tra, không phải kết luận đã có.</a:t>
            </a:r>
          </a:p>
        </p:txBody>
      </p:sp>
    </p:spTree>
    <p:extLst>
      <p:ext uri="{BB962C8B-B14F-4D97-AF65-F5344CB8AC3E}">
        <p14:creationId xmlns:p14="http://schemas.microsoft.com/office/powerpoint/2010/main" val="1085346198"/>
      </p:ext>
    </p:extLst>
  </p:cSld>
</p:sld>
</file>

<file path=ppt/slides/slide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cxnSp>
        <p:nvCxnSpPr>
          <p:cNvPr id="26" name="">
            <a:extLst xmlns:a="http://schemas.openxmlformats.org/drawingml/2006/main">
              <a:ext uri="{FF2B5EF4-FFF2-40B4-BE49-F238E27FC236}">
                <a16:creationId xmlns:a16="http://schemas.microsoft.com/office/drawing/2014/main" id="{6CB74084-161B-429C-B727-66C6FACAC0D4}"/>
              </a:ext>
            </a:extLst>
          </p:cNvPr>
          <p:cNvCxnSpPr>
            <a:stCxn xmlns:a="http://schemas.openxmlformats.org/drawingml/2006/main" id="24" idx="2"/>
            <a:endCxn xmlns:a="http://schemas.openxmlformats.org/drawingml/2006/main" id="9" idx="2"/>
          </p:cNvCxnSpPr>
          <p:nvPr/>
        </p:nvCxnSpPr>
        <p:spPr>
          <a:xfrm xmlns:a="http://schemas.openxmlformats.org/drawingml/2006/main" flipH="1" flipV="1">
            <a:off x="4067175" y="3686175"/>
            <a:ext cx="1571625" cy="504825"/>
          </a:xfrm>
          <a:prstGeom xmlns:a="http://schemas.openxmlformats.org/drawingml/2006/main" prst="bentConnector2">
            <a:avLst/>
          </a:prstGeom>
          <a:ln xmlns:a="http://schemas.openxmlformats.org/drawingml/2006/main" w="19050">
            <a:solidFill>
              <a:srgbClr val="C47A11"/>
            </a:solidFill>
            <a:prstDash val="solid"/>
            <a:tailEnd type="arrow" w="sm" len="sm"/>
          </a:ln>
        </p:spPr>
      </p:cxnSp>
      <p:cxnSp>
        <p:nvCxnSpPr>
          <p:cNvPr id="25" name="">
            <a:extLst xmlns:a="http://schemas.openxmlformats.org/drawingml/2006/main">
              <a:ext uri="{FF2B5EF4-FFF2-40B4-BE49-F238E27FC236}">
                <a16:creationId xmlns:a16="http://schemas.microsoft.com/office/drawing/2014/main" id="{86A6A582-B6D4-459D-995C-60B888CC0F0E}"/>
              </a:ext>
            </a:extLst>
          </p:cNvPr>
          <p:cNvCxnSpPr>
            <a:stCxn xmlns:a="http://schemas.openxmlformats.org/drawingml/2006/main" id="12" idx="2"/>
            <a:endCxn xmlns:a="http://schemas.openxmlformats.org/drawingml/2006/main" id="24" idx="0"/>
          </p:cNvCxnSpPr>
          <p:nvPr/>
        </p:nvCxnSpPr>
        <p:spPr>
          <a:xfrm xmlns:a="http://schemas.openxmlformats.org/drawingml/2006/main" flipH="1">
            <a:off x="5715000" y="3686175"/>
            <a:ext cx="981075" cy="428625"/>
          </a:xfrm>
          <a:prstGeom xmlns:a="http://schemas.openxmlformats.org/drawingml/2006/main" prst="straightConnector1">
            <a:avLst/>
          </a:prstGeom>
          <a:ln xmlns:a="http://schemas.openxmlformats.org/drawingml/2006/main" w="19050">
            <a:solidFill>
              <a:srgbClr val="C47A11"/>
            </a:solidFill>
            <a:prstDash val="solid"/>
            <a:tailEnd type="arrow" w="sm" len="sm"/>
          </a:ln>
        </p:spPr>
      </p:cxnSp>
      <p:cxnSp>
        <p:nvCxnSpPr>
          <p:cNvPr id="20" name="">
            <a:extLst xmlns:a="http://schemas.openxmlformats.org/drawingml/2006/main">
              <a:ext uri="{FF2B5EF4-FFF2-40B4-BE49-F238E27FC236}">
                <a16:creationId xmlns:a16="http://schemas.microsoft.com/office/drawing/2014/main" id="{80A27E28-8842-4A1A-B7C4-152A2DB92EB8}"/>
              </a:ext>
            </a:extLst>
          </p:cNvPr>
          <p:cNvCxnSpPr>
            <a:stCxn xmlns:a="http://schemas.openxmlformats.org/drawingml/2006/main" id="12" idx="3"/>
            <a:endCxn xmlns:a="http://schemas.openxmlformats.org/drawingml/2006/main" id="15" idx="1"/>
          </p:cNvCxnSpPr>
          <p:nvPr/>
        </p:nvCxnSpPr>
        <p:spPr>
          <a:xfrm xmlns:a="http://schemas.openxmlformats.org/drawingml/2006/main">
            <a:off x="7886700" y="3057525"/>
            <a:ext cx="419100" cy="0"/>
          </a:xfrm>
          <a:prstGeom xmlns:a="http://schemas.openxmlformats.org/drawingml/2006/main" prst="straightConnector1">
            <a:avLst/>
          </a:prstGeom>
          <a:ln xmlns:a="http://schemas.openxmlformats.org/drawingml/2006/main" w="19050">
            <a:solidFill>
              <a:srgbClr val="2563EB"/>
            </a:solidFill>
            <a:prstDash val="solid"/>
            <a:tailEnd type="arrow" w="med" len="med"/>
          </a:ln>
        </p:spPr>
      </p:cxnSp>
      <p:cxnSp>
        <p:nvCxnSpPr>
          <p:cNvPr id="19" name="">
            <a:extLst xmlns:a="http://schemas.openxmlformats.org/drawingml/2006/main">
              <a:ext uri="{FF2B5EF4-FFF2-40B4-BE49-F238E27FC236}">
                <a16:creationId xmlns:a16="http://schemas.microsoft.com/office/drawing/2014/main" id="{47931E65-BA27-408B-8470-3785A67F6F8E}"/>
              </a:ext>
            </a:extLst>
          </p:cNvPr>
          <p:cNvCxnSpPr>
            <a:stCxn xmlns:a="http://schemas.openxmlformats.org/drawingml/2006/main" id="9" idx="3"/>
            <a:endCxn xmlns:a="http://schemas.openxmlformats.org/drawingml/2006/main" id="12" idx="1"/>
          </p:cNvCxnSpPr>
          <p:nvPr/>
        </p:nvCxnSpPr>
        <p:spPr>
          <a:xfrm xmlns:a="http://schemas.openxmlformats.org/drawingml/2006/main">
            <a:off x="5086350" y="3057525"/>
            <a:ext cx="419100" cy="0"/>
          </a:xfrm>
          <a:prstGeom xmlns:a="http://schemas.openxmlformats.org/drawingml/2006/main" prst="straightConnector1">
            <a:avLst/>
          </a:prstGeom>
          <a:ln xmlns:a="http://schemas.openxmlformats.org/drawingml/2006/main" w="19050">
            <a:solidFill>
              <a:srgbClr val="2563EB"/>
            </a:solidFill>
            <a:prstDash val="solid"/>
            <a:tailEnd type="arrow" w="med" len="med"/>
          </a:ln>
        </p:spPr>
      </p:cxnSp>
      <p:cxnSp>
        <p:nvCxnSpPr>
          <p:cNvPr id="18" name="">
            <a:extLst xmlns:a="http://schemas.openxmlformats.org/drawingml/2006/main">
              <a:ext uri="{FF2B5EF4-FFF2-40B4-BE49-F238E27FC236}">
                <a16:creationId xmlns:a16="http://schemas.microsoft.com/office/drawing/2014/main" id="{DE4727F5-09B6-4EB7-AD98-491B666499CF}"/>
              </a:ext>
            </a:extLst>
          </p:cNvPr>
          <p:cNvCxnSpPr>
            <a:stCxn xmlns:a="http://schemas.openxmlformats.org/drawingml/2006/main" id="6" idx="3"/>
            <a:endCxn xmlns:a="http://schemas.openxmlformats.org/drawingml/2006/main" id="9" idx="1"/>
          </p:cNvCxnSpPr>
          <p:nvPr/>
        </p:nvCxnSpPr>
        <p:spPr>
          <a:xfrm xmlns:a="http://schemas.openxmlformats.org/drawingml/2006/main">
            <a:off x="2628900" y="3057525"/>
            <a:ext cx="419100" cy="0"/>
          </a:xfrm>
          <a:prstGeom xmlns:a="http://schemas.openxmlformats.org/drawingml/2006/main" prst="straightConnector1">
            <a:avLst/>
          </a:prstGeom>
          <a:ln xmlns:a="http://schemas.openxmlformats.org/drawingml/2006/main" w="19050">
            <a:solidFill>
              <a:srgbClr val="2563EB"/>
            </a:solidFill>
            <a:prstDash val="solid"/>
            <a:tailEnd type="arrow" w="med" len="med"/>
          </a:ln>
        </p:spPr>
      </p:cxnSp>
      <p:sp>
        <p:nvSpPr>
          <p:cNvPr id="28" name="">
            <a:extLst xmlns:a="http://schemas.openxmlformats.org/drawingml/2006/main">
              <a:ext uri="{FF2B5EF4-FFF2-40B4-BE49-F238E27FC236}">
                <a16:creationId xmlns:a16="http://schemas.microsoft.com/office/drawing/2014/main" id="{5B4D2E80-0821-488B-BBAF-97A4AFC19160}"/>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E1A248F-E496-463F-B000-D1E8CF227C97}"/>
              </a:ext>
            </a:extLst>
          </p:cNvPr>
          <p:cNvSpPr>
            <a:spLocks xmlns:a="http://schemas.openxmlformats.org/drawingml/2006/main" noGrp="1"/>
          </p:cNvSpPr>
          <p:nvPr/>
        </p:nvSpPr>
        <p:spPr>
          <a:xfrm xmlns:a="http://schemas.openxmlformats.org/drawingml/2006/main">
            <a:off x="590550" y="3238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2563EB"/>
                </a:solidFill>
                <a:latin typeface="Arial"/>
                <a:ea typeface="Arial"/>
                <a:cs typeface="Arial"/>
              </a:defRPr>
            </a:defPPr>
          </a:lstStyle>
          <a:p xmlns:a="http://schemas.openxmlformats.org/drawingml/2006/main">
            <a:pPr algn="l">
              <a:lnSpc>
                <a:spcPct val="100000"/>
              </a:lnSpc>
              <a:buNone/>
              <a:defRPr sz="975" b="1">
                <a:solidFill>
                  <a:srgbClr val="2563EB"/>
                </a:solidFill>
                <a:latin typeface="Arial"/>
                <a:ea typeface="Arial"/>
                <a:cs typeface="Arial"/>
              </a:defRPr>
            </a:pPr>
            <a:r>
              <a:rPr sz="975" b="1">
                <a:solidFill>
                  <a:srgbClr val="2563EB"/>
                </a:solidFill>
                <a:latin typeface="Arial"/>
                <a:ea typeface="Arial"/>
                <a:cs typeface="Arial"/>
              </a:rPr>
              <a:t>NCKH SINH VIÊN 2026</a:t>
            </a:r>
          </a:p>
        </p:txBody>
      </p:sp>
      <p:sp>
        <p:nvSpPr>
          <p:cNvPr id="3" name="">
            <a:extLst xmlns:a="http://schemas.openxmlformats.org/drawingml/2006/main">
              <a:ext uri="{FF2B5EF4-FFF2-40B4-BE49-F238E27FC236}">
                <a16:creationId xmlns:a16="http://schemas.microsoft.com/office/drawing/2014/main" id="{05A5A33B-B035-4E15-8D10-FE7436E0CDED}"/>
              </a:ext>
            </a:extLst>
          </p:cNvPr>
          <p:cNvSpPr>
            <a:spLocks xmlns:a="http://schemas.openxmlformats.org/drawingml/2006/main" noGrp="1"/>
          </p:cNvSpPr>
          <p:nvPr/>
        </p:nvSpPr>
        <p:spPr>
          <a:xfrm xmlns:a="http://schemas.openxmlformats.org/drawingml/2006/main">
            <a:off x="590550" y="666750"/>
            <a:ext cx="11010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550" b="1">
                <a:solidFill>
                  <a:srgbClr val="14233B"/>
                </a:solidFill>
                <a:latin typeface="Arial"/>
                <a:ea typeface="Arial"/>
                <a:cs typeface="Arial"/>
              </a:defRPr>
            </a:defPPr>
          </a:lstStyle>
          <a:p xmlns:a="http://schemas.openxmlformats.org/drawingml/2006/main">
            <a:pPr algn="l">
              <a:lnSpc>
                <a:spcPct val="100000"/>
              </a:lnSpc>
              <a:buNone/>
              <a:defRPr sz="2550" b="1">
                <a:solidFill>
                  <a:srgbClr val="14233B"/>
                </a:solidFill>
                <a:latin typeface="Arial"/>
                <a:ea typeface="Arial"/>
                <a:cs typeface="Arial"/>
              </a:defRPr>
            </a:pPr>
            <a:r>
              <a:rPr sz="2550" b="1">
                <a:solidFill>
                  <a:srgbClr val="14233B"/>
                </a:solidFill>
                <a:latin typeface="Arial"/>
                <a:ea typeface="Arial"/>
                <a:cs typeface="Arial"/>
              </a:rPr>
              <a:t>Phương pháp: vòng sinh và kiểm chứng</a:t>
            </a:r>
          </a:p>
        </p:txBody>
      </p:sp>
      <p:sp>
        <p:nvSpPr>
          <p:cNvPr id="4" name="">
            <a:extLst xmlns:a="http://schemas.openxmlformats.org/drawingml/2006/main">
              <a:ext uri="{FF2B5EF4-FFF2-40B4-BE49-F238E27FC236}">
                <a16:creationId xmlns:a16="http://schemas.microsoft.com/office/drawing/2014/main" id="{64713D3F-FE69-4261-A146-E6A0E9281F5D}"/>
              </a:ext>
            </a:extLst>
          </p:cNvPr>
          <p:cNvSpPr>
            <a:spLocks xmlns:a="http://schemas.openxmlformats.org/drawingml/2006/main" noGrp="1"/>
          </p:cNvSpPr>
          <p:nvPr/>
        </p:nvSpPr>
        <p:spPr>
          <a:xfrm xmlns:a="http://schemas.openxmlformats.org/drawingml/2006/main">
            <a:off x="590550" y="1304925"/>
            <a:ext cx="110109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5" name="">
            <a:extLst xmlns:a="http://schemas.openxmlformats.org/drawingml/2006/main">
              <a:ext uri="{FF2B5EF4-FFF2-40B4-BE49-F238E27FC236}">
                <a16:creationId xmlns:a16="http://schemas.microsoft.com/office/drawing/2014/main" id="{C075F7CB-CE98-4917-963A-37F553ED8EB8}"/>
              </a:ext>
            </a:extLst>
          </p:cNvPr>
          <p:cNvSpPr>
            <a:spLocks xmlns:a="http://schemas.openxmlformats.org/drawingml/2006/main" noGrp="1"/>
          </p:cNvSpPr>
          <p:nvPr/>
        </p:nvSpPr>
        <p:spPr>
          <a:xfrm xmlns:a="http://schemas.openxmlformats.org/drawingml/2006/main">
            <a:off x="10572750" y="6438900"/>
            <a:ext cx="1028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52647A"/>
                </a:solidFill>
                <a:latin typeface="Arial"/>
                <a:ea typeface="Arial"/>
                <a:cs typeface="Arial"/>
              </a:defRPr>
            </a:defPPr>
          </a:lstStyle>
          <a:p xmlns:a="http://schemas.openxmlformats.org/drawingml/2006/main">
            <a:pPr algn="r">
              <a:lnSpc>
                <a:spcPct val="100000"/>
              </a:lnSpc>
              <a:buNone/>
              <a:defRPr sz="975" b="1">
                <a:solidFill>
                  <a:srgbClr val="52647A"/>
                </a:solidFill>
                <a:latin typeface="Arial"/>
                <a:ea typeface="Arial"/>
                <a:cs typeface="Arial"/>
              </a:defRPr>
            </a:pPr>
            <a:r>
              <a:rPr sz="975" b="1">
                <a:solidFill>
                  <a:srgbClr val="52647A"/>
                </a:solidFill>
                <a:latin typeface="Arial"/>
                <a:ea typeface="Arial"/>
                <a:cs typeface="Arial"/>
              </a:rPr>
              <a:t>04  /  07</a:t>
            </a:r>
          </a:p>
        </p:txBody>
      </p:sp>
      <p:sp>
        <p:nvSpPr>
          <p:cNvPr id="6" name="">
            <a:extLst xmlns:a="http://schemas.openxmlformats.org/drawingml/2006/main">
              <a:ext uri="{FF2B5EF4-FFF2-40B4-BE49-F238E27FC236}">
                <a16:creationId xmlns:a16="http://schemas.microsoft.com/office/drawing/2014/main" id="{65894CAF-8562-4FAF-9477-D8DBB8BA95F7}"/>
              </a:ext>
            </a:extLst>
          </p:cNvPr>
          <p:cNvSpPr>
            <a:spLocks xmlns:a="http://schemas.openxmlformats.org/drawingml/2006/main" noGrp="1"/>
          </p:cNvSpPr>
          <p:nvPr/>
        </p:nvSpPr>
        <p:spPr>
          <a:xfrm xmlns:a="http://schemas.openxmlformats.org/drawingml/2006/main">
            <a:off x="590550" y="2428875"/>
            <a:ext cx="2038350" cy="1257300"/>
          </a:xfrm>
          <a:prstGeom xmlns:a="http://schemas.openxmlformats.org/drawingml/2006/main" prst="roundRect">
            <a:avLst>
              <a:gd name="adj" fmla="val 10606"/>
            </a:avLst>
          </a:prstGeom>
          <a:solidFill xmlns:a="http://schemas.openxmlformats.org/drawingml/2006/main">
            <a:srgbClr val="E8F0FF"/>
          </a:solidFill>
          <a:ln xmlns:a="http://schemas.openxmlformats.org/drawingml/2006/main" w="9525">
            <a:solidFill>
              <a:srgbClr val="BED2FF"/>
            </a:solidFill>
            <a:prstDash val="solid"/>
          </a:ln>
        </p:spPr>
      </p:sp>
      <p:sp>
        <p:nvSpPr>
          <p:cNvPr id="7" name="">
            <a:extLst xmlns:a="http://schemas.openxmlformats.org/drawingml/2006/main">
              <a:ext uri="{FF2B5EF4-FFF2-40B4-BE49-F238E27FC236}">
                <a16:creationId xmlns:a16="http://schemas.microsoft.com/office/drawing/2014/main" id="{E9110327-EAA2-454A-B485-B3AD0F2A1DAC}"/>
              </a:ext>
            </a:extLst>
          </p:cNvPr>
          <p:cNvSpPr>
            <a:spLocks xmlns:a="http://schemas.openxmlformats.org/drawingml/2006/main" noGrp="1"/>
          </p:cNvSpPr>
          <p:nvPr/>
        </p:nvSpPr>
        <p:spPr>
          <a:xfrm xmlns:a="http://schemas.openxmlformats.org/drawingml/2006/main">
            <a:off x="733425" y="2590800"/>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1">
                <a:solidFill>
                  <a:srgbClr val="2563EB"/>
                </a:solidFill>
                <a:latin typeface="Arial"/>
                <a:ea typeface="Arial"/>
                <a:cs typeface="Arial"/>
              </a:defRPr>
            </a:defPPr>
          </a:lstStyle>
          <a:p xmlns:a="http://schemas.openxmlformats.org/drawingml/2006/main">
            <a:pPr algn="ctr">
              <a:lnSpc>
                <a:spcPct val="100000"/>
              </a:lnSpc>
              <a:buNone/>
              <a:defRPr sz="1125" b="1">
                <a:solidFill>
                  <a:srgbClr val="2563EB"/>
                </a:solidFill>
                <a:latin typeface="Arial"/>
                <a:ea typeface="Arial"/>
                <a:cs typeface="Arial"/>
              </a:defRPr>
            </a:pPr>
            <a:r>
              <a:rPr sz="1125" b="1">
                <a:solidFill>
                  <a:srgbClr val="2563EB"/>
                </a:solidFill>
                <a:latin typeface="Arial"/>
                <a:ea typeface="Arial"/>
                <a:cs typeface="Arial"/>
              </a:rPr>
              <a:t>ĐẶC TẢ</a:t>
            </a:r>
          </a:p>
        </p:txBody>
      </p:sp>
      <p:sp>
        <p:nvSpPr>
          <p:cNvPr id="8" name="">
            <a:extLst xmlns:a="http://schemas.openxmlformats.org/drawingml/2006/main">
              <a:ext uri="{FF2B5EF4-FFF2-40B4-BE49-F238E27FC236}">
                <a16:creationId xmlns:a16="http://schemas.microsoft.com/office/drawing/2014/main" id="{58E02BF7-8E86-4C2A-B52C-EC9811A27296}"/>
              </a:ext>
            </a:extLst>
          </p:cNvPr>
          <p:cNvSpPr>
            <a:spLocks xmlns:a="http://schemas.openxmlformats.org/drawingml/2006/main" noGrp="1"/>
          </p:cNvSpPr>
          <p:nvPr/>
        </p:nvSpPr>
        <p:spPr>
          <a:xfrm xmlns:a="http://schemas.openxmlformats.org/drawingml/2006/main">
            <a:off x="723900" y="2971800"/>
            <a:ext cx="1771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425" b="1">
                <a:solidFill>
                  <a:srgbClr val="14233B"/>
                </a:solidFill>
                <a:latin typeface="Arial"/>
                <a:ea typeface="Arial"/>
                <a:cs typeface="Arial"/>
              </a:defRPr>
            </a:defPPr>
          </a:lstStyle>
          <a:p xmlns:a="http://schemas.openxmlformats.org/drawingml/2006/main">
            <a:pPr algn="ctr">
              <a:lnSpc>
                <a:spcPct val="108000"/>
              </a:lnSpc>
              <a:buNone/>
              <a:defRPr sz="1425" b="1">
                <a:solidFill>
                  <a:srgbClr val="14233B"/>
                </a:solidFill>
                <a:latin typeface="Arial"/>
                <a:ea typeface="Arial"/>
                <a:cs typeface="Arial"/>
              </a:defRPr>
            </a:pPr>
            <a:r>
              <a:rPr sz="1425" b="1">
                <a:solidFill>
                  <a:srgbClr val="14233B"/>
                </a:solidFill>
                <a:latin typeface="Arial"/>
                <a:ea typeface="Arial"/>
                <a:cs typeface="Arial"/>
              </a:rPr>
              <a:t>requires</a:t>
            </a:r>
          </a:p>
          <a:p xmlns:a="http://schemas.openxmlformats.org/drawingml/2006/main">
            <a:pPr algn="ctr">
              <a:lnSpc>
                <a:spcPct val="108000"/>
              </a:lnSpc>
              <a:buNone/>
              <a:defRPr sz="1425" b="1">
                <a:solidFill>
                  <a:srgbClr val="14233B"/>
                </a:solidFill>
                <a:latin typeface="Arial"/>
                <a:ea typeface="Arial"/>
                <a:cs typeface="Arial"/>
              </a:defRPr>
            </a:pPr>
            <a:r>
              <a:rPr sz="1425" b="1">
                <a:solidFill>
                  <a:srgbClr val="14233B"/>
                </a:solidFill>
                <a:latin typeface="Arial"/>
                <a:ea typeface="Arial"/>
                <a:cs typeface="Arial"/>
              </a:rPr>
              <a:t>ensures</a:t>
            </a:r>
          </a:p>
        </p:txBody>
      </p:sp>
      <p:sp>
        <p:nvSpPr>
          <p:cNvPr id="9" name="">
            <a:extLst xmlns:a="http://schemas.openxmlformats.org/drawingml/2006/main">
              <a:ext uri="{FF2B5EF4-FFF2-40B4-BE49-F238E27FC236}">
                <a16:creationId xmlns:a16="http://schemas.microsoft.com/office/drawing/2014/main" id="{1295B852-354D-4223-B7D8-CEC333820B14}"/>
              </a:ext>
            </a:extLst>
          </p:cNvPr>
          <p:cNvSpPr>
            <a:spLocks xmlns:a="http://schemas.openxmlformats.org/drawingml/2006/main" noGrp="1"/>
          </p:cNvSpPr>
          <p:nvPr/>
        </p:nvSpPr>
        <p:spPr>
          <a:xfrm xmlns:a="http://schemas.openxmlformats.org/drawingml/2006/main">
            <a:off x="3048000" y="2428875"/>
            <a:ext cx="2038350" cy="1257300"/>
          </a:xfrm>
          <a:prstGeom xmlns:a="http://schemas.openxmlformats.org/drawingml/2006/main" prst="roundRect">
            <a:avLst>
              <a:gd name="adj" fmla="val 10606"/>
            </a:avLst>
          </a:prstGeom>
          <a:solidFill xmlns:a="http://schemas.openxmlformats.org/drawingml/2006/main">
            <a:srgbClr val="EEF2FA"/>
          </a:solidFill>
          <a:ln xmlns:a="http://schemas.openxmlformats.org/drawingml/2006/main" w="9525">
            <a:solidFill>
              <a:srgbClr val="D3DCE9"/>
            </a:solidFill>
            <a:prstDash val="solid"/>
          </a:ln>
        </p:spPr>
      </p:sp>
      <p:sp>
        <p:nvSpPr>
          <p:cNvPr id="10" name="">
            <a:extLst xmlns:a="http://schemas.openxmlformats.org/drawingml/2006/main">
              <a:ext uri="{FF2B5EF4-FFF2-40B4-BE49-F238E27FC236}">
                <a16:creationId xmlns:a16="http://schemas.microsoft.com/office/drawing/2014/main" id="{F7698E2D-E696-481D-80EC-DB5861644894}"/>
              </a:ext>
            </a:extLst>
          </p:cNvPr>
          <p:cNvSpPr>
            <a:spLocks xmlns:a="http://schemas.openxmlformats.org/drawingml/2006/main" noGrp="1"/>
          </p:cNvSpPr>
          <p:nvPr/>
        </p:nvSpPr>
        <p:spPr>
          <a:xfrm xmlns:a="http://schemas.openxmlformats.org/drawingml/2006/main">
            <a:off x="3190875" y="2590800"/>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1">
                <a:solidFill>
                  <a:srgbClr val="14233B"/>
                </a:solidFill>
                <a:latin typeface="Arial"/>
                <a:ea typeface="Arial"/>
                <a:cs typeface="Arial"/>
              </a:defRPr>
            </a:defPPr>
          </a:lstStyle>
          <a:p xmlns:a="http://schemas.openxmlformats.org/drawingml/2006/main">
            <a:pPr algn="ctr">
              <a:lnSpc>
                <a:spcPct val="100000"/>
              </a:lnSpc>
              <a:buNone/>
              <a:defRPr sz="1125" b="1">
                <a:solidFill>
                  <a:srgbClr val="14233B"/>
                </a:solidFill>
                <a:latin typeface="Arial"/>
                <a:ea typeface="Arial"/>
                <a:cs typeface="Arial"/>
              </a:defRPr>
            </a:pPr>
            <a:r>
              <a:rPr sz="1125" b="1">
                <a:solidFill>
                  <a:srgbClr val="14233B"/>
                </a:solidFill>
                <a:latin typeface="Arial"/>
                <a:ea typeface="Arial"/>
                <a:cs typeface="Arial"/>
              </a:rPr>
              <a:t>LLM SINH MÃ</a:t>
            </a:r>
          </a:p>
        </p:txBody>
      </p:sp>
      <p:sp>
        <p:nvSpPr>
          <p:cNvPr id="11" name="">
            <a:extLst xmlns:a="http://schemas.openxmlformats.org/drawingml/2006/main">
              <a:ext uri="{FF2B5EF4-FFF2-40B4-BE49-F238E27FC236}">
                <a16:creationId xmlns:a16="http://schemas.microsoft.com/office/drawing/2014/main" id="{BBD9E061-4698-489F-A663-84BFE89BF10A}"/>
              </a:ext>
            </a:extLst>
          </p:cNvPr>
          <p:cNvSpPr>
            <a:spLocks xmlns:a="http://schemas.openxmlformats.org/drawingml/2006/main" noGrp="1"/>
          </p:cNvSpPr>
          <p:nvPr/>
        </p:nvSpPr>
        <p:spPr>
          <a:xfrm xmlns:a="http://schemas.openxmlformats.org/drawingml/2006/main">
            <a:off x="3181350" y="2971800"/>
            <a:ext cx="1771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425" b="1">
                <a:solidFill>
                  <a:srgbClr val="14233B"/>
                </a:solidFill>
                <a:latin typeface="Arial"/>
                <a:ea typeface="Arial"/>
                <a:cs typeface="Arial"/>
              </a:defRPr>
            </a:defPPr>
          </a:lstStyle>
          <a:p xmlns:a="http://schemas.openxmlformats.org/drawingml/2006/main">
            <a:pPr algn="ctr">
              <a:lnSpc>
                <a:spcPct val="108000"/>
              </a:lnSpc>
              <a:buNone/>
              <a:defRPr sz="1425" b="1">
                <a:solidFill>
                  <a:srgbClr val="14233B"/>
                </a:solidFill>
                <a:latin typeface="Arial"/>
                <a:ea typeface="Arial"/>
                <a:cs typeface="Arial"/>
              </a:defRPr>
            </a:pPr>
            <a:r>
              <a:rPr sz="1425" b="1">
                <a:solidFill>
                  <a:srgbClr val="14233B"/>
                </a:solidFill>
                <a:latin typeface="Arial"/>
                <a:ea typeface="Arial"/>
                <a:cs typeface="Arial"/>
              </a:rPr>
              <a:t>Ứng viên</a:t>
            </a:r>
          </a:p>
          <a:p xmlns:a="http://schemas.openxmlformats.org/drawingml/2006/main">
            <a:pPr algn="ctr">
              <a:lnSpc>
                <a:spcPct val="108000"/>
              </a:lnSpc>
              <a:buNone/>
              <a:defRPr sz="1425" b="1">
                <a:solidFill>
                  <a:srgbClr val="14233B"/>
                </a:solidFill>
                <a:latin typeface="Arial"/>
                <a:ea typeface="Arial"/>
                <a:cs typeface="Arial"/>
              </a:defRPr>
            </a:pPr>
            <a:r>
              <a:rPr sz="1425" b="1">
                <a:solidFill>
                  <a:srgbClr val="14233B"/>
                </a:solidFill>
                <a:latin typeface="Arial"/>
                <a:ea typeface="Arial"/>
                <a:cs typeface="Arial"/>
              </a:rPr>
              <a:t>Dafny</a:t>
            </a:r>
          </a:p>
        </p:txBody>
      </p:sp>
      <p:sp>
        <p:nvSpPr>
          <p:cNvPr id="12" name="">
            <a:extLst xmlns:a="http://schemas.openxmlformats.org/drawingml/2006/main">
              <a:ext uri="{FF2B5EF4-FFF2-40B4-BE49-F238E27FC236}">
                <a16:creationId xmlns:a16="http://schemas.microsoft.com/office/drawing/2014/main" id="{B0FD2895-1D63-4D99-99E6-110C389638C0}"/>
              </a:ext>
            </a:extLst>
          </p:cNvPr>
          <p:cNvSpPr>
            <a:spLocks xmlns:a="http://schemas.openxmlformats.org/drawingml/2006/main" noGrp="1"/>
          </p:cNvSpPr>
          <p:nvPr/>
        </p:nvSpPr>
        <p:spPr>
          <a:xfrm xmlns:a="http://schemas.openxmlformats.org/drawingml/2006/main">
            <a:off x="5505450" y="2428875"/>
            <a:ext cx="2381250" cy="1257300"/>
          </a:xfrm>
          <a:prstGeom xmlns:a="http://schemas.openxmlformats.org/drawingml/2006/main" prst="roundRect">
            <a:avLst>
              <a:gd name="adj" fmla="val 10606"/>
            </a:avLst>
          </a:prstGeom>
          <a:solidFill xmlns:a="http://schemas.openxmlformats.org/drawingml/2006/main">
            <a:srgbClr val="E3F5F3"/>
          </a:solidFill>
          <a:ln xmlns:a="http://schemas.openxmlformats.org/drawingml/2006/main" w="9525">
            <a:solidFill>
              <a:srgbClr val="B8DFD9"/>
            </a:solidFill>
            <a:prstDash val="solid"/>
          </a:ln>
        </p:spPr>
      </p:sp>
      <p:sp>
        <p:nvSpPr>
          <p:cNvPr id="13" name="">
            <a:extLst xmlns:a="http://schemas.openxmlformats.org/drawingml/2006/main">
              <a:ext uri="{FF2B5EF4-FFF2-40B4-BE49-F238E27FC236}">
                <a16:creationId xmlns:a16="http://schemas.microsoft.com/office/drawing/2014/main" id="{02B764B6-70FC-4F13-9763-8D400333CA72}"/>
              </a:ext>
            </a:extLst>
          </p:cNvPr>
          <p:cNvSpPr>
            <a:spLocks xmlns:a="http://schemas.openxmlformats.org/drawingml/2006/main" noGrp="1"/>
          </p:cNvSpPr>
          <p:nvPr/>
        </p:nvSpPr>
        <p:spPr>
          <a:xfrm xmlns:a="http://schemas.openxmlformats.org/drawingml/2006/main">
            <a:off x="5648325" y="25908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1">
                <a:solidFill>
                  <a:srgbClr val="0F8B8D"/>
                </a:solidFill>
                <a:latin typeface="Arial"/>
                <a:ea typeface="Arial"/>
                <a:cs typeface="Arial"/>
              </a:defRPr>
            </a:defPPr>
          </a:lstStyle>
          <a:p xmlns:a="http://schemas.openxmlformats.org/drawingml/2006/main">
            <a:pPr algn="ctr">
              <a:lnSpc>
                <a:spcPct val="100000"/>
              </a:lnSpc>
              <a:buNone/>
              <a:defRPr sz="1125" b="1">
                <a:solidFill>
                  <a:srgbClr val="0F8B8D"/>
                </a:solidFill>
                <a:latin typeface="Arial"/>
                <a:ea typeface="Arial"/>
                <a:cs typeface="Arial"/>
              </a:defRPr>
            </a:pPr>
            <a:r>
              <a:rPr sz="1125" b="1">
                <a:solidFill>
                  <a:srgbClr val="0F8B8D"/>
                </a:solidFill>
                <a:latin typeface="Arial"/>
                <a:ea typeface="Arial"/>
                <a:cs typeface="Arial"/>
              </a:rPr>
              <a:t>DAFNY + Z3</a:t>
            </a:r>
          </a:p>
        </p:txBody>
      </p:sp>
      <p:sp>
        <p:nvSpPr>
          <p:cNvPr id="14" name="">
            <a:extLst xmlns:a="http://schemas.openxmlformats.org/drawingml/2006/main">
              <a:ext uri="{FF2B5EF4-FFF2-40B4-BE49-F238E27FC236}">
                <a16:creationId xmlns:a16="http://schemas.microsoft.com/office/drawing/2014/main" id="{11002A3A-87DA-4EDF-9D66-F22C936CB646}"/>
              </a:ext>
            </a:extLst>
          </p:cNvPr>
          <p:cNvSpPr>
            <a:spLocks xmlns:a="http://schemas.openxmlformats.org/drawingml/2006/main" noGrp="1"/>
          </p:cNvSpPr>
          <p:nvPr/>
        </p:nvSpPr>
        <p:spPr>
          <a:xfrm xmlns:a="http://schemas.openxmlformats.org/drawingml/2006/main">
            <a:off x="5638800" y="2971800"/>
            <a:ext cx="2114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425" b="1">
                <a:solidFill>
                  <a:srgbClr val="14233B"/>
                </a:solidFill>
                <a:latin typeface="Arial"/>
                <a:ea typeface="Arial"/>
                <a:cs typeface="Arial"/>
              </a:defRPr>
            </a:defPPr>
          </a:lstStyle>
          <a:p xmlns:a="http://schemas.openxmlformats.org/drawingml/2006/main">
            <a:pPr algn="ctr">
              <a:lnSpc>
                <a:spcPct val="108000"/>
              </a:lnSpc>
              <a:buNone/>
              <a:defRPr sz="1425" b="1">
                <a:solidFill>
                  <a:srgbClr val="14233B"/>
                </a:solidFill>
                <a:latin typeface="Arial"/>
                <a:ea typeface="Arial"/>
                <a:cs typeface="Arial"/>
              </a:defRPr>
            </a:pPr>
            <a:r>
              <a:rPr sz="1425" b="1">
                <a:solidFill>
                  <a:srgbClr val="14233B"/>
                </a:solidFill>
                <a:latin typeface="Arial"/>
                <a:ea typeface="Arial"/>
                <a:cs typeface="Arial"/>
              </a:rPr>
              <a:t>Kiểm tra cú pháp</a:t>
            </a:r>
          </a:p>
          <a:p xmlns:a="http://schemas.openxmlformats.org/drawingml/2006/main">
            <a:pPr algn="ctr">
              <a:lnSpc>
                <a:spcPct val="108000"/>
              </a:lnSpc>
              <a:buNone/>
              <a:defRPr sz="1425" b="1">
                <a:solidFill>
                  <a:srgbClr val="14233B"/>
                </a:solidFill>
                <a:latin typeface="Arial"/>
                <a:ea typeface="Arial"/>
                <a:cs typeface="Arial"/>
              </a:defRPr>
            </a:pPr>
            <a:r>
              <a:rPr sz="1425" b="1">
                <a:solidFill>
                  <a:srgbClr val="14233B"/>
                </a:solidFill>
                <a:latin typeface="Arial"/>
                <a:ea typeface="Arial"/>
                <a:cs typeface="Arial"/>
              </a:rPr>
              <a:t>và nghĩa vụ chứng minh</a:t>
            </a:r>
          </a:p>
        </p:txBody>
      </p:sp>
      <p:sp>
        <p:nvSpPr>
          <p:cNvPr id="15" name="">
            <a:extLst xmlns:a="http://schemas.openxmlformats.org/drawingml/2006/main">
              <a:ext uri="{FF2B5EF4-FFF2-40B4-BE49-F238E27FC236}">
                <a16:creationId xmlns:a16="http://schemas.microsoft.com/office/drawing/2014/main" id="{2A374EDD-3663-49E4-8184-F5939CDCED96}"/>
              </a:ext>
            </a:extLst>
          </p:cNvPr>
          <p:cNvSpPr>
            <a:spLocks xmlns:a="http://schemas.openxmlformats.org/drawingml/2006/main" noGrp="1"/>
          </p:cNvSpPr>
          <p:nvPr/>
        </p:nvSpPr>
        <p:spPr>
          <a:xfrm xmlns:a="http://schemas.openxmlformats.org/drawingml/2006/main">
            <a:off x="8305800" y="2428875"/>
            <a:ext cx="1619250" cy="1257300"/>
          </a:xfrm>
          <a:prstGeom xmlns:a="http://schemas.openxmlformats.org/drawingml/2006/main" prst="roundRect">
            <a:avLst>
              <a:gd name="adj" fmla="val 10606"/>
            </a:avLst>
          </a:prstGeom>
          <a:solidFill xmlns:a="http://schemas.openxmlformats.org/drawingml/2006/main">
            <a:srgbClr val="E4F4EC"/>
          </a:solidFill>
          <a:ln xmlns:a="http://schemas.openxmlformats.org/drawingml/2006/main" w="9525">
            <a:solidFill>
              <a:srgbClr val="C5E5D3"/>
            </a:solidFill>
            <a:prstDash val="solid"/>
          </a:ln>
        </p:spPr>
      </p:sp>
      <p:sp>
        <p:nvSpPr>
          <p:cNvPr id="16" name="">
            <a:extLst xmlns:a="http://schemas.openxmlformats.org/drawingml/2006/main">
              <a:ext uri="{FF2B5EF4-FFF2-40B4-BE49-F238E27FC236}">
                <a16:creationId xmlns:a16="http://schemas.microsoft.com/office/drawing/2014/main" id="{C3567510-0A13-44EB-A532-AC173BAB3E10}"/>
              </a:ext>
            </a:extLst>
          </p:cNvPr>
          <p:cNvSpPr>
            <a:spLocks xmlns:a="http://schemas.openxmlformats.org/drawingml/2006/main" noGrp="1"/>
          </p:cNvSpPr>
          <p:nvPr/>
        </p:nvSpPr>
        <p:spPr>
          <a:xfrm xmlns:a="http://schemas.openxmlformats.org/drawingml/2006/main">
            <a:off x="8448675" y="259080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1">
                <a:solidFill>
                  <a:srgbClr val="23805A"/>
                </a:solidFill>
                <a:latin typeface="Arial"/>
                <a:ea typeface="Arial"/>
                <a:cs typeface="Arial"/>
              </a:defRPr>
            </a:defPPr>
          </a:lstStyle>
          <a:p xmlns:a="http://schemas.openxmlformats.org/drawingml/2006/main">
            <a:pPr algn="ctr">
              <a:lnSpc>
                <a:spcPct val="100000"/>
              </a:lnSpc>
              <a:buNone/>
              <a:defRPr sz="1125" b="1">
                <a:solidFill>
                  <a:srgbClr val="23805A"/>
                </a:solidFill>
                <a:latin typeface="Arial"/>
                <a:ea typeface="Arial"/>
                <a:cs typeface="Arial"/>
              </a:defRPr>
            </a:pPr>
            <a:r>
              <a:rPr sz="1125" b="1">
                <a:solidFill>
                  <a:srgbClr val="23805A"/>
                </a:solidFill>
                <a:latin typeface="Arial"/>
                <a:ea typeface="Arial"/>
                <a:cs typeface="Arial"/>
              </a:rPr>
              <a:t>KẾT QUẢ</a:t>
            </a:r>
          </a:p>
        </p:txBody>
      </p:sp>
      <p:sp>
        <p:nvSpPr>
          <p:cNvPr id="17" name="">
            <a:extLst xmlns:a="http://schemas.openxmlformats.org/drawingml/2006/main">
              <a:ext uri="{FF2B5EF4-FFF2-40B4-BE49-F238E27FC236}">
                <a16:creationId xmlns:a16="http://schemas.microsoft.com/office/drawing/2014/main" id="{381C0003-A400-48B0-BA33-71FABC2EEF76}"/>
              </a:ext>
            </a:extLst>
          </p:cNvPr>
          <p:cNvSpPr>
            <a:spLocks xmlns:a="http://schemas.openxmlformats.org/drawingml/2006/main" noGrp="1"/>
          </p:cNvSpPr>
          <p:nvPr/>
        </p:nvSpPr>
        <p:spPr>
          <a:xfrm xmlns:a="http://schemas.openxmlformats.org/drawingml/2006/main">
            <a:off x="8439150" y="2971800"/>
            <a:ext cx="1352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425" b="1">
                <a:solidFill>
                  <a:srgbClr val="14233B"/>
                </a:solidFill>
                <a:latin typeface="Arial"/>
                <a:ea typeface="Arial"/>
                <a:cs typeface="Arial"/>
              </a:defRPr>
            </a:defPPr>
          </a:lstStyle>
          <a:p xmlns:a="http://schemas.openxmlformats.org/drawingml/2006/main">
            <a:pPr algn="ctr">
              <a:lnSpc>
                <a:spcPct val="108000"/>
              </a:lnSpc>
              <a:buNone/>
              <a:defRPr sz="1425" b="1">
                <a:solidFill>
                  <a:srgbClr val="14233B"/>
                </a:solidFill>
                <a:latin typeface="Arial"/>
                <a:ea typeface="Arial"/>
                <a:cs typeface="Arial"/>
              </a:defRPr>
            </a:pPr>
            <a:r>
              <a:rPr sz="1425" b="1">
                <a:solidFill>
                  <a:srgbClr val="14233B"/>
                </a:solidFill>
                <a:latin typeface="Arial"/>
                <a:ea typeface="Arial"/>
                <a:cs typeface="Arial"/>
              </a:rPr>
              <a:t>Verified theo</a:t>
            </a:r>
          </a:p>
          <a:p xmlns:a="http://schemas.openxmlformats.org/drawingml/2006/main">
            <a:pPr algn="ctr">
              <a:lnSpc>
                <a:spcPct val="108000"/>
              </a:lnSpc>
              <a:buNone/>
              <a:defRPr sz="1425" b="1">
                <a:solidFill>
                  <a:srgbClr val="14233B"/>
                </a:solidFill>
                <a:latin typeface="Arial"/>
                <a:ea typeface="Arial"/>
                <a:cs typeface="Arial"/>
              </a:defRPr>
            </a:pPr>
            <a:r>
              <a:rPr sz="1425" b="1">
                <a:solidFill>
                  <a:srgbClr val="14233B"/>
                </a:solidFill>
                <a:latin typeface="Arial"/>
                <a:ea typeface="Arial"/>
                <a:cs typeface="Arial"/>
              </a:rPr>
              <a:t>đặc tả</a:t>
            </a:r>
          </a:p>
        </p:txBody>
      </p:sp>
      <p:sp>
        <p:nvSpPr>
          <p:cNvPr id="21" name="">
            <a:extLst xmlns:a="http://schemas.openxmlformats.org/drawingml/2006/main">
              <a:ext uri="{FF2B5EF4-FFF2-40B4-BE49-F238E27FC236}">
                <a16:creationId xmlns:a16="http://schemas.microsoft.com/office/drawing/2014/main" id="{A948064C-7E3F-42DD-8589-1A11C01F6719}"/>
              </a:ext>
            </a:extLst>
          </p:cNvPr>
          <p:cNvSpPr>
            <a:spLocks xmlns:a="http://schemas.openxmlformats.org/drawingml/2006/main" noGrp="1"/>
          </p:cNvSpPr>
          <p:nvPr/>
        </p:nvSpPr>
        <p:spPr>
          <a:xfrm xmlns:a="http://schemas.openxmlformats.org/drawingml/2006/main">
            <a:off x="3352800" y="4429125"/>
            <a:ext cx="4000500" cy="819150"/>
          </a:xfrm>
          <a:prstGeom xmlns:a="http://schemas.openxmlformats.org/drawingml/2006/main" prst="roundRect">
            <a:avLst>
              <a:gd name="adj" fmla="val 16279"/>
            </a:avLst>
          </a:prstGeom>
          <a:solidFill xmlns:a="http://schemas.openxmlformats.org/drawingml/2006/main">
            <a:srgbClr val="FFF2D9"/>
          </a:solidFill>
          <a:ln xmlns:a="http://schemas.openxmlformats.org/drawingml/2006/main" w="9525">
            <a:solidFill>
              <a:srgbClr val="EAD29E"/>
            </a:solidFill>
            <a:prstDash val="solid"/>
          </a:ln>
        </p:spPr>
      </p:sp>
      <p:sp>
        <p:nvSpPr>
          <p:cNvPr id="22" name="">
            <a:extLst xmlns:a="http://schemas.openxmlformats.org/drawingml/2006/main">
              <a:ext uri="{FF2B5EF4-FFF2-40B4-BE49-F238E27FC236}">
                <a16:creationId xmlns:a16="http://schemas.microsoft.com/office/drawing/2014/main" id="{945AE6B8-A80E-4151-9417-B75F3B212E05}"/>
              </a:ext>
            </a:extLst>
          </p:cNvPr>
          <p:cNvSpPr>
            <a:spLocks xmlns:a="http://schemas.openxmlformats.org/drawingml/2006/main" noGrp="1"/>
          </p:cNvSpPr>
          <p:nvPr/>
        </p:nvSpPr>
        <p:spPr>
          <a:xfrm xmlns:a="http://schemas.openxmlformats.org/drawingml/2006/main">
            <a:off x="3562350" y="4572000"/>
            <a:ext cx="3581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C47A11"/>
                </a:solidFill>
                <a:latin typeface="Arial"/>
                <a:ea typeface="Arial"/>
                <a:cs typeface="Arial"/>
              </a:defRPr>
            </a:defPPr>
          </a:lstStyle>
          <a:p xmlns:a="http://schemas.openxmlformats.org/drawingml/2006/main">
            <a:pPr algn="ctr">
              <a:lnSpc>
                <a:spcPct val="100000"/>
              </a:lnSpc>
              <a:buNone/>
              <a:defRPr sz="1350" b="1">
                <a:solidFill>
                  <a:srgbClr val="C47A11"/>
                </a:solidFill>
                <a:latin typeface="Arial"/>
                <a:ea typeface="Arial"/>
                <a:cs typeface="Arial"/>
              </a:defRPr>
            </a:pPr>
            <a:r>
              <a:rPr sz="1350" b="1">
                <a:solidFill>
                  <a:srgbClr val="C47A11"/>
                </a:solidFill>
                <a:latin typeface="Arial"/>
                <a:ea typeface="Arial"/>
                <a:cs typeface="Arial"/>
              </a:rPr>
              <a:t>Dafny báo lỗi hoặc chưa chứng minh</a:t>
            </a:r>
          </a:p>
        </p:txBody>
      </p:sp>
      <p:sp>
        <p:nvSpPr>
          <p:cNvPr id="23" name="">
            <a:extLst xmlns:a="http://schemas.openxmlformats.org/drawingml/2006/main">
              <a:ext uri="{FF2B5EF4-FFF2-40B4-BE49-F238E27FC236}">
                <a16:creationId xmlns:a16="http://schemas.microsoft.com/office/drawing/2014/main" id="{B999EC83-97D0-4F80-93BA-9898B89461DC}"/>
              </a:ext>
            </a:extLst>
          </p:cNvPr>
          <p:cNvSpPr>
            <a:spLocks xmlns:a="http://schemas.openxmlformats.org/drawingml/2006/main" noGrp="1"/>
          </p:cNvSpPr>
          <p:nvPr/>
        </p:nvSpPr>
        <p:spPr>
          <a:xfrm xmlns:a="http://schemas.openxmlformats.org/drawingml/2006/main">
            <a:off x="3562350" y="4876800"/>
            <a:ext cx="3581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3333"/>
          </a:bodyPr>
          <a:lstStyle xmlns:a="http://schemas.openxmlformats.org/drawingml/2006/main">
            <a:defPPr algn="ctr">
              <a:defRPr sz="1125" b="0">
                <a:solidFill>
                  <a:srgbClr val="14233B"/>
                </a:solidFill>
                <a:latin typeface="Arial"/>
                <a:ea typeface="Arial"/>
                <a:cs typeface="Arial"/>
              </a:defRPr>
            </a:defPPr>
          </a:lstStyle>
          <a:p xmlns:a="http://schemas.openxmlformats.org/drawingml/2006/main">
            <a:pPr algn="ctr">
              <a:lnSpc>
                <a:spcPct val="100000"/>
              </a:lnSpc>
              <a:buNone/>
              <a:defRPr sz="1125" b="0">
                <a:solidFill>
                  <a:srgbClr val="14233B"/>
                </a:solidFill>
                <a:latin typeface="Arial"/>
                <a:ea typeface="Arial"/>
                <a:cs typeface="Arial"/>
              </a:defRPr>
            </a:pPr>
            <a:r>
              <a:rPr sz="1125" b="0">
                <a:solidFill>
                  <a:srgbClr val="14233B"/>
                </a:solidFill>
                <a:latin typeface="Arial"/>
                <a:ea typeface="Arial"/>
                <a:cs typeface="Arial"/>
              </a:rPr>
              <a:t>Parser phân loại chẩn đoán và gửi phản hồi cho lượt sửa tiếp theo (tối đa K).</a:t>
            </a:r>
          </a:p>
        </p:txBody>
      </p:sp>
      <p:sp>
        <p:nvSpPr>
          <p:cNvPr id="24" name="">
            <a:extLst xmlns:a="http://schemas.openxmlformats.org/drawingml/2006/main">
              <a:ext uri="{FF2B5EF4-FFF2-40B4-BE49-F238E27FC236}">
                <a16:creationId xmlns:a16="http://schemas.microsoft.com/office/drawing/2014/main" id="{A57B0F8A-C0E4-47D9-BFCC-80D97E9E5A32}"/>
              </a:ext>
            </a:extLst>
          </p:cNvPr>
          <p:cNvSpPr>
            <a:spLocks xmlns:a="http://schemas.openxmlformats.org/drawingml/2006/main" noGrp="1"/>
          </p:cNvSpPr>
          <p:nvPr/>
        </p:nvSpPr>
        <p:spPr>
          <a:xfrm xmlns:a="http://schemas.openxmlformats.org/drawingml/2006/main">
            <a:off x="5638800" y="4114800"/>
            <a:ext cx="152400" cy="152400"/>
          </a:xfrm>
          <a:prstGeom xmlns:a="http://schemas.openxmlformats.org/drawingml/2006/main" prst="ellipse">
            <a:avLst/>
          </a:prstGeom>
          <a:solidFill xmlns:a="http://schemas.openxmlformats.org/drawingml/2006/main">
            <a:srgbClr val="B54747"/>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F14941ED-0687-4237-969E-F183A3687114}"/>
              </a:ext>
            </a:extLst>
          </p:cNvPr>
          <p:cNvSpPr>
            <a:spLocks xmlns:a="http://schemas.openxmlformats.org/drawingml/2006/main" noGrp="1"/>
          </p:cNvSpPr>
          <p:nvPr/>
        </p:nvSpPr>
        <p:spPr>
          <a:xfrm xmlns:a="http://schemas.openxmlformats.org/drawingml/2006/main">
            <a:off x="590550" y="575310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52647A"/>
                </a:solidFill>
                <a:latin typeface="Arial"/>
                <a:ea typeface="Arial"/>
                <a:cs typeface="Arial"/>
              </a:defRPr>
            </a:defPPr>
          </a:lstStyle>
          <a:p xmlns:a="http://schemas.openxmlformats.org/drawingml/2006/main">
            <a:pPr algn="l">
              <a:lnSpc>
                <a:spcPct val="100000"/>
              </a:lnSpc>
              <a:buNone/>
              <a:defRPr sz="1350" b="1">
                <a:solidFill>
                  <a:srgbClr val="52647A"/>
                </a:solidFill>
                <a:latin typeface="Arial"/>
                <a:ea typeface="Arial"/>
                <a:cs typeface="Arial"/>
              </a:defRPr>
            </a:pPr>
            <a:r>
              <a:rPr sz="1350" b="1">
                <a:solidFill>
                  <a:srgbClr val="52647A"/>
                </a:solidFill>
                <a:latin typeface="Arial"/>
                <a:ea typeface="Arial"/>
                <a:cs typeface="Arial"/>
              </a:rPr>
              <a:t>Mã được báo Verified chỉ khi Dafny xác nhận đặc tả hiện tại.</a:t>
            </a:r>
          </a:p>
        </p:txBody>
      </p:sp>
    </p:spTree>
    <p:extLst>
      <p:ext uri="{BB962C8B-B14F-4D97-AF65-F5344CB8AC3E}">
        <p14:creationId xmlns:p14="http://schemas.microsoft.com/office/powerpoint/2010/main" val="572001444"/>
      </p:ext>
    </p:extLst>
  </p:cSld>
</p:sld>
</file>

<file path=ppt/slides/slide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7799D0E2-3A9D-4571-A428-A27D5F112B7D}"/>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E2B06DC-E721-42EA-97A1-72767468918A}"/>
              </a:ext>
            </a:extLst>
          </p:cNvPr>
          <p:cNvSpPr>
            <a:spLocks xmlns:a="http://schemas.openxmlformats.org/drawingml/2006/main" noGrp="1"/>
          </p:cNvSpPr>
          <p:nvPr/>
        </p:nvSpPr>
        <p:spPr>
          <a:xfrm xmlns:a="http://schemas.openxmlformats.org/drawingml/2006/main">
            <a:off x="590550" y="3238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2563EB"/>
                </a:solidFill>
                <a:latin typeface="Arial"/>
                <a:ea typeface="Arial"/>
                <a:cs typeface="Arial"/>
              </a:defRPr>
            </a:defPPr>
          </a:lstStyle>
          <a:p xmlns:a="http://schemas.openxmlformats.org/drawingml/2006/main">
            <a:pPr algn="l">
              <a:lnSpc>
                <a:spcPct val="100000"/>
              </a:lnSpc>
              <a:buNone/>
              <a:defRPr sz="975" b="1">
                <a:solidFill>
                  <a:srgbClr val="2563EB"/>
                </a:solidFill>
                <a:latin typeface="Arial"/>
                <a:ea typeface="Arial"/>
                <a:cs typeface="Arial"/>
              </a:defRPr>
            </a:pPr>
            <a:r>
              <a:rPr sz="975" b="1">
                <a:solidFill>
                  <a:srgbClr val="2563EB"/>
                </a:solidFill>
                <a:latin typeface="Arial"/>
                <a:ea typeface="Arial"/>
                <a:cs typeface="Arial"/>
              </a:rPr>
              <a:t>NCKH SINH VIÊN 2026</a:t>
            </a:r>
          </a:p>
        </p:txBody>
      </p:sp>
      <p:sp>
        <p:nvSpPr>
          <p:cNvPr id="3" name="">
            <a:extLst xmlns:a="http://schemas.openxmlformats.org/drawingml/2006/main">
              <a:ext uri="{FF2B5EF4-FFF2-40B4-BE49-F238E27FC236}">
                <a16:creationId xmlns:a16="http://schemas.microsoft.com/office/drawing/2014/main" id="{1EF02BAF-7DA7-4D3A-9857-5F3BB8FD4C83}"/>
              </a:ext>
            </a:extLst>
          </p:cNvPr>
          <p:cNvSpPr>
            <a:spLocks xmlns:a="http://schemas.openxmlformats.org/drawingml/2006/main" noGrp="1"/>
          </p:cNvSpPr>
          <p:nvPr/>
        </p:nvSpPr>
        <p:spPr>
          <a:xfrm xmlns:a="http://schemas.openxmlformats.org/drawingml/2006/main">
            <a:off x="590550" y="666750"/>
            <a:ext cx="11010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550" b="1">
                <a:solidFill>
                  <a:srgbClr val="14233B"/>
                </a:solidFill>
                <a:latin typeface="Arial"/>
                <a:ea typeface="Arial"/>
                <a:cs typeface="Arial"/>
              </a:defRPr>
            </a:defPPr>
          </a:lstStyle>
          <a:p xmlns:a="http://schemas.openxmlformats.org/drawingml/2006/main">
            <a:pPr algn="l">
              <a:lnSpc>
                <a:spcPct val="100000"/>
              </a:lnSpc>
              <a:buNone/>
              <a:defRPr sz="2550" b="1">
                <a:solidFill>
                  <a:srgbClr val="14233B"/>
                </a:solidFill>
                <a:latin typeface="Arial"/>
                <a:ea typeface="Arial"/>
                <a:cs typeface="Arial"/>
              </a:defRPr>
            </a:pPr>
            <a:r>
              <a:rPr sz="2550" b="1">
                <a:solidFill>
                  <a:srgbClr val="14233B"/>
                </a:solidFill>
                <a:latin typeface="Arial"/>
                <a:ea typeface="Arial"/>
                <a:cs typeface="Arial"/>
              </a:rPr>
              <a:t>Prototype và kết quả chạy thử</a:t>
            </a:r>
          </a:p>
        </p:txBody>
      </p:sp>
      <p:sp>
        <p:nvSpPr>
          <p:cNvPr id="4" name="">
            <a:extLst xmlns:a="http://schemas.openxmlformats.org/drawingml/2006/main">
              <a:ext uri="{FF2B5EF4-FFF2-40B4-BE49-F238E27FC236}">
                <a16:creationId xmlns:a16="http://schemas.microsoft.com/office/drawing/2014/main" id="{2590353F-D10A-49FE-A495-801E50B0405E}"/>
              </a:ext>
            </a:extLst>
          </p:cNvPr>
          <p:cNvSpPr>
            <a:spLocks xmlns:a="http://schemas.openxmlformats.org/drawingml/2006/main" noGrp="1"/>
          </p:cNvSpPr>
          <p:nvPr/>
        </p:nvSpPr>
        <p:spPr>
          <a:xfrm xmlns:a="http://schemas.openxmlformats.org/drawingml/2006/main">
            <a:off x="590550" y="1304925"/>
            <a:ext cx="110109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5" name="">
            <a:extLst xmlns:a="http://schemas.openxmlformats.org/drawingml/2006/main">
              <a:ext uri="{FF2B5EF4-FFF2-40B4-BE49-F238E27FC236}">
                <a16:creationId xmlns:a16="http://schemas.microsoft.com/office/drawing/2014/main" id="{6657D12C-E768-400A-A7AB-D0D3626278E4}"/>
              </a:ext>
            </a:extLst>
          </p:cNvPr>
          <p:cNvSpPr>
            <a:spLocks xmlns:a="http://schemas.openxmlformats.org/drawingml/2006/main" noGrp="1"/>
          </p:cNvSpPr>
          <p:nvPr/>
        </p:nvSpPr>
        <p:spPr>
          <a:xfrm xmlns:a="http://schemas.openxmlformats.org/drawingml/2006/main">
            <a:off x="10572750" y="6438900"/>
            <a:ext cx="1028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52647A"/>
                </a:solidFill>
                <a:latin typeface="Arial"/>
                <a:ea typeface="Arial"/>
                <a:cs typeface="Arial"/>
              </a:defRPr>
            </a:defPPr>
          </a:lstStyle>
          <a:p xmlns:a="http://schemas.openxmlformats.org/drawingml/2006/main">
            <a:pPr algn="r">
              <a:lnSpc>
                <a:spcPct val="100000"/>
              </a:lnSpc>
              <a:buNone/>
              <a:defRPr sz="975" b="1">
                <a:solidFill>
                  <a:srgbClr val="52647A"/>
                </a:solidFill>
                <a:latin typeface="Arial"/>
                <a:ea typeface="Arial"/>
                <a:cs typeface="Arial"/>
              </a:defRPr>
            </a:pPr>
            <a:r>
              <a:rPr sz="975" b="1">
                <a:solidFill>
                  <a:srgbClr val="52647A"/>
                </a:solidFill>
                <a:latin typeface="Arial"/>
                <a:ea typeface="Arial"/>
                <a:cs typeface="Arial"/>
              </a:rPr>
              <a:t>05  /  07</a:t>
            </a:r>
          </a:p>
        </p:txBody>
      </p:sp>
      <p:sp>
        <p:nvSpPr>
          <p:cNvPr id="6" name="">
            <a:extLst xmlns:a="http://schemas.openxmlformats.org/drawingml/2006/main">
              <a:ext uri="{FF2B5EF4-FFF2-40B4-BE49-F238E27FC236}">
                <a16:creationId xmlns:a16="http://schemas.microsoft.com/office/drawing/2014/main" id="{19797EC8-A1C9-40BC-A3CA-4C2E2C3EC3AC}"/>
              </a:ext>
            </a:extLst>
          </p:cNvPr>
          <p:cNvSpPr>
            <a:spLocks xmlns:a="http://schemas.openxmlformats.org/drawingml/2006/main" noGrp="1"/>
          </p:cNvSpPr>
          <p:nvPr/>
        </p:nvSpPr>
        <p:spPr>
          <a:xfrm xmlns:a="http://schemas.openxmlformats.org/drawingml/2006/main">
            <a:off x="590550" y="1495425"/>
            <a:ext cx="10839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52647A"/>
                </a:solidFill>
                <a:latin typeface="Arial"/>
                <a:ea typeface="Arial"/>
                <a:cs typeface="Arial"/>
              </a:defRPr>
            </a:defPPr>
          </a:lstStyle>
          <a:p xmlns:a="http://schemas.openxmlformats.org/drawingml/2006/main">
            <a:pPr algn="l">
              <a:lnSpc>
                <a:spcPct val="100000"/>
              </a:lnSpc>
              <a:buNone/>
              <a:defRPr sz="1200" b="1">
                <a:solidFill>
                  <a:srgbClr val="52647A"/>
                </a:solidFill>
                <a:latin typeface="Arial"/>
                <a:ea typeface="Arial"/>
                <a:cs typeface="Arial"/>
              </a:defRPr>
            </a:pPr>
            <a:r>
              <a:rPr sz="1200" b="1">
                <a:solidFill>
                  <a:srgbClr val="52647A"/>
                </a:solidFill>
                <a:latin typeface="Arial"/>
                <a:ea typeface="Arial"/>
                <a:cs typeface="Arial"/>
              </a:rPr>
              <a:t>Qwen2.5-Coder-7B  ·  chạy cục bộ  ·  tập cốt lõi 30 bài  ·  K tối đa = 3</a:t>
            </a:r>
          </a:p>
        </p:txBody>
      </p:sp>
      <p:sp>
        <p:nvSpPr>
          <p:cNvPr id="7" name="">
            <a:extLst xmlns:a="http://schemas.openxmlformats.org/drawingml/2006/main">
              <a:ext uri="{FF2B5EF4-FFF2-40B4-BE49-F238E27FC236}">
                <a16:creationId xmlns:a16="http://schemas.microsoft.com/office/drawing/2014/main" id="{D4F22EAF-3F08-48DA-9D5B-10F66F4014F4}"/>
              </a:ext>
            </a:extLst>
          </p:cNvPr>
          <p:cNvSpPr>
            <a:spLocks xmlns:a="http://schemas.openxmlformats.org/drawingml/2006/main" noGrp="1"/>
          </p:cNvSpPr>
          <p:nvPr/>
        </p:nvSpPr>
        <p:spPr>
          <a:xfrm xmlns:a="http://schemas.openxmlformats.org/drawingml/2006/main">
            <a:off x="590550" y="2038350"/>
            <a:ext cx="2333625" cy="1238250"/>
          </a:xfrm>
          <a:prstGeom xmlns:a="http://schemas.openxmlformats.org/drawingml/2006/main" prst="roundRect">
            <a:avLst>
              <a:gd name="adj" fmla="val 10769"/>
            </a:avLst>
          </a:prstGeom>
          <a:solidFill xmlns:a="http://schemas.openxmlformats.org/drawingml/2006/main">
            <a:srgbClr val="E4F4E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1EE11AD-D7EF-4A72-BE34-A48E61945C50}"/>
              </a:ext>
            </a:extLst>
          </p:cNvPr>
          <p:cNvSpPr>
            <a:spLocks xmlns:a="http://schemas.openxmlformats.org/drawingml/2006/main" noGrp="1"/>
          </p:cNvSpPr>
          <p:nvPr/>
        </p:nvSpPr>
        <p:spPr>
          <a:xfrm xmlns:a="http://schemas.openxmlformats.org/drawingml/2006/main">
            <a:off x="742950" y="2152650"/>
            <a:ext cx="2028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250" b="1">
                <a:solidFill>
                  <a:srgbClr val="23805A"/>
                </a:solidFill>
                <a:latin typeface="Arial"/>
                <a:ea typeface="Arial"/>
                <a:cs typeface="Arial"/>
              </a:defRPr>
            </a:defPPr>
          </a:lstStyle>
          <a:p xmlns:a="http://schemas.openxmlformats.org/drawingml/2006/main">
            <a:pPr algn="ctr">
              <a:lnSpc>
                <a:spcPct val="100000"/>
              </a:lnSpc>
              <a:buNone/>
              <a:defRPr sz="2250" b="1">
                <a:solidFill>
                  <a:srgbClr val="23805A"/>
                </a:solidFill>
                <a:latin typeface="Arial"/>
                <a:ea typeface="Arial"/>
                <a:cs typeface="Arial"/>
              </a:defRPr>
            </a:pPr>
            <a:r>
              <a:rPr sz="2250" b="1">
                <a:solidFill>
                  <a:srgbClr val="23805A"/>
                </a:solidFill>
                <a:latin typeface="Arial"/>
                <a:ea typeface="Arial"/>
                <a:cs typeface="Arial"/>
              </a:rPr>
              <a:t>29 / 30</a:t>
            </a:r>
          </a:p>
        </p:txBody>
      </p:sp>
      <p:sp>
        <p:nvSpPr>
          <p:cNvPr id="9" name="">
            <a:extLst xmlns:a="http://schemas.openxmlformats.org/drawingml/2006/main">
              <a:ext uri="{FF2B5EF4-FFF2-40B4-BE49-F238E27FC236}">
                <a16:creationId xmlns:a16="http://schemas.microsoft.com/office/drawing/2014/main" id="{865BA307-418D-4785-B679-EFB4E2FA5115}"/>
              </a:ext>
            </a:extLst>
          </p:cNvPr>
          <p:cNvSpPr>
            <a:spLocks xmlns:a="http://schemas.openxmlformats.org/drawingml/2006/main" noGrp="1"/>
          </p:cNvSpPr>
          <p:nvPr/>
        </p:nvSpPr>
        <p:spPr>
          <a:xfrm xmlns:a="http://schemas.openxmlformats.org/drawingml/2006/main">
            <a:off x="704850" y="2571750"/>
            <a:ext cx="21050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1">
                <a:solidFill>
                  <a:srgbClr val="14233B"/>
                </a:solidFill>
                <a:latin typeface="Arial"/>
                <a:ea typeface="Arial"/>
                <a:cs typeface="Arial"/>
              </a:defRPr>
            </a:defPPr>
          </a:lstStyle>
          <a:p xmlns:a="http://schemas.openxmlformats.org/drawingml/2006/main">
            <a:pPr algn="ctr">
              <a:lnSpc>
                <a:spcPct val="100000"/>
              </a:lnSpc>
              <a:buNone/>
              <a:defRPr sz="1200" b="1">
                <a:solidFill>
                  <a:srgbClr val="14233B"/>
                </a:solidFill>
                <a:latin typeface="Arial"/>
                <a:ea typeface="Arial"/>
                <a:cs typeface="Arial"/>
              </a:defRPr>
            </a:pPr>
            <a:r>
              <a:rPr sz="1200" b="1">
                <a:solidFill>
                  <a:srgbClr val="14233B"/>
                </a:solidFill>
                <a:latin typeface="Arial"/>
                <a:ea typeface="Arial"/>
                <a:cs typeface="Arial"/>
              </a:rPr>
              <a:t>được xác minh</a:t>
            </a:r>
          </a:p>
        </p:txBody>
      </p:sp>
      <p:sp>
        <p:nvSpPr>
          <p:cNvPr id="10" name="">
            <a:extLst xmlns:a="http://schemas.openxmlformats.org/drawingml/2006/main">
              <a:ext uri="{FF2B5EF4-FFF2-40B4-BE49-F238E27FC236}">
                <a16:creationId xmlns:a16="http://schemas.microsoft.com/office/drawing/2014/main" id="{AFBCBD34-3DC7-42DB-AEE2-1A0BDA95BF91}"/>
              </a:ext>
            </a:extLst>
          </p:cNvPr>
          <p:cNvSpPr>
            <a:spLocks xmlns:a="http://schemas.openxmlformats.org/drawingml/2006/main" noGrp="1"/>
          </p:cNvSpPr>
          <p:nvPr/>
        </p:nvSpPr>
        <p:spPr>
          <a:xfrm xmlns:a="http://schemas.openxmlformats.org/drawingml/2006/main">
            <a:off x="685800" y="2876550"/>
            <a:ext cx="2143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0">
                <a:solidFill>
                  <a:srgbClr val="52647A"/>
                </a:solidFill>
                <a:latin typeface="Arial"/>
                <a:ea typeface="Arial"/>
                <a:cs typeface="Arial"/>
              </a:defRPr>
            </a:defPPr>
          </a:lstStyle>
          <a:p xmlns:a="http://schemas.openxmlformats.org/drawingml/2006/main">
            <a:pPr algn="ctr">
              <a:lnSpc>
                <a:spcPct val="100000"/>
              </a:lnSpc>
              <a:buNone/>
              <a:defRPr sz="1050" b="0">
                <a:solidFill>
                  <a:srgbClr val="52647A"/>
                </a:solidFill>
                <a:latin typeface="Arial"/>
                <a:ea typeface="Arial"/>
                <a:cs typeface="Arial"/>
              </a:defRPr>
            </a:pPr>
            <a:r>
              <a:rPr sz="1050" b="0">
                <a:solidFill>
                  <a:srgbClr val="52647A"/>
                </a:solidFill>
                <a:latin typeface="Arial"/>
                <a:ea typeface="Arial"/>
                <a:cs typeface="Arial"/>
              </a:rPr>
              <a:t>Pass@K = 96,7%</a:t>
            </a:r>
          </a:p>
        </p:txBody>
      </p:sp>
      <p:sp>
        <p:nvSpPr>
          <p:cNvPr id="11" name="">
            <a:extLst xmlns:a="http://schemas.openxmlformats.org/drawingml/2006/main">
              <a:ext uri="{FF2B5EF4-FFF2-40B4-BE49-F238E27FC236}">
                <a16:creationId xmlns:a16="http://schemas.microsoft.com/office/drawing/2014/main" id="{67D0B932-7EBB-4C49-B83D-81018F160672}"/>
              </a:ext>
            </a:extLst>
          </p:cNvPr>
          <p:cNvSpPr>
            <a:spLocks xmlns:a="http://schemas.openxmlformats.org/drawingml/2006/main" noGrp="1"/>
          </p:cNvSpPr>
          <p:nvPr/>
        </p:nvSpPr>
        <p:spPr>
          <a:xfrm xmlns:a="http://schemas.openxmlformats.org/drawingml/2006/main">
            <a:off x="3095625" y="2038350"/>
            <a:ext cx="2333625" cy="1238250"/>
          </a:xfrm>
          <a:prstGeom xmlns:a="http://schemas.openxmlformats.org/drawingml/2006/main" prst="roundRect">
            <a:avLst>
              <a:gd name="adj" fmla="val 10769"/>
            </a:avLst>
          </a:prstGeom>
          <a:solidFill xmlns:a="http://schemas.openxmlformats.org/drawingml/2006/main">
            <a:srgbClr val="E8F0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7FF5552-3306-48B4-8869-244F4DE1E6D4}"/>
              </a:ext>
            </a:extLst>
          </p:cNvPr>
          <p:cNvSpPr>
            <a:spLocks xmlns:a="http://schemas.openxmlformats.org/drawingml/2006/main" noGrp="1"/>
          </p:cNvSpPr>
          <p:nvPr/>
        </p:nvSpPr>
        <p:spPr>
          <a:xfrm xmlns:a="http://schemas.openxmlformats.org/drawingml/2006/main">
            <a:off x="3248025" y="2152650"/>
            <a:ext cx="2028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250" b="1">
                <a:solidFill>
                  <a:srgbClr val="2563EB"/>
                </a:solidFill>
                <a:latin typeface="Arial"/>
                <a:ea typeface="Arial"/>
                <a:cs typeface="Arial"/>
              </a:defRPr>
            </a:defPPr>
          </a:lstStyle>
          <a:p xmlns:a="http://schemas.openxmlformats.org/drawingml/2006/main">
            <a:pPr algn="ctr">
              <a:lnSpc>
                <a:spcPct val="100000"/>
              </a:lnSpc>
              <a:buNone/>
              <a:defRPr sz="2250" b="1">
                <a:solidFill>
                  <a:srgbClr val="2563EB"/>
                </a:solidFill>
                <a:latin typeface="Arial"/>
                <a:ea typeface="Arial"/>
                <a:cs typeface="Arial"/>
              </a:defRPr>
            </a:pPr>
            <a:r>
              <a:rPr sz="2250" b="1">
                <a:solidFill>
                  <a:srgbClr val="2563EB"/>
                </a:solidFill>
                <a:latin typeface="Arial"/>
                <a:ea typeface="Arial"/>
                <a:cs typeface="Arial"/>
              </a:rPr>
              <a:t>28 / 30</a:t>
            </a:r>
          </a:p>
        </p:txBody>
      </p:sp>
      <p:sp>
        <p:nvSpPr>
          <p:cNvPr id="13" name="">
            <a:extLst xmlns:a="http://schemas.openxmlformats.org/drawingml/2006/main">
              <a:ext uri="{FF2B5EF4-FFF2-40B4-BE49-F238E27FC236}">
                <a16:creationId xmlns:a16="http://schemas.microsoft.com/office/drawing/2014/main" id="{E5531078-17CD-48D1-B0EF-287851EB1884}"/>
              </a:ext>
            </a:extLst>
          </p:cNvPr>
          <p:cNvSpPr>
            <a:spLocks xmlns:a="http://schemas.openxmlformats.org/drawingml/2006/main" noGrp="1"/>
          </p:cNvSpPr>
          <p:nvPr/>
        </p:nvSpPr>
        <p:spPr>
          <a:xfrm xmlns:a="http://schemas.openxmlformats.org/drawingml/2006/main">
            <a:off x="3209925" y="2571750"/>
            <a:ext cx="21050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1">
                <a:solidFill>
                  <a:srgbClr val="14233B"/>
                </a:solidFill>
                <a:latin typeface="Arial"/>
                <a:ea typeface="Arial"/>
                <a:cs typeface="Arial"/>
              </a:defRPr>
            </a:defPPr>
          </a:lstStyle>
          <a:p xmlns:a="http://schemas.openxmlformats.org/drawingml/2006/main">
            <a:pPr algn="ctr">
              <a:lnSpc>
                <a:spcPct val="100000"/>
              </a:lnSpc>
              <a:buNone/>
              <a:defRPr sz="1200" b="1">
                <a:solidFill>
                  <a:srgbClr val="14233B"/>
                </a:solidFill>
                <a:latin typeface="Arial"/>
                <a:ea typeface="Arial"/>
                <a:cs typeface="Arial"/>
              </a:defRPr>
            </a:pPr>
            <a:r>
              <a:rPr sz="1200" b="1">
                <a:solidFill>
                  <a:srgbClr val="14233B"/>
                </a:solidFill>
                <a:latin typeface="Arial"/>
                <a:ea typeface="Arial"/>
                <a:cs typeface="Arial"/>
              </a:rPr>
              <a:t>đạt ở lượt đầu</a:t>
            </a:r>
          </a:p>
        </p:txBody>
      </p:sp>
      <p:sp>
        <p:nvSpPr>
          <p:cNvPr id="14" name="">
            <a:extLst xmlns:a="http://schemas.openxmlformats.org/drawingml/2006/main">
              <a:ext uri="{FF2B5EF4-FFF2-40B4-BE49-F238E27FC236}">
                <a16:creationId xmlns:a16="http://schemas.microsoft.com/office/drawing/2014/main" id="{F016FC9E-DF30-455B-BEC2-679BE0443D86}"/>
              </a:ext>
            </a:extLst>
          </p:cNvPr>
          <p:cNvSpPr>
            <a:spLocks xmlns:a="http://schemas.openxmlformats.org/drawingml/2006/main" noGrp="1"/>
          </p:cNvSpPr>
          <p:nvPr/>
        </p:nvSpPr>
        <p:spPr>
          <a:xfrm xmlns:a="http://schemas.openxmlformats.org/drawingml/2006/main">
            <a:off x="3190875" y="2876550"/>
            <a:ext cx="2143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0">
                <a:solidFill>
                  <a:srgbClr val="52647A"/>
                </a:solidFill>
                <a:latin typeface="Arial"/>
                <a:ea typeface="Arial"/>
                <a:cs typeface="Arial"/>
              </a:defRPr>
            </a:defPPr>
          </a:lstStyle>
          <a:p xmlns:a="http://schemas.openxmlformats.org/drawingml/2006/main">
            <a:pPr algn="ctr">
              <a:lnSpc>
                <a:spcPct val="100000"/>
              </a:lnSpc>
              <a:buNone/>
              <a:defRPr sz="1050" b="0">
                <a:solidFill>
                  <a:srgbClr val="52647A"/>
                </a:solidFill>
                <a:latin typeface="Arial"/>
                <a:ea typeface="Arial"/>
                <a:cs typeface="Arial"/>
              </a:defRPr>
            </a:pPr>
            <a:r>
              <a:rPr sz="1050" b="0">
                <a:solidFill>
                  <a:srgbClr val="52647A"/>
                </a:solidFill>
                <a:latin typeface="Arial"/>
                <a:ea typeface="Arial"/>
                <a:cs typeface="Arial"/>
              </a:rPr>
              <a:t>Pass@1 = 93,3%</a:t>
            </a:r>
          </a:p>
        </p:txBody>
      </p:sp>
      <p:sp>
        <p:nvSpPr>
          <p:cNvPr id="15" name="">
            <a:extLst xmlns:a="http://schemas.openxmlformats.org/drawingml/2006/main">
              <a:ext uri="{FF2B5EF4-FFF2-40B4-BE49-F238E27FC236}">
                <a16:creationId xmlns:a16="http://schemas.microsoft.com/office/drawing/2014/main" id="{3B8ACE80-2299-4D28-9776-E334591D2D2C}"/>
              </a:ext>
            </a:extLst>
          </p:cNvPr>
          <p:cNvSpPr>
            <a:spLocks xmlns:a="http://schemas.openxmlformats.org/drawingml/2006/main" noGrp="1"/>
          </p:cNvSpPr>
          <p:nvPr/>
        </p:nvSpPr>
        <p:spPr>
          <a:xfrm xmlns:a="http://schemas.openxmlformats.org/drawingml/2006/main">
            <a:off x="5600700" y="2038350"/>
            <a:ext cx="2333625" cy="1238250"/>
          </a:xfrm>
          <a:prstGeom xmlns:a="http://schemas.openxmlformats.org/drawingml/2006/main" prst="roundRect">
            <a:avLst>
              <a:gd name="adj" fmla="val 10769"/>
            </a:avLst>
          </a:prstGeom>
          <a:solidFill xmlns:a="http://schemas.openxmlformats.org/drawingml/2006/main">
            <a:srgbClr val="E3F5F3"/>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2533629-D011-46DC-91D3-8ADADEE8F7A4}"/>
              </a:ext>
            </a:extLst>
          </p:cNvPr>
          <p:cNvSpPr>
            <a:spLocks xmlns:a="http://schemas.openxmlformats.org/drawingml/2006/main" noGrp="1"/>
          </p:cNvSpPr>
          <p:nvPr/>
        </p:nvSpPr>
        <p:spPr>
          <a:xfrm xmlns:a="http://schemas.openxmlformats.org/drawingml/2006/main">
            <a:off x="5753100" y="2152650"/>
            <a:ext cx="2028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250" b="1">
                <a:solidFill>
                  <a:srgbClr val="0F8B8D"/>
                </a:solidFill>
                <a:latin typeface="Arial"/>
                <a:ea typeface="Arial"/>
                <a:cs typeface="Arial"/>
              </a:defRPr>
            </a:defPPr>
          </a:lstStyle>
          <a:p xmlns:a="http://schemas.openxmlformats.org/drawingml/2006/main">
            <a:pPr algn="ctr">
              <a:lnSpc>
                <a:spcPct val="100000"/>
              </a:lnSpc>
              <a:buNone/>
              <a:defRPr sz="2250" b="1">
                <a:solidFill>
                  <a:srgbClr val="0F8B8D"/>
                </a:solidFill>
                <a:latin typeface="Arial"/>
                <a:ea typeface="Arial"/>
                <a:cs typeface="Arial"/>
              </a:defRPr>
            </a:pPr>
            <a:r>
              <a:rPr sz="2250" b="1">
                <a:solidFill>
                  <a:srgbClr val="0F8B8D"/>
                </a:solidFill>
                <a:latin typeface="Arial"/>
                <a:ea typeface="Arial"/>
                <a:cs typeface="Arial"/>
              </a:rPr>
              <a:t>1 bài</a:t>
            </a:r>
          </a:p>
        </p:txBody>
      </p:sp>
      <p:sp>
        <p:nvSpPr>
          <p:cNvPr id="17" name="">
            <a:extLst xmlns:a="http://schemas.openxmlformats.org/drawingml/2006/main">
              <a:ext uri="{FF2B5EF4-FFF2-40B4-BE49-F238E27FC236}">
                <a16:creationId xmlns:a16="http://schemas.microsoft.com/office/drawing/2014/main" id="{4F06E837-8A7E-45AA-8CDC-AC0F4F3223E5}"/>
              </a:ext>
            </a:extLst>
          </p:cNvPr>
          <p:cNvSpPr>
            <a:spLocks xmlns:a="http://schemas.openxmlformats.org/drawingml/2006/main" noGrp="1"/>
          </p:cNvSpPr>
          <p:nvPr/>
        </p:nvSpPr>
        <p:spPr>
          <a:xfrm xmlns:a="http://schemas.openxmlformats.org/drawingml/2006/main">
            <a:off x="5715000" y="2571750"/>
            <a:ext cx="21050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1">
                <a:solidFill>
                  <a:srgbClr val="14233B"/>
                </a:solidFill>
                <a:latin typeface="Arial"/>
                <a:ea typeface="Arial"/>
                <a:cs typeface="Arial"/>
              </a:defRPr>
            </a:defPPr>
          </a:lstStyle>
          <a:p xmlns:a="http://schemas.openxmlformats.org/drawingml/2006/main">
            <a:pPr algn="ctr">
              <a:lnSpc>
                <a:spcPct val="100000"/>
              </a:lnSpc>
              <a:buNone/>
              <a:defRPr sz="1200" b="1">
                <a:solidFill>
                  <a:srgbClr val="14233B"/>
                </a:solidFill>
                <a:latin typeface="Arial"/>
                <a:ea typeface="Arial"/>
                <a:cs typeface="Arial"/>
              </a:defRPr>
            </a:pPr>
            <a:r>
              <a:rPr sz="1200" b="1">
                <a:solidFill>
                  <a:srgbClr val="14233B"/>
                </a:solidFill>
                <a:latin typeface="Arial"/>
                <a:ea typeface="Arial"/>
                <a:cs typeface="Arial"/>
              </a:rPr>
              <a:t>đạt sau sửa</a:t>
            </a:r>
          </a:p>
        </p:txBody>
      </p:sp>
      <p:sp>
        <p:nvSpPr>
          <p:cNvPr id="18" name="">
            <a:extLst xmlns:a="http://schemas.openxmlformats.org/drawingml/2006/main">
              <a:ext uri="{FF2B5EF4-FFF2-40B4-BE49-F238E27FC236}">
                <a16:creationId xmlns:a16="http://schemas.microsoft.com/office/drawing/2014/main" id="{C460FEAE-B3D2-434B-9613-5B642DE750BF}"/>
              </a:ext>
            </a:extLst>
          </p:cNvPr>
          <p:cNvSpPr>
            <a:spLocks xmlns:a="http://schemas.openxmlformats.org/drawingml/2006/main" noGrp="1"/>
          </p:cNvSpPr>
          <p:nvPr/>
        </p:nvSpPr>
        <p:spPr>
          <a:xfrm xmlns:a="http://schemas.openxmlformats.org/drawingml/2006/main">
            <a:off x="5695950" y="2876550"/>
            <a:ext cx="2143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0">
                <a:solidFill>
                  <a:srgbClr val="52647A"/>
                </a:solidFill>
                <a:latin typeface="Arial"/>
                <a:ea typeface="Arial"/>
                <a:cs typeface="Arial"/>
              </a:defRPr>
            </a:defPPr>
          </a:lstStyle>
          <a:p xmlns:a="http://schemas.openxmlformats.org/drawingml/2006/main">
            <a:pPr algn="ctr">
              <a:lnSpc>
                <a:spcPct val="100000"/>
              </a:lnSpc>
              <a:buNone/>
              <a:defRPr sz="1050" b="0">
                <a:solidFill>
                  <a:srgbClr val="52647A"/>
                </a:solidFill>
                <a:latin typeface="Arial"/>
                <a:ea typeface="Arial"/>
                <a:cs typeface="Arial"/>
              </a:defRPr>
            </a:pPr>
            <a:r>
              <a:rPr sz="1050" b="0">
                <a:solidFill>
                  <a:srgbClr val="52647A"/>
                </a:solidFill>
                <a:latin typeface="Arial"/>
                <a:ea typeface="Arial"/>
                <a:cs typeface="Arial"/>
              </a:rPr>
              <a:t>031-is-prime · lượt 2</a:t>
            </a:r>
          </a:p>
        </p:txBody>
      </p:sp>
      <p:sp>
        <p:nvSpPr>
          <p:cNvPr id="19" name="">
            <a:extLst xmlns:a="http://schemas.openxmlformats.org/drawingml/2006/main">
              <a:ext uri="{FF2B5EF4-FFF2-40B4-BE49-F238E27FC236}">
                <a16:creationId xmlns:a16="http://schemas.microsoft.com/office/drawing/2014/main" id="{871582F6-297E-48D1-9052-49951C7CA348}"/>
              </a:ext>
            </a:extLst>
          </p:cNvPr>
          <p:cNvSpPr>
            <a:spLocks xmlns:a="http://schemas.openxmlformats.org/drawingml/2006/main" noGrp="1"/>
          </p:cNvSpPr>
          <p:nvPr/>
        </p:nvSpPr>
        <p:spPr>
          <a:xfrm xmlns:a="http://schemas.openxmlformats.org/drawingml/2006/main">
            <a:off x="8105775" y="2038350"/>
            <a:ext cx="2333625" cy="1238250"/>
          </a:xfrm>
          <a:prstGeom xmlns:a="http://schemas.openxmlformats.org/drawingml/2006/main" prst="roundRect">
            <a:avLst>
              <a:gd name="adj" fmla="val 10769"/>
            </a:avLst>
          </a:prstGeom>
          <a:solidFill xmlns:a="http://schemas.openxmlformats.org/drawingml/2006/main">
            <a:srgbClr val="FFF2D9"/>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12C4139-55FC-4BA6-8AD9-00E8AAA464F6}"/>
              </a:ext>
            </a:extLst>
          </p:cNvPr>
          <p:cNvSpPr>
            <a:spLocks xmlns:a="http://schemas.openxmlformats.org/drawingml/2006/main" noGrp="1"/>
          </p:cNvSpPr>
          <p:nvPr/>
        </p:nvSpPr>
        <p:spPr>
          <a:xfrm xmlns:a="http://schemas.openxmlformats.org/drawingml/2006/main">
            <a:off x="8258175" y="2152650"/>
            <a:ext cx="2028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250" b="1">
                <a:solidFill>
                  <a:srgbClr val="C47A11"/>
                </a:solidFill>
                <a:latin typeface="Arial"/>
                <a:ea typeface="Arial"/>
                <a:cs typeface="Arial"/>
              </a:defRPr>
            </a:defPPr>
          </a:lstStyle>
          <a:p xmlns:a="http://schemas.openxmlformats.org/drawingml/2006/main">
            <a:pPr algn="ctr">
              <a:lnSpc>
                <a:spcPct val="100000"/>
              </a:lnSpc>
              <a:buNone/>
              <a:defRPr sz="2250" b="1">
                <a:solidFill>
                  <a:srgbClr val="C47A11"/>
                </a:solidFill>
                <a:latin typeface="Arial"/>
                <a:ea typeface="Arial"/>
                <a:cs typeface="Arial"/>
              </a:defRPr>
            </a:pPr>
            <a:r>
              <a:rPr sz="2250" b="1">
                <a:solidFill>
                  <a:srgbClr val="C47A11"/>
                </a:solidFill>
                <a:latin typeface="Arial"/>
                <a:ea typeface="Arial"/>
                <a:cs typeface="Arial"/>
              </a:rPr>
              <a:t>1 bài</a:t>
            </a:r>
          </a:p>
        </p:txBody>
      </p:sp>
      <p:sp>
        <p:nvSpPr>
          <p:cNvPr id="21" name="">
            <a:extLst xmlns:a="http://schemas.openxmlformats.org/drawingml/2006/main">
              <a:ext uri="{FF2B5EF4-FFF2-40B4-BE49-F238E27FC236}">
                <a16:creationId xmlns:a16="http://schemas.microsoft.com/office/drawing/2014/main" id="{53FDA61F-00D3-4A94-AF45-22660E9EBE79}"/>
              </a:ext>
            </a:extLst>
          </p:cNvPr>
          <p:cNvSpPr>
            <a:spLocks xmlns:a="http://schemas.openxmlformats.org/drawingml/2006/main" noGrp="1"/>
          </p:cNvSpPr>
          <p:nvPr/>
        </p:nvSpPr>
        <p:spPr>
          <a:xfrm xmlns:a="http://schemas.openxmlformats.org/drawingml/2006/main">
            <a:off x="8220075" y="2571750"/>
            <a:ext cx="21050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1">
                <a:solidFill>
                  <a:srgbClr val="14233B"/>
                </a:solidFill>
                <a:latin typeface="Arial"/>
                <a:ea typeface="Arial"/>
                <a:cs typeface="Arial"/>
              </a:defRPr>
            </a:defPPr>
          </a:lstStyle>
          <a:p xmlns:a="http://schemas.openxmlformats.org/drawingml/2006/main">
            <a:pPr algn="ctr">
              <a:lnSpc>
                <a:spcPct val="100000"/>
              </a:lnSpc>
              <a:buNone/>
              <a:defRPr sz="1200" b="1">
                <a:solidFill>
                  <a:srgbClr val="14233B"/>
                </a:solidFill>
                <a:latin typeface="Arial"/>
                <a:ea typeface="Arial"/>
                <a:cs typeface="Arial"/>
              </a:defRPr>
            </a:pPr>
            <a:r>
              <a:rPr sz="1200" b="1">
                <a:solidFill>
                  <a:srgbClr val="14233B"/>
                </a:solidFill>
                <a:latin typeface="Arial"/>
                <a:ea typeface="Arial"/>
                <a:cs typeface="Arial"/>
              </a:rPr>
              <a:t>chưa đạt sau K=3</a:t>
            </a:r>
          </a:p>
        </p:txBody>
      </p:sp>
      <p:sp>
        <p:nvSpPr>
          <p:cNvPr id="22" name="">
            <a:extLst xmlns:a="http://schemas.openxmlformats.org/drawingml/2006/main">
              <a:ext uri="{FF2B5EF4-FFF2-40B4-BE49-F238E27FC236}">
                <a16:creationId xmlns:a16="http://schemas.microsoft.com/office/drawing/2014/main" id="{1CE36060-E442-4873-84B5-F617CB849D06}"/>
              </a:ext>
            </a:extLst>
          </p:cNvPr>
          <p:cNvSpPr>
            <a:spLocks xmlns:a="http://schemas.openxmlformats.org/drawingml/2006/main" noGrp="1"/>
          </p:cNvSpPr>
          <p:nvPr/>
        </p:nvSpPr>
        <p:spPr>
          <a:xfrm xmlns:a="http://schemas.openxmlformats.org/drawingml/2006/main">
            <a:off x="8201025" y="2876550"/>
            <a:ext cx="2143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0">
                <a:solidFill>
                  <a:srgbClr val="52647A"/>
                </a:solidFill>
                <a:latin typeface="Arial"/>
                <a:ea typeface="Arial"/>
                <a:cs typeface="Arial"/>
              </a:defRPr>
            </a:defPPr>
          </a:lstStyle>
          <a:p xmlns:a="http://schemas.openxmlformats.org/drawingml/2006/main">
            <a:pPr algn="ctr">
              <a:lnSpc>
                <a:spcPct val="100000"/>
              </a:lnSpc>
              <a:buNone/>
              <a:defRPr sz="1050" b="0">
                <a:solidFill>
                  <a:srgbClr val="52647A"/>
                </a:solidFill>
                <a:latin typeface="Arial"/>
                <a:ea typeface="Arial"/>
                <a:cs typeface="Arial"/>
              </a:defRPr>
            </a:pPr>
            <a:r>
              <a:rPr sz="1050" b="0">
                <a:solidFill>
                  <a:srgbClr val="52647A"/>
                </a:solidFill>
                <a:latin typeface="Arial"/>
                <a:ea typeface="Arial"/>
                <a:cs typeface="Arial"/>
              </a:rPr>
              <a:t>sorted_insert</a:t>
            </a:r>
          </a:p>
        </p:txBody>
      </p:sp>
      <p:sp>
        <p:nvSpPr>
          <p:cNvPr id="23" name="">
            <a:extLst xmlns:a="http://schemas.openxmlformats.org/drawingml/2006/main">
              <a:ext uri="{FF2B5EF4-FFF2-40B4-BE49-F238E27FC236}">
                <a16:creationId xmlns:a16="http://schemas.microsoft.com/office/drawing/2014/main" id="{93EAD0C0-64EE-49EC-B90A-781CB0D93216}"/>
              </a:ext>
            </a:extLst>
          </p:cNvPr>
          <p:cNvSpPr>
            <a:spLocks xmlns:a="http://schemas.openxmlformats.org/drawingml/2006/main" noGrp="1"/>
          </p:cNvSpPr>
          <p:nvPr/>
        </p:nvSpPr>
        <p:spPr>
          <a:xfrm xmlns:a="http://schemas.openxmlformats.org/drawingml/2006/main">
            <a:off x="590550" y="3695700"/>
            <a:ext cx="5829300" cy="2038350"/>
          </a:xfrm>
          <a:prstGeom xmlns:a="http://schemas.openxmlformats.org/drawingml/2006/main" prst="roundRect">
            <a:avLst>
              <a:gd name="adj" fmla="val 6542"/>
            </a:avLst>
          </a:prstGeom>
          <a:solidFill xmlns:a="http://schemas.openxmlformats.org/drawingml/2006/main">
            <a:srgbClr val="FFFFFF"/>
          </a:solidFill>
          <a:ln xmlns:a="http://schemas.openxmlformats.org/drawingml/2006/main" w="9525">
            <a:solidFill>
              <a:srgbClr val="D8E0EA"/>
            </a:solidFill>
            <a:prstDash val="solid"/>
          </a:ln>
        </p:spPr>
      </p:sp>
      <p:sp>
        <p:nvSpPr>
          <p:cNvPr id="24" name="">
            <a:extLst xmlns:a="http://schemas.openxmlformats.org/drawingml/2006/main">
              <a:ext uri="{FF2B5EF4-FFF2-40B4-BE49-F238E27FC236}">
                <a16:creationId xmlns:a16="http://schemas.microsoft.com/office/drawing/2014/main" id="{44C4DA75-37AD-483E-AC1A-8C485559FA6B}"/>
              </a:ext>
            </a:extLst>
          </p:cNvPr>
          <p:cNvSpPr>
            <a:spLocks xmlns:a="http://schemas.openxmlformats.org/drawingml/2006/main" noGrp="1"/>
          </p:cNvSpPr>
          <p:nvPr/>
        </p:nvSpPr>
        <p:spPr>
          <a:xfrm xmlns:a="http://schemas.openxmlformats.org/drawingml/2006/main">
            <a:off x="800100" y="3895725"/>
            <a:ext cx="533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C47A11"/>
                </a:solidFill>
                <a:latin typeface="Arial"/>
                <a:ea typeface="Arial"/>
                <a:cs typeface="Arial"/>
              </a:defRPr>
            </a:defPPr>
          </a:lstStyle>
          <a:p xmlns:a="http://schemas.openxmlformats.org/drawingml/2006/main">
            <a:pPr algn="l">
              <a:lnSpc>
                <a:spcPct val="100000"/>
              </a:lnSpc>
              <a:buNone/>
              <a:defRPr sz="1125" b="1">
                <a:solidFill>
                  <a:srgbClr val="C47A11"/>
                </a:solidFill>
                <a:latin typeface="Arial"/>
                <a:ea typeface="Arial"/>
                <a:cs typeface="Arial"/>
              </a:defRPr>
            </a:pPr>
            <a:r>
              <a:rPr sz="1125" b="1">
                <a:solidFill>
                  <a:srgbClr val="C47A11"/>
                </a:solidFill>
                <a:latin typeface="Arial"/>
                <a:ea typeface="Arial"/>
                <a:cs typeface="Arial"/>
              </a:rPr>
              <a:t>CẦN BỔ SUNG ẢNH THỰC NGHIỆM</a:t>
            </a:r>
          </a:p>
        </p:txBody>
      </p:sp>
      <p:sp>
        <p:nvSpPr>
          <p:cNvPr id="25" name="">
            <a:extLst xmlns:a="http://schemas.openxmlformats.org/drawingml/2006/main">
              <a:ext uri="{FF2B5EF4-FFF2-40B4-BE49-F238E27FC236}">
                <a16:creationId xmlns:a16="http://schemas.microsoft.com/office/drawing/2014/main" id="{835032D8-F443-49EE-95CE-0D1A59F6D6DD}"/>
              </a:ext>
            </a:extLst>
          </p:cNvPr>
          <p:cNvSpPr>
            <a:spLocks xmlns:a="http://schemas.openxmlformats.org/drawingml/2006/main" noGrp="1"/>
          </p:cNvSpPr>
          <p:nvPr/>
        </p:nvSpPr>
        <p:spPr>
          <a:xfrm xmlns:a="http://schemas.openxmlformats.org/drawingml/2006/main">
            <a:off x="800100" y="4305300"/>
            <a:ext cx="5334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14233B"/>
                </a:solidFill>
                <a:latin typeface="Arial"/>
                <a:ea typeface="Arial"/>
                <a:cs typeface="Arial"/>
              </a:defRPr>
            </a:defPPr>
          </a:lstStyle>
          <a:p xmlns:a="http://schemas.openxmlformats.org/drawingml/2006/main">
            <a:pPr algn="l">
              <a:lnSpc>
                <a:spcPct val="110000"/>
              </a:lnSpc>
              <a:buNone/>
              <a:defRPr sz="1500" b="1">
                <a:solidFill>
                  <a:srgbClr val="14233B"/>
                </a:solidFill>
                <a:latin typeface="Arial"/>
                <a:ea typeface="Arial"/>
                <a:cs typeface="Arial"/>
              </a:defRPr>
            </a:pPr>
            <a:r>
              <a:rPr sz="1500" b="1">
                <a:solidFill>
                  <a:srgbClr val="14233B"/>
                </a:solidFill>
                <a:latin typeface="Arial"/>
                <a:ea typeface="Arial"/>
                <a:cs typeface="Arial"/>
              </a:rPr>
              <a:t>Thay khung này bằng ảnh chụp giao diện</a:t>
            </a:r>
          </a:p>
          <a:p xmlns:a="http://schemas.openxmlformats.org/drawingml/2006/main">
            <a:pPr algn="l">
              <a:lnSpc>
                <a:spcPct val="110000"/>
              </a:lnSpc>
              <a:buNone/>
              <a:defRPr sz="1500" b="1">
                <a:solidFill>
                  <a:srgbClr val="14233B"/>
                </a:solidFill>
                <a:latin typeface="Arial"/>
                <a:ea typeface="Arial"/>
                <a:cs typeface="Arial"/>
              </a:defRPr>
            </a:pPr>
            <a:r>
              <a:rPr sz="1500" b="1">
                <a:solidFill>
                  <a:srgbClr val="14233B"/>
                </a:solidFill>
                <a:latin typeface="Arial"/>
                <a:ea typeface="Arial"/>
                <a:cs typeface="Arial"/>
              </a:rPr>
              <a:t>hoặc lịch sử 2 lượt của 031-is-prime.</a:t>
            </a:r>
          </a:p>
        </p:txBody>
      </p:sp>
      <p:sp>
        <p:nvSpPr>
          <p:cNvPr id="26" name="">
            <a:extLst xmlns:a="http://schemas.openxmlformats.org/drawingml/2006/main">
              <a:ext uri="{FF2B5EF4-FFF2-40B4-BE49-F238E27FC236}">
                <a16:creationId xmlns:a16="http://schemas.microsoft.com/office/drawing/2014/main" id="{F5269608-F96C-4E90-ACB1-B6954574A4E0}"/>
              </a:ext>
            </a:extLst>
          </p:cNvPr>
          <p:cNvSpPr>
            <a:spLocks xmlns:a="http://schemas.openxmlformats.org/drawingml/2006/main" noGrp="1"/>
          </p:cNvSpPr>
          <p:nvPr/>
        </p:nvSpPr>
        <p:spPr>
          <a:xfrm xmlns:a="http://schemas.openxmlformats.org/drawingml/2006/main">
            <a:off x="800100" y="5095875"/>
            <a:ext cx="5257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0">
                <a:solidFill>
                  <a:srgbClr val="52647A"/>
                </a:solidFill>
                <a:latin typeface="Arial"/>
                <a:ea typeface="Arial"/>
                <a:cs typeface="Arial"/>
              </a:defRPr>
            </a:defPPr>
          </a:lstStyle>
          <a:p xmlns:a="http://schemas.openxmlformats.org/drawingml/2006/main">
            <a:pPr algn="l">
              <a:lnSpc>
                <a:spcPct val="100000"/>
              </a:lnSpc>
              <a:buNone/>
              <a:defRPr sz="1050" b="0">
                <a:solidFill>
                  <a:srgbClr val="52647A"/>
                </a:solidFill>
                <a:latin typeface="Arial"/>
                <a:ea typeface="Arial"/>
                <a:cs typeface="Arial"/>
              </a:defRPr>
            </a:pPr>
            <a:r>
              <a:rPr sz="1050" b="0">
                <a:solidFill>
                  <a:srgbClr val="52647A"/>
                </a:solidFill>
                <a:latin typeface="Arial"/>
                <a:ea typeface="Arial"/>
                <a:cs typeface="Arial"/>
              </a:rPr>
              <a:t>Dùng ảnh từ lần chạy thật; che API key/thông tin cá nhân nếu có.</a:t>
            </a:r>
          </a:p>
        </p:txBody>
      </p:sp>
      <p:sp>
        <p:nvSpPr>
          <p:cNvPr id="27" name="">
            <a:extLst xmlns:a="http://schemas.openxmlformats.org/drawingml/2006/main">
              <a:ext uri="{FF2B5EF4-FFF2-40B4-BE49-F238E27FC236}">
                <a16:creationId xmlns:a16="http://schemas.microsoft.com/office/drawing/2014/main" id="{EDE72FAF-FCA2-4017-828D-E4E739B3C158}"/>
              </a:ext>
            </a:extLst>
          </p:cNvPr>
          <p:cNvSpPr>
            <a:spLocks xmlns:a="http://schemas.openxmlformats.org/drawingml/2006/main" noGrp="1"/>
          </p:cNvSpPr>
          <p:nvPr/>
        </p:nvSpPr>
        <p:spPr>
          <a:xfrm xmlns:a="http://schemas.openxmlformats.org/drawingml/2006/main">
            <a:off x="6715125" y="3695700"/>
            <a:ext cx="4886325" cy="2038350"/>
          </a:xfrm>
          <a:prstGeom xmlns:a="http://schemas.openxmlformats.org/drawingml/2006/main" prst="roundRect">
            <a:avLst>
              <a:gd name="adj" fmla="val 6542"/>
            </a:avLst>
          </a:prstGeom>
          <a:solidFill xmlns:a="http://schemas.openxmlformats.org/drawingml/2006/main">
            <a:srgbClr val="F0F3F8"/>
          </a:solidFill>
          <a:ln xmlns:a="http://schemas.openxmlformats.org/drawingml/2006/main" w="9525">
            <a:solidFill>
              <a:srgbClr val="D8E0EA"/>
            </a:solidFill>
            <a:prstDash val="solid"/>
          </a:ln>
        </p:spPr>
      </p:sp>
      <p:sp>
        <p:nvSpPr>
          <p:cNvPr id="28" name="">
            <a:extLst xmlns:a="http://schemas.openxmlformats.org/drawingml/2006/main">
              <a:ext uri="{FF2B5EF4-FFF2-40B4-BE49-F238E27FC236}">
                <a16:creationId xmlns:a16="http://schemas.microsoft.com/office/drawing/2014/main" id="{9F923775-193F-4127-92B9-56B51E33F51C}"/>
              </a:ext>
            </a:extLst>
          </p:cNvPr>
          <p:cNvSpPr>
            <a:spLocks xmlns:a="http://schemas.openxmlformats.org/drawingml/2006/main" noGrp="1"/>
          </p:cNvSpPr>
          <p:nvPr/>
        </p:nvSpPr>
        <p:spPr>
          <a:xfrm xmlns:a="http://schemas.openxmlformats.org/drawingml/2006/main">
            <a:off x="6981825" y="3943350"/>
            <a:ext cx="4333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2563EB"/>
                </a:solidFill>
                <a:latin typeface="Arial"/>
                <a:ea typeface="Arial"/>
                <a:cs typeface="Arial"/>
              </a:defRPr>
            </a:defPPr>
          </a:lstStyle>
          <a:p xmlns:a="http://schemas.openxmlformats.org/drawingml/2006/main">
            <a:pPr algn="l">
              <a:lnSpc>
                <a:spcPct val="100000"/>
              </a:lnSpc>
              <a:buNone/>
              <a:defRPr sz="1125" b="1">
                <a:solidFill>
                  <a:srgbClr val="2563EB"/>
                </a:solidFill>
                <a:latin typeface="Arial"/>
                <a:ea typeface="Arial"/>
                <a:cs typeface="Arial"/>
              </a:defRPr>
            </a:pPr>
            <a:r>
              <a:rPr sz="1125" b="1">
                <a:solidFill>
                  <a:srgbClr val="2563EB"/>
                </a:solidFill>
                <a:latin typeface="Arial"/>
                <a:ea typeface="Arial"/>
                <a:cs typeface="Arial"/>
              </a:rPr>
              <a:t>KẾT QUẢ SƠ BỘ</a:t>
            </a:r>
          </a:p>
        </p:txBody>
      </p:sp>
      <p:sp>
        <p:nvSpPr>
          <p:cNvPr id="29" name="">
            <a:extLst xmlns:a="http://schemas.openxmlformats.org/drawingml/2006/main">
              <a:ext uri="{FF2B5EF4-FFF2-40B4-BE49-F238E27FC236}">
                <a16:creationId xmlns:a16="http://schemas.microsoft.com/office/drawing/2014/main" id="{FAB8F2F1-87FF-4149-BDC6-5E8D79CC2990}"/>
              </a:ext>
            </a:extLst>
          </p:cNvPr>
          <p:cNvSpPr>
            <a:spLocks xmlns:a="http://schemas.openxmlformats.org/drawingml/2006/main" noGrp="1"/>
          </p:cNvSpPr>
          <p:nvPr/>
        </p:nvSpPr>
        <p:spPr>
          <a:xfrm xmlns:a="http://schemas.openxmlformats.org/drawingml/2006/main">
            <a:off x="6981825" y="4343400"/>
            <a:ext cx="4171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4233B"/>
                </a:solidFill>
                <a:latin typeface="Arial"/>
                <a:ea typeface="Arial"/>
                <a:cs typeface="Arial"/>
              </a:defRPr>
            </a:defPPr>
          </a:lstStyle>
          <a:p xmlns:a="http://schemas.openxmlformats.org/drawingml/2006/main">
            <a:pPr algn="l">
              <a:lnSpc>
                <a:spcPct val="110000"/>
              </a:lnSpc>
              <a:buNone/>
              <a:defRPr sz="1650" b="1">
                <a:solidFill>
                  <a:srgbClr val="14233B"/>
                </a:solidFill>
                <a:latin typeface="Arial"/>
                <a:ea typeface="Arial"/>
                <a:cs typeface="Arial"/>
              </a:defRPr>
            </a:pPr>
            <a:r>
              <a:rPr sz="1650" b="1">
                <a:solidFill>
                  <a:srgbClr val="14233B"/>
                </a:solidFill>
                <a:latin typeface="Arial"/>
                <a:ea typeface="Arial"/>
                <a:cs typeface="Arial"/>
              </a:rPr>
              <a:t>Một lần chạy.</a:t>
            </a:r>
          </a:p>
          <a:p xmlns:a="http://schemas.openxmlformats.org/drawingml/2006/main">
            <a:pPr algn="l">
              <a:lnSpc>
                <a:spcPct val="110000"/>
              </a:lnSpc>
              <a:buNone/>
              <a:defRPr sz="1650" b="1">
                <a:solidFill>
                  <a:srgbClr val="14233B"/>
                </a:solidFill>
                <a:latin typeface="Arial"/>
                <a:ea typeface="Arial"/>
                <a:cs typeface="Arial"/>
              </a:defRPr>
            </a:pPr>
            <a:r>
              <a:rPr sz="1650" b="1">
                <a:solidFill>
                  <a:srgbClr val="14233B"/>
                </a:solidFill>
                <a:latin typeface="Arial"/>
                <a:ea typeface="Arial"/>
                <a:cs typeface="Arial"/>
              </a:rPr>
              <a:t>Chưa đủ để kết luận ưu thế tổng quát.</a:t>
            </a:r>
          </a:p>
        </p:txBody>
      </p:sp>
      <p:sp>
        <p:nvSpPr>
          <p:cNvPr id="30" name="">
            <a:extLst xmlns:a="http://schemas.openxmlformats.org/drawingml/2006/main">
              <a:ext uri="{FF2B5EF4-FFF2-40B4-BE49-F238E27FC236}">
                <a16:creationId xmlns:a16="http://schemas.microsoft.com/office/drawing/2014/main" id="{86D02A7C-8D57-4603-9A7C-EA4058090B94}"/>
              </a:ext>
            </a:extLst>
          </p:cNvPr>
          <p:cNvSpPr>
            <a:spLocks xmlns:a="http://schemas.openxmlformats.org/drawingml/2006/main" noGrp="1"/>
          </p:cNvSpPr>
          <p:nvPr/>
        </p:nvSpPr>
        <p:spPr>
          <a:xfrm xmlns:a="http://schemas.openxmlformats.org/drawingml/2006/main">
            <a:off x="6981825" y="5238750"/>
            <a:ext cx="4171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B54747"/>
                </a:solidFill>
                <a:latin typeface="Arial"/>
                <a:ea typeface="Arial"/>
                <a:cs typeface="Arial"/>
              </a:defRPr>
            </a:defPPr>
          </a:lstStyle>
          <a:p xmlns:a="http://schemas.openxmlformats.org/drawingml/2006/main">
            <a:pPr algn="l">
              <a:lnSpc>
                <a:spcPct val="100000"/>
              </a:lnSpc>
              <a:buNone/>
              <a:defRPr sz="1200" b="1">
                <a:solidFill>
                  <a:srgbClr val="B54747"/>
                </a:solidFill>
                <a:latin typeface="Arial"/>
                <a:ea typeface="Arial"/>
                <a:cs typeface="Arial"/>
              </a:defRPr>
            </a:pPr>
            <a:r>
              <a:rPr sz="1200" b="1">
                <a:solidFill>
                  <a:srgbClr val="B54747"/>
                </a:solidFill>
                <a:latin typeface="Arial"/>
                <a:ea typeface="Arial"/>
                <a:cs typeface="Arial"/>
              </a:rPr>
              <a:t>Không phải bằng chứng loại bỏ hoàn toàn ảo giác.</a:t>
            </a:r>
          </a:p>
        </p:txBody>
      </p:sp>
    </p:spTree>
    <p:extLst>
      <p:ext uri="{BB962C8B-B14F-4D97-AF65-F5344CB8AC3E}">
        <p14:creationId xmlns:p14="http://schemas.microsoft.com/office/powerpoint/2010/main" val="856092578"/>
      </p:ext>
    </p:extLst>
  </p:cSld>
</p:sld>
</file>

<file path=ppt/slides/slide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924D0CCC-67F8-4505-9C8C-36C1E261C15F}"/>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D17AD1A-A650-4CF4-B0EB-3B756911EEF5}"/>
              </a:ext>
            </a:extLst>
          </p:cNvPr>
          <p:cNvSpPr>
            <a:spLocks xmlns:a="http://schemas.openxmlformats.org/drawingml/2006/main" noGrp="1"/>
          </p:cNvSpPr>
          <p:nvPr/>
        </p:nvSpPr>
        <p:spPr>
          <a:xfrm xmlns:a="http://schemas.openxmlformats.org/drawingml/2006/main">
            <a:off x="590550" y="3238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2563EB"/>
                </a:solidFill>
                <a:latin typeface="Arial"/>
                <a:ea typeface="Arial"/>
                <a:cs typeface="Arial"/>
              </a:defRPr>
            </a:defPPr>
          </a:lstStyle>
          <a:p xmlns:a="http://schemas.openxmlformats.org/drawingml/2006/main">
            <a:pPr algn="l">
              <a:lnSpc>
                <a:spcPct val="100000"/>
              </a:lnSpc>
              <a:buNone/>
              <a:defRPr sz="975" b="1">
                <a:solidFill>
                  <a:srgbClr val="2563EB"/>
                </a:solidFill>
                <a:latin typeface="Arial"/>
                <a:ea typeface="Arial"/>
                <a:cs typeface="Arial"/>
              </a:defRPr>
            </a:pPr>
            <a:r>
              <a:rPr sz="975" b="1">
                <a:solidFill>
                  <a:srgbClr val="2563EB"/>
                </a:solidFill>
                <a:latin typeface="Arial"/>
                <a:ea typeface="Arial"/>
                <a:cs typeface="Arial"/>
              </a:rPr>
              <a:t>NCKH SINH VIÊN 2026</a:t>
            </a:r>
          </a:p>
        </p:txBody>
      </p:sp>
      <p:sp>
        <p:nvSpPr>
          <p:cNvPr id="3" name="">
            <a:extLst xmlns:a="http://schemas.openxmlformats.org/drawingml/2006/main">
              <a:ext uri="{FF2B5EF4-FFF2-40B4-BE49-F238E27FC236}">
                <a16:creationId xmlns:a16="http://schemas.microsoft.com/office/drawing/2014/main" id="{665D0596-46F2-4578-A584-9D973C75BB99}"/>
              </a:ext>
            </a:extLst>
          </p:cNvPr>
          <p:cNvSpPr>
            <a:spLocks xmlns:a="http://schemas.openxmlformats.org/drawingml/2006/main" noGrp="1"/>
          </p:cNvSpPr>
          <p:nvPr/>
        </p:nvSpPr>
        <p:spPr>
          <a:xfrm xmlns:a="http://schemas.openxmlformats.org/drawingml/2006/main">
            <a:off x="590550" y="666750"/>
            <a:ext cx="11010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550" b="1">
                <a:solidFill>
                  <a:srgbClr val="14233B"/>
                </a:solidFill>
                <a:latin typeface="Arial"/>
                <a:ea typeface="Arial"/>
                <a:cs typeface="Arial"/>
              </a:defRPr>
            </a:defPPr>
          </a:lstStyle>
          <a:p xmlns:a="http://schemas.openxmlformats.org/drawingml/2006/main">
            <a:pPr algn="l">
              <a:lnSpc>
                <a:spcPct val="100000"/>
              </a:lnSpc>
              <a:buNone/>
              <a:defRPr sz="2550" b="1">
                <a:solidFill>
                  <a:srgbClr val="14233B"/>
                </a:solidFill>
                <a:latin typeface="Arial"/>
                <a:ea typeface="Arial"/>
                <a:cs typeface="Arial"/>
              </a:defRPr>
            </a:pPr>
            <a:r>
              <a:rPr sz="2550" b="1">
                <a:solidFill>
                  <a:srgbClr val="14233B"/>
                </a:solidFill>
                <a:latin typeface="Arial"/>
                <a:ea typeface="Arial"/>
                <a:cs typeface="Arial"/>
              </a:rPr>
              <a:t>Kế hoạch triển khai nghiên cứu</a:t>
            </a:r>
          </a:p>
        </p:txBody>
      </p:sp>
      <p:sp>
        <p:nvSpPr>
          <p:cNvPr id="4" name="">
            <a:extLst xmlns:a="http://schemas.openxmlformats.org/drawingml/2006/main">
              <a:ext uri="{FF2B5EF4-FFF2-40B4-BE49-F238E27FC236}">
                <a16:creationId xmlns:a16="http://schemas.microsoft.com/office/drawing/2014/main" id="{D2061AC4-176A-433E-875A-BCBD81277D0C}"/>
              </a:ext>
            </a:extLst>
          </p:cNvPr>
          <p:cNvSpPr>
            <a:spLocks xmlns:a="http://schemas.openxmlformats.org/drawingml/2006/main" noGrp="1"/>
          </p:cNvSpPr>
          <p:nvPr/>
        </p:nvSpPr>
        <p:spPr>
          <a:xfrm xmlns:a="http://schemas.openxmlformats.org/drawingml/2006/main">
            <a:off x="590550" y="1304925"/>
            <a:ext cx="110109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5" name="">
            <a:extLst xmlns:a="http://schemas.openxmlformats.org/drawingml/2006/main">
              <a:ext uri="{FF2B5EF4-FFF2-40B4-BE49-F238E27FC236}">
                <a16:creationId xmlns:a16="http://schemas.microsoft.com/office/drawing/2014/main" id="{EBFB7443-313A-40F6-9D58-E0863A646936}"/>
              </a:ext>
            </a:extLst>
          </p:cNvPr>
          <p:cNvSpPr>
            <a:spLocks xmlns:a="http://schemas.openxmlformats.org/drawingml/2006/main" noGrp="1"/>
          </p:cNvSpPr>
          <p:nvPr/>
        </p:nvSpPr>
        <p:spPr>
          <a:xfrm xmlns:a="http://schemas.openxmlformats.org/drawingml/2006/main">
            <a:off x="10572750" y="6438900"/>
            <a:ext cx="1028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52647A"/>
                </a:solidFill>
                <a:latin typeface="Arial"/>
                <a:ea typeface="Arial"/>
                <a:cs typeface="Arial"/>
              </a:defRPr>
            </a:defPPr>
          </a:lstStyle>
          <a:p xmlns:a="http://schemas.openxmlformats.org/drawingml/2006/main">
            <a:pPr algn="r">
              <a:lnSpc>
                <a:spcPct val="100000"/>
              </a:lnSpc>
              <a:buNone/>
              <a:defRPr sz="975" b="1">
                <a:solidFill>
                  <a:srgbClr val="52647A"/>
                </a:solidFill>
                <a:latin typeface="Arial"/>
                <a:ea typeface="Arial"/>
                <a:cs typeface="Arial"/>
              </a:defRPr>
            </a:pPr>
            <a:r>
              <a:rPr sz="975" b="1">
                <a:solidFill>
                  <a:srgbClr val="52647A"/>
                </a:solidFill>
                <a:latin typeface="Arial"/>
                <a:ea typeface="Arial"/>
                <a:cs typeface="Arial"/>
              </a:rPr>
              <a:t>06  /  07</a:t>
            </a:r>
          </a:p>
        </p:txBody>
      </p:sp>
      <p:sp>
        <p:nvSpPr>
          <p:cNvPr id="6" name="">
            <a:extLst xmlns:a="http://schemas.openxmlformats.org/drawingml/2006/main">
              <a:ext uri="{FF2B5EF4-FFF2-40B4-BE49-F238E27FC236}">
                <a16:creationId xmlns:a16="http://schemas.microsoft.com/office/drawing/2014/main" id="{6CA9A742-9F83-4897-AF0B-AD897B4FA1E0}"/>
              </a:ext>
            </a:extLst>
          </p:cNvPr>
          <p:cNvSpPr>
            <a:spLocks xmlns:a="http://schemas.openxmlformats.org/drawingml/2006/main" noGrp="1"/>
          </p:cNvSpPr>
          <p:nvPr/>
        </p:nvSpPr>
        <p:spPr>
          <a:xfrm xmlns:a="http://schemas.openxmlformats.org/drawingml/2006/main">
            <a:off x="590550" y="2238375"/>
            <a:ext cx="2286000" cy="1885950"/>
          </a:xfrm>
          <a:prstGeom xmlns:a="http://schemas.openxmlformats.org/drawingml/2006/main" prst="roundRect">
            <a:avLst>
              <a:gd name="adj" fmla="val 7071"/>
            </a:avLst>
          </a:prstGeom>
          <a:solidFill xmlns:a="http://schemas.openxmlformats.org/drawingml/2006/main">
            <a:srgbClr val="E8F0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BE53154-1FF4-492A-AA73-E0DB413D346B}"/>
              </a:ext>
            </a:extLst>
          </p:cNvPr>
          <p:cNvSpPr>
            <a:spLocks xmlns:a="http://schemas.openxmlformats.org/drawingml/2006/main" noGrp="1"/>
          </p:cNvSpPr>
          <p:nvPr/>
        </p:nvSpPr>
        <p:spPr>
          <a:xfrm xmlns:a="http://schemas.openxmlformats.org/drawingml/2006/main">
            <a:off x="762000" y="2400300"/>
            <a:ext cx="438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1">
                <a:solidFill>
                  <a:srgbClr val="2563EB"/>
                </a:solidFill>
                <a:latin typeface="Arial"/>
                <a:ea typeface="Arial"/>
                <a:cs typeface="Arial"/>
              </a:defRPr>
            </a:defPPr>
          </a:lstStyle>
          <a:p xmlns:a="http://schemas.openxmlformats.org/drawingml/2006/main">
            <a:pPr algn="l">
              <a:lnSpc>
                <a:spcPct val="100000"/>
              </a:lnSpc>
              <a:buNone/>
              <a:defRPr sz="2100" b="1">
                <a:solidFill>
                  <a:srgbClr val="2563EB"/>
                </a:solidFill>
                <a:latin typeface="Arial"/>
                <a:ea typeface="Arial"/>
                <a:cs typeface="Arial"/>
              </a:defRPr>
            </a:pPr>
            <a:r>
              <a:rPr sz="2100" b="1">
                <a:solidFill>
                  <a:srgbClr val="2563EB"/>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752A8E29-3211-4529-B18E-44A24A34CBF4}"/>
              </a:ext>
            </a:extLst>
          </p:cNvPr>
          <p:cNvSpPr>
            <a:spLocks xmlns:a="http://schemas.openxmlformats.org/drawingml/2006/main" noGrp="1"/>
          </p:cNvSpPr>
          <p:nvPr/>
        </p:nvSpPr>
        <p:spPr>
          <a:xfrm xmlns:a="http://schemas.openxmlformats.org/drawingml/2006/main">
            <a:off x="762000" y="2924175"/>
            <a:ext cx="1952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2563EB"/>
                </a:solidFill>
                <a:latin typeface="Arial"/>
                <a:ea typeface="Arial"/>
                <a:cs typeface="Arial"/>
              </a:defRPr>
            </a:defPPr>
          </a:lstStyle>
          <a:p xmlns:a="http://schemas.openxmlformats.org/drawingml/2006/main">
            <a:pPr algn="l">
              <a:lnSpc>
                <a:spcPct val="100000"/>
              </a:lnSpc>
              <a:buNone/>
              <a:defRPr sz="1200" b="1">
                <a:solidFill>
                  <a:srgbClr val="2563EB"/>
                </a:solidFill>
                <a:latin typeface="Arial"/>
                <a:ea typeface="Arial"/>
                <a:cs typeface="Arial"/>
              </a:defRPr>
            </a:pPr>
            <a:r>
              <a:rPr sz="1200" b="1">
                <a:solidFill>
                  <a:srgbClr val="2563EB"/>
                </a:solidFill>
                <a:latin typeface="Arial"/>
                <a:ea typeface="Arial"/>
                <a:cs typeface="Arial"/>
              </a:rPr>
              <a:t>CHỐT PHẠM VI</a:t>
            </a:r>
          </a:p>
        </p:txBody>
      </p:sp>
      <p:sp>
        <p:nvSpPr>
          <p:cNvPr id="9" name="">
            <a:extLst xmlns:a="http://schemas.openxmlformats.org/drawingml/2006/main">
              <a:ext uri="{FF2B5EF4-FFF2-40B4-BE49-F238E27FC236}">
                <a16:creationId xmlns:a16="http://schemas.microsoft.com/office/drawing/2014/main" id="{BB4A764B-8007-4F17-AB81-8A171E8E1AC3}"/>
              </a:ext>
            </a:extLst>
          </p:cNvPr>
          <p:cNvSpPr>
            <a:spLocks xmlns:a="http://schemas.openxmlformats.org/drawingml/2006/main" noGrp="1"/>
          </p:cNvSpPr>
          <p:nvPr/>
        </p:nvSpPr>
        <p:spPr>
          <a:xfrm xmlns:a="http://schemas.openxmlformats.org/drawingml/2006/main">
            <a:off x="762000" y="33337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5747"/>
          </a:bodyPr>
          <a:lstStyle xmlns:a="http://schemas.openxmlformats.org/drawingml/2006/main">
            <a:defPPr algn="l">
              <a:defRPr sz="1350" b="1">
                <a:solidFill>
                  <a:srgbClr val="14233B"/>
                </a:solidFill>
                <a:latin typeface="Arial"/>
                <a:ea typeface="Arial"/>
                <a:cs typeface="Arial"/>
              </a:defRPr>
            </a:defPPr>
          </a:lstStyle>
          <a:p xmlns:a="http://schemas.openxmlformats.org/drawingml/2006/main">
            <a:pPr algn="l">
              <a:lnSpc>
                <a:spcPct val="112000"/>
              </a:lnSpc>
              <a:buNone/>
              <a:defRPr sz="1350" b="1">
                <a:solidFill>
                  <a:srgbClr val="14233B"/>
                </a:solidFill>
                <a:latin typeface="Arial"/>
                <a:ea typeface="Arial"/>
                <a:cs typeface="Arial"/>
              </a:defRPr>
            </a:pPr>
            <a:r>
              <a:rPr sz="1350" b="1">
                <a:solidFill>
                  <a:srgbClr val="14233B"/>
                </a:solidFill>
                <a:latin typeface="Arial"/>
                <a:ea typeface="Arial"/>
                <a:cs typeface="Arial"/>
              </a:rPr>
              <a:t>Manifest benchmark</a:t>
            </a:r>
          </a:p>
          <a:p xmlns:a="http://schemas.openxmlformats.org/drawingml/2006/main">
            <a:pPr algn="l">
              <a:lnSpc>
                <a:spcPct val="112000"/>
              </a:lnSpc>
              <a:buNone/>
              <a:defRPr sz="1350" b="1">
                <a:solidFill>
                  <a:srgbClr val="14233B"/>
                </a:solidFill>
                <a:latin typeface="Arial"/>
                <a:ea typeface="Arial"/>
                <a:cs typeface="Arial"/>
              </a:defRPr>
            </a:pPr>
            <a:r>
              <a:rPr sz="1350" b="1">
                <a:solidFill>
                  <a:srgbClr val="14233B"/>
                </a:solidFill>
                <a:latin typeface="Arial"/>
                <a:ea typeface="Arial"/>
                <a:cs typeface="Arial"/>
              </a:rPr>
              <a:t>Kiểm tra đặc tả và nguồn</a:t>
            </a:r>
          </a:p>
        </p:txBody>
      </p:sp>
      <p:sp>
        <p:nvSpPr>
          <p:cNvPr id="10" name="">
            <a:extLst xmlns:a="http://schemas.openxmlformats.org/drawingml/2006/main">
              <a:ext uri="{FF2B5EF4-FFF2-40B4-BE49-F238E27FC236}">
                <a16:creationId xmlns:a16="http://schemas.microsoft.com/office/drawing/2014/main" id="{9006B4B6-A89D-44BF-B7C5-9463F7658ACF}"/>
              </a:ext>
            </a:extLst>
          </p:cNvPr>
          <p:cNvSpPr>
            <a:spLocks xmlns:a="http://schemas.openxmlformats.org/drawingml/2006/main" noGrp="1"/>
          </p:cNvSpPr>
          <p:nvPr/>
        </p:nvSpPr>
        <p:spPr>
          <a:xfrm xmlns:a="http://schemas.openxmlformats.org/drawingml/2006/main">
            <a:off x="3333750" y="2238375"/>
            <a:ext cx="2286000" cy="1885950"/>
          </a:xfrm>
          <a:prstGeom xmlns:a="http://schemas.openxmlformats.org/drawingml/2006/main" prst="roundRect">
            <a:avLst>
              <a:gd name="adj" fmla="val 7071"/>
            </a:avLst>
          </a:prstGeom>
          <a:solidFill xmlns:a="http://schemas.openxmlformats.org/drawingml/2006/main">
            <a:srgbClr val="E3F5F3"/>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9F895AA-5426-4AC4-8738-ECF421AAE348}"/>
              </a:ext>
            </a:extLst>
          </p:cNvPr>
          <p:cNvSpPr>
            <a:spLocks xmlns:a="http://schemas.openxmlformats.org/drawingml/2006/main" noGrp="1"/>
          </p:cNvSpPr>
          <p:nvPr/>
        </p:nvSpPr>
        <p:spPr>
          <a:xfrm xmlns:a="http://schemas.openxmlformats.org/drawingml/2006/main">
            <a:off x="3505200" y="2400300"/>
            <a:ext cx="438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1">
                <a:solidFill>
                  <a:srgbClr val="0F8B8D"/>
                </a:solidFill>
                <a:latin typeface="Arial"/>
                <a:ea typeface="Arial"/>
                <a:cs typeface="Arial"/>
              </a:defRPr>
            </a:defPPr>
          </a:lstStyle>
          <a:p xmlns:a="http://schemas.openxmlformats.org/drawingml/2006/main">
            <a:pPr algn="l">
              <a:lnSpc>
                <a:spcPct val="100000"/>
              </a:lnSpc>
              <a:buNone/>
              <a:defRPr sz="2100" b="1">
                <a:solidFill>
                  <a:srgbClr val="0F8B8D"/>
                </a:solidFill>
                <a:latin typeface="Arial"/>
                <a:ea typeface="Arial"/>
                <a:cs typeface="Arial"/>
              </a:defRPr>
            </a:pPr>
            <a:r>
              <a:rPr sz="2100" b="1">
                <a:solidFill>
                  <a:srgbClr val="0F8B8D"/>
                </a:solidFill>
                <a:latin typeface="Arial"/>
                <a:ea typeface="Arial"/>
                <a:cs typeface="Arial"/>
              </a:rPr>
              <a:t>02</a:t>
            </a:r>
          </a:p>
        </p:txBody>
      </p:sp>
      <p:sp>
        <p:nvSpPr>
          <p:cNvPr id="12" name="">
            <a:extLst xmlns:a="http://schemas.openxmlformats.org/drawingml/2006/main">
              <a:ext uri="{FF2B5EF4-FFF2-40B4-BE49-F238E27FC236}">
                <a16:creationId xmlns:a16="http://schemas.microsoft.com/office/drawing/2014/main" id="{4FF8FD80-05F0-46AB-80D0-0AB2E31CAC53}"/>
              </a:ext>
            </a:extLst>
          </p:cNvPr>
          <p:cNvSpPr>
            <a:spLocks xmlns:a="http://schemas.openxmlformats.org/drawingml/2006/main" noGrp="1"/>
          </p:cNvSpPr>
          <p:nvPr/>
        </p:nvSpPr>
        <p:spPr>
          <a:xfrm xmlns:a="http://schemas.openxmlformats.org/drawingml/2006/main">
            <a:off x="3505200" y="2924175"/>
            <a:ext cx="1952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0F8B8D"/>
                </a:solidFill>
                <a:latin typeface="Arial"/>
                <a:ea typeface="Arial"/>
                <a:cs typeface="Arial"/>
              </a:defRPr>
            </a:defPPr>
          </a:lstStyle>
          <a:p xmlns:a="http://schemas.openxmlformats.org/drawingml/2006/main">
            <a:pPr algn="l">
              <a:lnSpc>
                <a:spcPct val="100000"/>
              </a:lnSpc>
              <a:buNone/>
              <a:defRPr sz="1200" b="1">
                <a:solidFill>
                  <a:srgbClr val="0F8B8D"/>
                </a:solidFill>
                <a:latin typeface="Arial"/>
                <a:ea typeface="Arial"/>
                <a:cs typeface="Arial"/>
              </a:defRPr>
            </a:pPr>
            <a:r>
              <a:rPr sz="1200" b="1">
                <a:solidFill>
                  <a:srgbClr val="0F8B8D"/>
                </a:solidFill>
                <a:latin typeface="Arial"/>
                <a:ea typeface="Arial"/>
                <a:cs typeface="Arial"/>
              </a:rPr>
              <a:t>THỰC NGHIỆM</a:t>
            </a:r>
          </a:p>
        </p:txBody>
      </p:sp>
      <p:sp>
        <p:nvSpPr>
          <p:cNvPr id="13" name="">
            <a:extLst xmlns:a="http://schemas.openxmlformats.org/drawingml/2006/main">
              <a:ext uri="{FF2B5EF4-FFF2-40B4-BE49-F238E27FC236}">
                <a16:creationId xmlns:a16="http://schemas.microsoft.com/office/drawing/2014/main" id="{829B656F-ECAE-4F98-95BF-9C63806F5EF6}"/>
              </a:ext>
            </a:extLst>
          </p:cNvPr>
          <p:cNvSpPr>
            <a:spLocks xmlns:a="http://schemas.openxmlformats.org/drawingml/2006/main" noGrp="1"/>
          </p:cNvSpPr>
          <p:nvPr/>
        </p:nvSpPr>
        <p:spPr>
          <a:xfrm xmlns:a="http://schemas.openxmlformats.org/drawingml/2006/main">
            <a:off x="3505200" y="33337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14233B"/>
                </a:solidFill>
                <a:latin typeface="Arial"/>
                <a:ea typeface="Arial"/>
                <a:cs typeface="Arial"/>
              </a:defRPr>
            </a:defPPr>
          </a:lstStyle>
          <a:p xmlns:a="http://schemas.openxmlformats.org/drawingml/2006/main">
            <a:pPr algn="l">
              <a:lnSpc>
                <a:spcPct val="112000"/>
              </a:lnSpc>
              <a:buNone/>
              <a:defRPr sz="1350" b="1">
                <a:solidFill>
                  <a:srgbClr val="14233B"/>
                </a:solidFill>
                <a:latin typeface="Arial"/>
                <a:ea typeface="Arial"/>
                <a:cs typeface="Arial"/>
              </a:defRPr>
            </a:pPr>
            <a:r>
              <a:rPr sz="1350" b="1">
                <a:solidFill>
                  <a:srgbClr val="14233B"/>
                </a:solidFill>
                <a:latin typeface="Arial"/>
                <a:ea typeface="Arial"/>
                <a:cs typeface="Arial"/>
              </a:rPr>
              <a:t>Cùng model, prompt, K</a:t>
            </a:r>
          </a:p>
          <a:p xmlns:a="http://schemas.openxmlformats.org/drawingml/2006/main">
            <a:pPr algn="l">
              <a:lnSpc>
                <a:spcPct val="112000"/>
              </a:lnSpc>
              <a:buNone/>
              <a:defRPr sz="1350" b="1">
                <a:solidFill>
                  <a:srgbClr val="14233B"/>
                </a:solidFill>
                <a:latin typeface="Arial"/>
                <a:ea typeface="Arial"/>
                <a:cs typeface="Arial"/>
              </a:defRPr>
            </a:pPr>
            <a:r>
              <a:rPr sz="1350" b="1">
                <a:solidFill>
                  <a:srgbClr val="14233B"/>
                </a:solidFill>
                <a:latin typeface="Arial"/>
                <a:ea typeface="Arial"/>
                <a:cs typeface="Arial"/>
              </a:rPr>
              <a:t>Baseline và pipeline</a:t>
            </a:r>
          </a:p>
        </p:txBody>
      </p:sp>
      <p:sp>
        <p:nvSpPr>
          <p:cNvPr id="14" name="">
            <a:extLst xmlns:a="http://schemas.openxmlformats.org/drawingml/2006/main">
              <a:ext uri="{FF2B5EF4-FFF2-40B4-BE49-F238E27FC236}">
                <a16:creationId xmlns:a16="http://schemas.microsoft.com/office/drawing/2014/main" id="{13A9F60B-74DD-4665-8A8E-E917EE496624}"/>
              </a:ext>
            </a:extLst>
          </p:cNvPr>
          <p:cNvSpPr>
            <a:spLocks xmlns:a="http://schemas.openxmlformats.org/drawingml/2006/main" noGrp="1"/>
          </p:cNvSpPr>
          <p:nvPr/>
        </p:nvSpPr>
        <p:spPr>
          <a:xfrm xmlns:a="http://schemas.openxmlformats.org/drawingml/2006/main">
            <a:off x="6076950" y="2238375"/>
            <a:ext cx="2286000" cy="1885950"/>
          </a:xfrm>
          <a:prstGeom xmlns:a="http://schemas.openxmlformats.org/drawingml/2006/main" prst="roundRect">
            <a:avLst>
              <a:gd name="adj" fmla="val 7071"/>
            </a:avLst>
          </a:prstGeom>
          <a:solidFill xmlns:a="http://schemas.openxmlformats.org/drawingml/2006/main">
            <a:srgbClr val="FFF2D9"/>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72046DA-1701-42C3-9AB1-3EBE315BBFDA}"/>
              </a:ext>
            </a:extLst>
          </p:cNvPr>
          <p:cNvSpPr>
            <a:spLocks xmlns:a="http://schemas.openxmlformats.org/drawingml/2006/main" noGrp="1"/>
          </p:cNvSpPr>
          <p:nvPr/>
        </p:nvSpPr>
        <p:spPr>
          <a:xfrm xmlns:a="http://schemas.openxmlformats.org/drawingml/2006/main">
            <a:off x="6248400" y="2400300"/>
            <a:ext cx="438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1">
                <a:solidFill>
                  <a:srgbClr val="C47A11"/>
                </a:solidFill>
                <a:latin typeface="Arial"/>
                <a:ea typeface="Arial"/>
                <a:cs typeface="Arial"/>
              </a:defRPr>
            </a:defPPr>
          </a:lstStyle>
          <a:p xmlns:a="http://schemas.openxmlformats.org/drawingml/2006/main">
            <a:pPr algn="l">
              <a:lnSpc>
                <a:spcPct val="100000"/>
              </a:lnSpc>
              <a:buNone/>
              <a:defRPr sz="2100" b="1">
                <a:solidFill>
                  <a:srgbClr val="C47A11"/>
                </a:solidFill>
                <a:latin typeface="Arial"/>
                <a:ea typeface="Arial"/>
                <a:cs typeface="Arial"/>
              </a:defRPr>
            </a:pPr>
            <a:r>
              <a:rPr sz="2100" b="1">
                <a:solidFill>
                  <a:srgbClr val="C47A11"/>
                </a:solidFill>
                <a:latin typeface="Arial"/>
                <a:ea typeface="Arial"/>
                <a:cs typeface="Arial"/>
              </a:rPr>
              <a:t>03</a:t>
            </a:r>
          </a:p>
        </p:txBody>
      </p:sp>
      <p:sp>
        <p:nvSpPr>
          <p:cNvPr id="16" name="">
            <a:extLst xmlns:a="http://schemas.openxmlformats.org/drawingml/2006/main">
              <a:ext uri="{FF2B5EF4-FFF2-40B4-BE49-F238E27FC236}">
                <a16:creationId xmlns:a16="http://schemas.microsoft.com/office/drawing/2014/main" id="{321BD25A-0F92-4EBD-804E-CC3831335D25}"/>
              </a:ext>
            </a:extLst>
          </p:cNvPr>
          <p:cNvSpPr>
            <a:spLocks xmlns:a="http://schemas.openxmlformats.org/drawingml/2006/main" noGrp="1"/>
          </p:cNvSpPr>
          <p:nvPr/>
        </p:nvSpPr>
        <p:spPr>
          <a:xfrm xmlns:a="http://schemas.openxmlformats.org/drawingml/2006/main">
            <a:off x="6248400" y="2924175"/>
            <a:ext cx="1952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C47A11"/>
                </a:solidFill>
                <a:latin typeface="Arial"/>
                <a:ea typeface="Arial"/>
                <a:cs typeface="Arial"/>
              </a:defRPr>
            </a:defPPr>
          </a:lstStyle>
          <a:p xmlns:a="http://schemas.openxmlformats.org/drawingml/2006/main">
            <a:pPr algn="l">
              <a:lnSpc>
                <a:spcPct val="100000"/>
              </a:lnSpc>
              <a:buNone/>
              <a:defRPr sz="1200" b="1">
                <a:solidFill>
                  <a:srgbClr val="C47A11"/>
                </a:solidFill>
                <a:latin typeface="Arial"/>
                <a:ea typeface="Arial"/>
                <a:cs typeface="Arial"/>
              </a:defRPr>
            </a:pPr>
            <a:r>
              <a:rPr sz="1200" b="1">
                <a:solidFill>
                  <a:srgbClr val="C47A11"/>
                </a:solidFill>
                <a:latin typeface="Arial"/>
                <a:ea typeface="Arial"/>
                <a:cs typeface="Arial"/>
              </a:rPr>
              <a:t>PHÂN TÍCH</a:t>
            </a:r>
          </a:p>
        </p:txBody>
      </p:sp>
      <p:sp>
        <p:nvSpPr>
          <p:cNvPr id="17" name="">
            <a:extLst xmlns:a="http://schemas.openxmlformats.org/drawingml/2006/main">
              <a:ext uri="{FF2B5EF4-FFF2-40B4-BE49-F238E27FC236}">
                <a16:creationId xmlns:a16="http://schemas.microsoft.com/office/drawing/2014/main" id="{03E1A353-777C-4E4F-BC49-2950E566ADB6}"/>
              </a:ext>
            </a:extLst>
          </p:cNvPr>
          <p:cNvSpPr>
            <a:spLocks xmlns:a="http://schemas.openxmlformats.org/drawingml/2006/main" noGrp="1"/>
          </p:cNvSpPr>
          <p:nvPr/>
        </p:nvSpPr>
        <p:spPr>
          <a:xfrm xmlns:a="http://schemas.openxmlformats.org/drawingml/2006/main">
            <a:off x="6248400" y="33337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14233B"/>
                </a:solidFill>
                <a:latin typeface="Arial"/>
                <a:ea typeface="Arial"/>
                <a:cs typeface="Arial"/>
              </a:defRPr>
            </a:defPPr>
          </a:lstStyle>
          <a:p xmlns:a="http://schemas.openxmlformats.org/drawingml/2006/main">
            <a:pPr algn="l">
              <a:lnSpc>
                <a:spcPct val="112000"/>
              </a:lnSpc>
              <a:buNone/>
              <a:defRPr sz="1350" b="1">
                <a:solidFill>
                  <a:srgbClr val="14233B"/>
                </a:solidFill>
                <a:latin typeface="Arial"/>
                <a:ea typeface="Arial"/>
                <a:cs typeface="Arial"/>
              </a:defRPr>
            </a:pPr>
            <a:r>
              <a:rPr sz="1350" b="1">
                <a:solidFill>
                  <a:srgbClr val="14233B"/>
                </a:solidFill>
                <a:latin typeface="Arial"/>
                <a:ea typeface="Arial"/>
                <a:cs typeface="Arial"/>
              </a:rPr>
              <a:t>Pass@1 / Pass@K</a:t>
            </a:r>
          </a:p>
          <a:p xmlns:a="http://schemas.openxmlformats.org/drawingml/2006/main">
            <a:pPr algn="l">
              <a:lnSpc>
                <a:spcPct val="112000"/>
              </a:lnSpc>
              <a:buNone/>
              <a:defRPr sz="1350" b="1">
                <a:solidFill>
                  <a:srgbClr val="14233B"/>
                </a:solidFill>
                <a:latin typeface="Arial"/>
                <a:ea typeface="Arial"/>
                <a:cs typeface="Arial"/>
              </a:defRPr>
            </a:pPr>
            <a:r>
              <a:rPr sz="1350" b="1">
                <a:solidFill>
                  <a:srgbClr val="14233B"/>
                </a:solidFill>
                <a:latin typeface="Arial"/>
                <a:ea typeface="Arial"/>
                <a:cs typeface="Arial"/>
              </a:rPr>
              <a:t>Chi phí và lỗi thất bại</a:t>
            </a:r>
          </a:p>
        </p:txBody>
      </p:sp>
      <p:sp>
        <p:nvSpPr>
          <p:cNvPr id="18" name="">
            <a:extLst xmlns:a="http://schemas.openxmlformats.org/drawingml/2006/main">
              <a:ext uri="{FF2B5EF4-FFF2-40B4-BE49-F238E27FC236}">
                <a16:creationId xmlns:a16="http://schemas.microsoft.com/office/drawing/2014/main" id="{4B5F93A3-0997-4339-B478-BE53BAB81795}"/>
              </a:ext>
            </a:extLst>
          </p:cNvPr>
          <p:cNvSpPr>
            <a:spLocks xmlns:a="http://schemas.openxmlformats.org/drawingml/2006/main" noGrp="1"/>
          </p:cNvSpPr>
          <p:nvPr/>
        </p:nvSpPr>
        <p:spPr>
          <a:xfrm xmlns:a="http://schemas.openxmlformats.org/drawingml/2006/main">
            <a:off x="8820150" y="2238375"/>
            <a:ext cx="2286000" cy="1885950"/>
          </a:xfrm>
          <a:prstGeom xmlns:a="http://schemas.openxmlformats.org/drawingml/2006/main" prst="roundRect">
            <a:avLst>
              <a:gd name="adj" fmla="val 7071"/>
            </a:avLst>
          </a:prstGeom>
          <a:solidFill xmlns:a="http://schemas.openxmlformats.org/drawingml/2006/main">
            <a:srgbClr val="E4F4EC"/>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B213C77-CBFB-4A7E-A767-01587D33CA5A}"/>
              </a:ext>
            </a:extLst>
          </p:cNvPr>
          <p:cNvSpPr>
            <a:spLocks xmlns:a="http://schemas.openxmlformats.org/drawingml/2006/main" noGrp="1"/>
          </p:cNvSpPr>
          <p:nvPr/>
        </p:nvSpPr>
        <p:spPr>
          <a:xfrm xmlns:a="http://schemas.openxmlformats.org/drawingml/2006/main">
            <a:off x="8991600" y="2400300"/>
            <a:ext cx="438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1">
                <a:solidFill>
                  <a:srgbClr val="23805A"/>
                </a:solidFill>
                <a:latin typeface="Arial"/>
                <a:ea typeface="Arial"/>
                <a:cs typeface="Arial"/>
              </a:defRPr>
            </a:defPPr>
          </a:lstStyle>
          <a:p xmlns:a="http://schemas.openxmlformats.org/drawingml/2006/main">
            <a:pPr algn="l">
              <a:lnSpc>
                <a:spcPct val="100000"/>
              </a:lnSpc>
              <a:buNone/>
              <a:defRPr sz="2100" b="1">
                <a:solidFill>
                  <a:srgbClr val="23805A"/>
                </a:solidFill>
                <a:latin typeface="Arial"/>
                <a:ea typeface="Arial"/>
                <a:cs typeface="Arial"/>
              </a:defRPr>
            </a:pPr>
            <a:r>
              <a:rPr sz="2100" b="1">
                <a:solidFill>
                  <a:srgbClr val="23805A"/>
                </a:solidFill>
                <a:latin typeface="Arial"/>
                <a:ea typeface="Arial"/>
                <a:cs typeface="Arial"/>
              </a:rPr>
              <a:t>04</a:t>
            </a:r>
          </a:p>
        </p:txBody>
      </p:sp>
      <p:sp>
        <p:nvSpPr>
          <p:cNvPr id="20" name="">
            <a:extLst xmlns:a="http://schemas.openxmlformats.org/drawingml/2006/main">
              <a:ext uri="{FF2B5EF4-FFF2-40B4-BE49-F238E27FC236}">
                <a16:creationId xmlns:a16="http://schemas.microsoft.com/office/drawing/2014/main" id="{B7DB83BC-090B-4A9A-AB8D-B96F274F1A3B}"/>
              </a:ext>
            </a:extLst>
          </p:cNvPr>
          <p:cNvSpPr>
            <a:spLocks xmlns:a="http://schemas.openxmlformats.org/drawingml/2006/main" noGrp="1"/>
          </p:cNvSpPr>
          <p:nvPr/>
        </p:nvSpPr>
        <p:spPr>
          <a:xfrm xmlns:a="http://schemas.openxmlformats.org/drawingml/2006/main">
            <a:off x="8991600" y="2924175"/>
            <a:ext cx="1952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23805A"/>
                </a:solidFill>
                <a:latin typeface="Arial"/>
                <a:ea typeface="Arial"/>
                <a:cs typeface="Arial"/>
              </a:defRPr>
            </a:defPPr>
          </a:lstStyle>
          <a:p xmlns:a="http://schemas.openxmlformats.org/drawingml/2006/main">
            <a:pPr algn="l">
              <a:lnSpc>
                <a:spcPct val="100000"/>
              </a:lnSpc>
              <a:buNone/>
              <a:defRPr sz="1200" b="1">
                <a:solidFill>
                  <a:srgbClr val="23805A"/>
                </a:solidFill>
                <a:latin typeface="Arial"/>
                <a:ea typeface="Arial"/>
                <a:cs typeface="Arial"/>
              </a:defRPr>
            </a:pPr>
            <a:r>
              <a:rPr sz="1200" b="1">
                <a:solidFill>
                  <a:srgbClr val="23805A"/>
                </a:solidFill>
                <a:latin typeface="Arial"/>
                <a:ea typeface="Arial"/>
                <a:cs typeface="Arial"/>
              </a:rPr>
              <a:t>BÁO CÁO</a:t>
            </a:r>
          </a:p>
        </p:txBody>
      </p:sp>
      <p:sp>
        <p:nvSpPr>
          <p:cNvPr id="21" name="">
            <a:extLst xmlns:a="http://schemas.openxmlformats.org/drawingml/2006/main">
              <a:ext uri="{FF2B5EF4-FFF2-40B4-BE49-F238E27FC236}">
                <a16:creationId xmlns:a16="http://schemas.microsoft.com/office/drawing/2014/main" id="{94560EC4-B046-415D-A0B2-60C7858231A2}"/>
              </a:ext>
            </a:extLst>
          </p:cNvPr>
          <p:cNvSpPr>
            <a:spLocks xmlns:a="http://schemas.openxmlformats.org/drawingml/2006/main" noGrp="1"/>
          </p:cNvSpPr>
          <p:nvPr/>
        </p:nvSpPr>
        <p:spPr>
          <a:xfrm xmlns:a="http://schemas.openxmlformats.org/drawingml/2006/main">
            <a:off x="8991600" y="33337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14233B"/>
                </a:solidFill>
                <a:latin typeface="Arial"/>
                <a:ea typeface="Arial"/>
                <a:cs typeface="Arial"/>
              </a:defRPr>
            </a:defPPr>
          </a:lstStyle>
          <a:p xmlns:a="http://schemas.openxmlformats.org/drawingml/2006/main">
            <a:pPr algn="l">
              <a:lnSpc>
                <a:spcPct val="112000"/>
              </a:lnSpc>
              <a:buNone/>
              <a:defRPr sz="1350" b="1">
                <a:solidFill>
                  <a:srgbClr val="14233B"/>
                </a:solidFill>
                <a:latin typeface="Arial"/>
                <a:ea typeface="Arial"/>
                <a:cs typeface="Arial"/>
              </a:defRPr>
            </a:pPr>
            <a:r>
              <a:rPr sz="1350" b="1">
                <a:solidFill>
                  <a:srgbClr val="14233B"/>
                </a:solidFill>
                <a:latin typeface="Arial"/>
                <a:ea typeface="Arial"/>
                <a:cs typeface="Arial"/>
              </a:rPr>
              <a:t>Tái lập kết quả</a:t>
            </a:r>
          </a:p>
          <a:p xmlns:a="http://schemas.openxmlformats.org/drawingml/2006/main">
            <a:pPr algn="l">
              <a:lnSpc>
                <a:spcPct val="112000"/>
              </a:lnSpc>
              <a:buNone/>
              <a:defRPr sz="1350" b="1">
                <a:solidFill>
                  <a:srgbClr val="14233B"/>
                </a:solidFill>
                <a:latin typeface="Arial"/>
                <a:ea typeface="Arial"/>
                <a:cs typeface="Arial"/>
              </a:defRPr>
            </a:pPr>
            <a:r>
              <a:rPr sz="1350" b="1">
                <a:solidFill>
                  <a:srgbClr val="14233B"/>
                </a:solidFill>
                <a:latin typeface="Arial"/>
                <a:ea typeface="Arial"/>
                <a:cs typeface="Arial"/>
              </a:rPr>
              <a:t>Báo cáo và demo</a:t>
            </a:r>
          </a:p>
        </p:txBody>
      </p:sp>
      <p:sp>
        <p:nvSpPr>
          <p:cNvPr id="22" name="">
            <a:extLst xmlns:a="http://schemas.openxmlformats.org/drawingml/2006/main">
              <a:ext uri="{FF2B5EF4-FFF2-40B4-BE49-F238E27FC236}">
                <a16:creationId xmlns:a16="http://schemas.microsoft.com/office/drawing/2014/main" id="{AFD8A93B-2E00-4BF6-8B45-B135505E01F0}"/>
              </a:ext>
            </a:extLst>
          </p:cNvPr>
          <p:cNvSpPr>
            <a:spLocks xmlns:a="http://schemas.openxmlformats.org/drawingml/2006/main" noGrp="1"/>
          </p:cNvSpPr>
          <p:nvPr/>
        </p:nvSpPr>
        <p:spPr>
          <a:xfrm xmlns:a="http://schemas.openxmlformats.org/drawingml/2006/main">
            <a:off x="2876550" y="3181350"/>
            <a:ext cx="457200" cy="0"/>
          </a:xfrm>
          <a:prstGeom xmlns:a="http://schemas.openxmlformats.org/drawingml/2006/main" prst="line">
            <a:avLst/>
          </a:prstGeom>
          <a:noFill xmlns:a="http://schemas.openxmlformats.org/drawingml/2006/main"/>
          <a:ln xmlns:a="http://schemas.openxmlformats.org/drawingml/2006/main" w="19050">
            <a:solidFill>
              <a:srgbClr val="D8E0EA"/>
            </a:solidFill>
            <a:prstDash val="solid"/>
          </a:ln>
        </p:spPr>
      </p:sp>
      <p:sp>
        <p:nvSpPr>
          <p:cNvPr id="23" name="">
            <a:extLst xmlns:a="http://schemas.openxmlformats.org/drawingml/2006/main">
              <a:ext uri="{FF2B5EF4-FFF2-40B4-BE49-F238E27FC236}">
                <a16:creationId xmlns:a16="http://schemas.microsoft.com/office/drawing/2014/main" id="{A3D6AE50-2214-4671-A257-D1291B9D8014}"/>
              </a:ext>
            </a:extLst>
          </p:cNvPr>
          <p:cNvSpPr>
            <a:spLocks xmlns:a="http://schemas.openxmlformats.org/drawingml/2006/main" noGrp="1"/>
          </p:cNvSpPr>
          <p:nvPr/>
        </p:nvSpPr>
        <p:spPr>
          <a:xfrm xmlns:a="http://schemas.openxmlformats.org/drawingml/2006/main">
            <a:off x="5619750" y="3181350"/>
            <a:ext cx="457200" cy="0"/>
          </a:xfrm>
          <a:prstGeom xmlns:a="http://schemas.openxmlformats.org/drawingml/2006/main" prst="line">
            <a:avLst/>
          </a:prstGeom>
          <a:noFill xmlns:a="http://schemas.openxmlformats.org/drawingml/2006/main"/>
          <a:ln xmlns:a="http://schemas.openxmlformats.org/drawingml/2006/main" w="19050">
            <a:solidFill>
              <a:srgbClr val="D8E0EA"/>
            </a:solidFill>
            <a:prstDash val="solid"/>
          </a:ln>
        </p:spPr>
      </p:sp>
      <p:sp>
        <p:nvSpPr>
          <p:cNvPr id="24" name="">
            <a:extLst xmlns:a="http://schemas.openxmlformats.org/drawingml/2006/main">
              <a:ext uri="{FF2B5EF4-FFF2-40B4-BE49-F238E27FC236}">
                <a16:creationId xmlns:a16="http://schemas.microsoft.com/office/drawing/2014/main" id="{449ABCD8-311A-4389-AC7F-6FEBFF08F5A1}"/>
              </a:ext>
            </a:extLst>
          </p:cNvPr>
          <p:cNvSpPr>
            <a:spLocks xmlns:a="http://schemas.openxmlformats.org/drawingml/2006/main" noGrp="1"/>
          </p:cNvSpPr>
          <p:nvPr/>
        </p:nvSpPr>
        <p:spPr>
          <a:xfrm xmlns:a="http://schemas.openxmlformats.org/drawingml/2006/main">
            <a:off x="8362950" y="3181350"/>
            <a:ext cx="457200" cy="0"/>
          </a:xfrm>
          <a:prstGeom xmlns:a="http://schemas.openxmlformats.org/drawingml/2006/main" prst="line">
            <a:avLst/>
          </a:prstGeom>
          <a:noFill xmlns:a="http://schemas.openxmlformats.org/drawingml/2006/main"/>
          <a:ln xmlns:a="http://schemas.openxmlformats.org/drawingml/2006/main" w="19050">
            <a:solidFill>
              <a:srgbClr val="D8E0EA"/>
            </a:solidFill>
            <a:prstDash val="solid"/>
          </a:ln>
        </p:spPr>
      </p:sp>
      <p:sp>
        <p:nvSpPr>
          <p:cNvPr id="25" name="">
            <a:extLst xmlns:a="http://schemas.openxmlformats.org/drawingml/2006/main">
              <a:ext uri="{FF2B5EF4-FFF2-40B4-BE49-F238E27FC236}">
                <a16:creationId xmlns:a16="http://schemas.microsoft.com/office/drawing/2014/main" id="{2B1B22C8-60AE-4938-9433-A45DEDC2C139}"/>
              </a:ext>
            </a:extLst>
          </p:cNvPr>
          <p:cNvSpPr>
            <a:spLocks xmlns:a="http://schemas.openxmlformats.org/drawingml/2006/main" noGrp="1"/>
          </p:cNvSpPr>
          <p:nvPr/>
        </p:nvSpPr>
        <p:spPr>
          <a:xfrm xmlns:a="http://schemas.openxmlformats.org/drawingml/2006/main">
            <a:off x="590550" y="4695825"/>
            <a:ext cx="10525125" cy="971550"/>
          </a:xfrm>
          <a:prstGeom xmlns:a="http://schemas.openxmlformats.org/drawingml/2006/main" prst="roundRect">
            <a:avLst>
              <a:gd name="adj" fmla="val 13725"/>
            </a:avLst>
          </a:prstGeom>
          <a:solidFill xmlns:a="http://schemas.openxmlformats.org/drawingml/2006/main">
            <a:srgbClr val="FFFFFF"/>
          </a:solidFill>
          <a:ln xmlns:a="http://schemas.openxmlformats.org/drawingml/2006/main" w="9525">
            <a:solidFill>
              <a:srgbClr val="D8E0EA"/>
            </a:solidFill>
            <a:prstDash val="solid"/>
          </a:ln>
        </p:spPr>
      </p:sp>
      <p:sp>
        <p:nvSpPr>
          <p:cNvPr id="26" name="">
            <a:extLst xmlns:a="http://schemas.openxmlformats.org/drawingml/2006/main">
              <a:ext uri="{FF2B5EF4-FFF2-40B4-BE49-F238E27FC236}">
                <a16:creationId xmlns:a16="http://schemas.microsoft.com/office/drawing/2014/main" id="{DB804724-2E7A-46D3-B703-08D60573A90C}"/>
              </a:ext>
            </a:extLst>
          </p:cNvPr>
          <p:cNvSpPr>
            <a:spLocks xmlns:a="http://schemas.openxmlformats.org/drawingml/2006/main" noGrp="1"/>
          </p:cNvSpPr>
          <p:nvPr/>
        </p:nvSpPr>
        <p:spPr>
          <a:xfrm xmlns:a="http://schemas.openxmlformats.org/drawingml/2006/main">
            <a:off x="800100" y="4857750"/>
            <a:ext cx="2333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52647A"/>
                </a:solidFill>
                <a:latin typeface="Arial"/>
                <a:ea typeface="Arial"/>
                <a:cs typeface="Arial"/>
              </a:defRPr>
            </a:defPPr>
          </a:lstStyle>
          <a:p xmlns:a="http://schemas.openxmlformats.org/drawingml/2006/main">
            <a:pPr algn="l">
              <a:lnSpc>
                <a:spcPct val="100000"/>
              </a:lnSpc>
              <a:buNone/>
              <a:defRPr sz="1125" b="1">
                <a:solidFill>
                  <a:srgbClr val="52647A"/>
                </a:solidFill>
                <a:latin typeface="Arial"/>
                <a:ea typeface="Arial"/>
                <a:cs typeface="Arial"/>
              </a:defRPr>
            </a:pPr>
            <a:r>
              <a:rPr sz="1125" b="1">
                <a:solidFill>
                  <a:srgbClr val="52647A"/>
                </a:solidFill>
                <a:latin typeface="Arial"/>
                <a:ea typeface="Arial"/>
                <a:cs typeface="Arial"/>
              </a:rPr>
              <a:t>SO SÁNH TỐI THIỂU</a:t>
            </a:r>
          </a:p>
        </p:txBody>
      </p:sp>
      <p:sp>
        <p:nvSpPr>
          <p:cNvPr id="27" name="">
            <a:extLst xmlns:a="http://schemas.openxmlformats.org/drawingml/2006/main">
              <a:ext uri="{FF2B5EF4-FFF2-40B4-BE49-F238E27FC236}">
                <a16:creationId xmlns:a16="http://schemas.microsoft.com/office/drawing/2014/main" id="{359E0B1C-0B35-45A7-A617-197F6A16EEFC}"/>
              </a:ext>
            </a:extLst>
          </p:cNvPr>
          <p:cNvSpPr>
            <a:spLocks xmlns:a="http://schemas.openxmlformats.org/drawingml/2006/main" noGrp="1"/>
          </p:cNvSpPr>
          <p:nvPr/>
        </p:nvSpPr>
        <p:spPr>
          <a:xfrm xmlns:a="http://schemas.openxmlformats.org/drawingml/2006/main">
            <a:off x="800100" y="5219700"/>
            <a:ext cx="2238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14233B"/>
                </a:solidFill>
                <a:latin typeface="Arial"/>
                <a:ea typeface="Arial"/>
                <a:cs typeface="Arial"/>
              </a:defRPr>
            </a:defPPr>
          </a:lstStyle>
          <a:p xmlns:a="http://schemas.openxmlformats.org/drawingml/2006/main">
            <a:pPr algn="l">
              <a:lnSpc>
                <a:spcPct val="100000"/>
              </a:lnSpc>
              <a:buNone/>
              <a:defRPr sz="1350" b="1">
                <a:solidFill>
                  <a:srgbClr val="14233B"/>
                </a:solidFill>
                <a:latin typeface="Arial"/>
                <a:ea typeface="Arial"/>
                <a:cs typeface="Arial"/>
              </a:defRPr>
            </a:pPr>
            <a:r>
              <a:rPr sz="1350" b="1">
                <a:solidFill>
                  <a:srgbClr val="14233B"/>
                </a:solidFill>
                <a:latin typeface="Arial"/>
                <a:ea typeface="Arial"/>
                <a:cs typeface="Arial"/>
              </a:rPr>
              <a:t>A  Sinh một lần</a:t>
            </a:r>
          </a:p>
        </p:txBody>
      </p:sp>
      <p:sp>
        <p:nvSpPr>
          <p:cNvPr id="28" name="">
            <a:extLst xmlns:a="http://schemas.openxmlformats.org/drawingml/2006/main">
              <a:ext uri="{FF2B5EF4-FFF2-40B4-BE49-F238E27FC236}">
                <a16:creationId xmlns:a16="http://schemas.microsoft.com/office/drawing/2014/main" id="{8DA15CE8-A5B0-430A-B21E-433E9AD0C9A9}"/>
              </a:ext>
            </a:extLst>
          </p:cNvPr>
          <p:cNvSpPr>
            <a:spLocks xmlns:a="http://schemas.openxmlformats.org/drawingml/2006/main" noGrp="1"/>
          </p:cNvSpPr>
          <p:nvPr/>
        </p:nvSpPr>
        <p:spPr>
          <a:xfrm xmlns:a="http://schemas.openxmlformats.org/drawingml/2006/main">
            <a:off x="3552825" y="52197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14233B"/>
                </a:solidFill>
                <a:latin typeface="Arial"/>
                <a:ea typeface="Arial"/>
                <a:cs typeface="Arial"/>
              </a:defRPr>
            </a:defPPr>
          </a:lstStyle>
          <a:p xmlns:a="http://schemas.openxmlformats.org/drawingml/2006/main">
            <a:pPr algn="l">
              <a:lnSpc>
                <a:spcPct val="100000"/>
              </a:lnSpc>
              <a:buNone/>
              <a:defRPr sz="1350" b="1">
                <a:solidFill>
                  <a:srgbClr val="14233B"/>
                </a:solidFill>
                <a:latin typeface="Arial"/>
                <a:ea typeface="Arial"/>
                <a:cs typeface="Arial"/>
              </a:defRPr>
            </a:pPr>
            <a:r>
              <a:rPr sz="1350" b="1">
                <a:solidFill>
                  <a:srgbClr val="14233B"/>
                </a:solidFill>
                <a:latin typeface="Arial"/>
                <a:ea typeface="Arial"/>
                <a:cs typeface="Arial"/>
              </a:rPr>
              <a:t>B  Sửa theo lỗi Dafny</a:t>
            </a:r>
          </a:p>
        </p:txBody>
      </p:sp>
      <p:sp>
        <p:nvSpPr>
          <p:cNvPr id="29" name="">
            <a:extLst xmlns:a="http://schemas.openxmlformats.org/drawingml/2006/main">
              <a:ext uri="{FF2B5EF4-FFF2-40B4-BE49-F238E27FC236}">
                <a16:creationId xmlns:a16="http://schemas.microsoft.com/office/drawing/2014/main" id="{CA33C5B1-ADCC-4468-8AA4-1B936925941F}"/>
              </a:ext>
            </a:extLst>
          </p:cNvPr>
          <p:cNvSpPr>
            <a:spLocks xmlns:a="http://schemas.openxmlformats.org/drawingml/2006/main" noGrp="1"/>
          </p:cNvSpPr>
          <p:nvPr/>
        </p:nvSpPr>
        <p:spPr>
          <a:xfrm xmlns:a="http://schemas.openxmlformats.org/drawingml/2006/main">
            <a:off x="7239000" y="52197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14233B"/>
                </a:solidFill>
                <a:latin typeface="Arial"/>
                <a:ea typeface="Arial"/>
                <a:cs typeface="Arial"/>
              </a:defRPr>
            </a:defPPr>
          </a:lstStyle>
          <a:p xmlns:a="http://schemas.openxmlformats.org/drawingml/2006/main">
            <a:pPr algn="l">
              <a:lnSpc>
                <a:spcPct val="100000"/>
              </a:lnSpc>
              <a:buNone/>
              <a:defRPr sz="1350" b="1">
                <a:solidFill>
                  <a:srgbClr val="14233B"/>
                </a:solidFill>
                <a:latin typeface="Arial"/>
                <a:ea typeface="Arial"/>
                <a:cs typeface="Arial"/>
              </a:defRPr>
            </a:pPr>
            <a:r>
              <a:rPr sz="1350" b="1">
                <a:solidFill>
                  <a:srgbClr val="14233B"/>
                </a:solidFill>
                <a:latin typeface="Arial"/>
                <a:ea typeface="Arial"/>
                <a:cs typeface="Arial"/>
              </a:rPr>
              <a:t>C  Pipeline đầy đủ</a:t>
            </a:r>
          </a:p>
        </p:txBody>
      </p:sp>
      <p:sp>
        <p:nvSpPr>
          <p:cNvPr id="30" name="">
            <a:extLst xmlns:a="http://schemas.openxmlformats.org/drawingml/2006/main">
              <a:ext uri="{FF2B5EF4-FFF2-40B4-BE49-F238E27FC236}">
                <a16:creationId xmlns:a16="http://schemas.microsoft.com/office/drawing/2014/main" id="{B7680B98-DEEF-45CA-99C0-53A3715B5BB1}"/>
              </a:ext>
            </a:extLst>
          </p:cNvPr>
          <p:cNvSpPr>
            <a:spLocks xmlns:a="http://schemas.openxmlformats.org/drawingml/2006/main" noGrp="1"/>
          </p:cNvSpPr>
          <p:nvPr/>
        </p:nvSpPr>
        <p:spPr>
          <a:xfrm xmlns:a="http://schemas.openxmlformats.org/drawingml/2006/main">
            <a:off x="590550" y="5895975"/>
            <a:ext cx="10429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2563EB"/>
                </a:solidFill>
                <a:latin typeface="Arial"/>
                <a:ea typeface="Arial"/>
                <a:cs typeface="Arial"/>
              </a:defRPr>
            </a:defPPr>
          </a:lstStyle>
          <a:p xmlns:a="http://schemas.openxmlformats.org/drawingml/2006/main">
            <a:pPr algn="l">
              <a:lnSpc>
                <a:spcPct val="100000"/>
              </a:lnSpc>
              <a:buNone/>
              <a:defRPr sz="1275" b="1">
                <a:solidFill>
                  <a:srgbClr val="2563EB"/>
                </a:solidFill>
                <a:latin typeface="Arial"/>
                <a:ea typeface="Arial"/>
                <a:cs typeface="Arial"/>
              </a:defRPr>
            </a:pPr>
            <a:r>
              <a:rPr sz="1275" b="1">
                <a:solidFill>
                  <a:srgbClr val="2563EB"/>
                </a:solidFill>
                <a:latin typeface="Arial"/>
                <a:ea typeface="Arial"/>
                <a:cs typeface="Arial"/>
              </a:rPr>
              <a:t>Giữ cố định tập bài, mô hình và ngân sách; lưu cả kết quả thất bại.</a:t>
            </a:r>
          </a:p>
        </p:txBody>
      </p:sp>
    </p:spTree>
    <p:extLst>
      <p:ext uri="{BB962C8B-B14F-4D97-AF65-F5344CB8AC3E}">
        <p14:creationId xmlns:p14="http://schemas.microsoft.com/office/powerpoint/2010/main" val="661561196"/>
      </p:ext>
    </p:extLst>
  </p:cSld>
</p:sld>
</file>

<file path=ppt/slides/slide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79EF09F3-8A8A-45BC-9AC0-B5CA36AC6087}"/>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6612046-D61F-4BF2-A44C-F309DF56C04D}"/>
              </a:ext>
            </a:extLst>
          </p:cNvPr>
          <p:cNvSpPr>
            <a:spLocks xmlns:a="http://schemas.openxmlformats.org/drawingml/2006/main" noGrp="1"/>
          </p:cNvSpPr>
          <p:nvPr/>
        </p:nvSpPr>
        <p:spPr>
          <a:xfrm xmlns:a="http://schemas.openxmlformats.org/drawingml/2006/main">
            <a:off x="590550" y="3238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2563EB"/>
                </a:solidFill>
                <a:latin typeface="Arial"/>
                <a:ea typeface="Arial"/>
                <a:cs typeface="Arial"/>
              </a:defRPr>
            </a:defPPr>
          </a:lstStyle>
          <a:p xmlns:a="http://schemas.openxmlformats.org/drawingml/2006/main">
            <a:pPr algn="l">
              <a:lnSpc>
                <a:spcPct val="100000"/>
              </a:lnSpc>
              <a:buNone/>
              <a:defRPr sz="975" b="1">
                <a:solidFill>
                  <a:srgbClr val="2563EB"/>
                </a:solidFill>
                <a:latin typeface="Arial"/>
                <a:ea typeface="Arial"/>
                <a:cs typeface="Arial"/>
              </a:defRPr>
            </a:pPr>
            <a:r>
              <a:rPr sz="975" b="1">
                <a:solidFill>
                  <a:srgbClr val="2563EB"/>
                </a:solidFill>
                <a:latin typeface="Arial"/>
                <a:ea typeface="Arial"/>
                <a:cs typeface="Arial"/>
              </a:rPr>
              <a:t>NCKH SINH VIÊN 2026</a:t>
            </a:r>
          </a:p>
        </p:txBody>
      </p:sp>
      <p:sp>
        <p:nvSpPr>
          <p:cNvPr id="3" name="">
            <a:extLst xmlns:a="http://schemas.openxmlformats.org/drawingml/2006/main">
              <a:ext uri="{FF2B5EF4-FFF2-40B4-BE49-F238E27FC236}">
                <a16:creationId xmlns:a16="http://schemas.microsoft.com/office/drawing/2014/main" id="{9C1FAFEB-9D19-4311-8DD2-9F1B122F93E2}"/>
              </a:ext>
            </a:extLst>
          </p:cNvPr>
          <p:cNvSpPr>
            <a:spLocks xmlns:a="http://schemas.openxmlformats.org/drawingml/2006/main" noGrp="1"/>
          </p:cNvSpPr>
          <p:nvPr/>
        </p:nvSpPr>
        <p:spPr>
          <a:xfrm xmlns:a="http://schemas.openxmlformats.org/drawingml/2006/main">
            <a:off x="590550" y="666750"/>
            <a:ext cx="11010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550" b="1">
                <a:solidFill>
                  <a:srgbClr val="14233B"/>
                </a:solidFill>
                <a:latin typeface="Arial"/>
                <a:ea typeface="Arial"/>
                <a:cs typeface="Arial"/>
              </a:defRPr>
            </a:defPPr>
          </a:lstStyle>
          <a:p xmlns:a="http://schemas.openxmlformats.org/drawingml/2006/main">
            <a:pPr algn="l">
              <a:lnSpc>
                <a:spcPct val="100000"/>
              </a:lnSpc>
              <a:buNone/>
              <a:defRPr sz="2550" b="1">
                <a:solidFill>
                  <a:srgbClr val="14233B"/>
                </a:solidFill>
                <a:latin typeface="Arial"/>
                <a:ea typeface="Arial"/>
                <a:cs typeface="Arial"/>
              </a:defRPr>
            </a:pPr>
            <a:r>
              <a:rPr sz="2550" b="1">
                <a:solidFill>
                  <a:srgbClr val="14233B"/>
                </a:solidFill>
                <a:latin typeface="Arial"/>
                <a:ea typeface="Arial"/>
                <a:cs typeface="Arial"/>
              </a:rPr>
              <a:t>Kết quả dự kiến và giới hạn</a:t>
            </a:r>
          </a:p>
        </p:txBody>
      </p:sp>
      <p:sp>
        <p:nvSpPr>
          <p:cNvPr id="4" name="">
            <a:extLst xmlns:a="http://schemas.openxmlformats.org/drawingml/2006/main">
              <a:ext uri="{FF2B5EF4-FFF2-40B4-BE49-F238E27FC236}">
                <a16:creationId xmlns:a16="http://schemas.microsoft.com/office/drawing/2014/main" id="{5306B6AA-4B56-4466-B39E-96CC095E2DC4}"/>
              </a:ext>
            </a:extLst>
          </p:cNvPr>
          <p:cNvSpPr>
            <a:spLocks xmlns:a="http://schemas.openxmlformats.org/drawingml/2006/main" noGrp="1"/>
          </p:cNvSpPr>
          <p:nvPr/>
        </p:nvSpPr>
        <p:spPr>
          <a:xfrm xmlns:a="http://schemas.openxmlformats.org/drawingml/2006/main">
            <a:off x="590550" y="1304925"/>
            <a:ext cx="110109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5" name="">
            <a:extLst xmlns:a="http://schemas.openxmlformats.org/drawingml/2006/main">
              <a:ext uri="{FF2B5EF4-FFF2-40B4-BE49-F238E27FC236}">
                <a16:creationId xmlns:a16="http://schemas.microsoft.com/office/drawing/2014/main" id="{21846E71-85E5-4EDE-BCF7-00153773772D}"/>
              </a:ext>
            </a:extLst>
          </p:cNvPr>
          <p:cNvSpPr>
            <a:spLocks xmlns:a="http://schemas.openxmlformats.org/drawingml/2006/main" noGrp="1"/>
          </p:cNvSpPr>
          <p:nvPr/>
        </p:nvSpPr>
        <p:spPr>
          <a:xfrm xmlns:a="http://schemas.openxmlformats.org/drawingml/2006/main">
            <a:off x="10572750" y="6438900"/>
            <a:ext cx="1028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52647A"/>
                </a:solidFill>
                <a:latin typeface="Arial"/>
                <a:ea typeface="Arial"/>
                <a:cs typeface="Arial"/>
              </a:defRPr>
            </a:defPPr>
          </a:lstStyle>
          <a:p xmlns:a="http://schemas.openxmlformats.org/drawingml/2006/main">
            <a:pPr algn="r">
              <a:lnSpc>
                <a:spcPct val="100000"/>
              </a:lnSpc>
              <a:buNone/>
              <a:defRPr sz="975" b="1">
                <a:solidFill>
                  <a:srgbClr val="52647A"/>
                </a:solidFill>
                <a:latin typeface="Arial"/>
                <a:ea typeface="Arial"/>
                <a:cs typeface="Arial"/>
              </a:defRPr>
            </a:pPr>
            <a:r>
              <a:rPr sz="975" b="1">
                <a:solidFill>
                  <a:srgbClr val="52647A"/>
                </a:solidFill>
                <a:latin typeface="Arial"/>
                <a:ea typeface="Arial"/>
                <a:cs typeface="Arial"/>
              </a:rPr>
              <a:t>07  /  07</a:t>
            </a:r>
          </a:p>
        </p:txBody>
      </p:sp>
      <p:sp>
        <p:nvSpPr>
          <p:cNvPr id="6" name="">
            <a:extLst xmlns:a="http://schemas.openxmlformats.org/drawingml/2006/main">
              <a:ext uri="{FF2B5EF4-FFF2-40B4-BE49-F238E27FC236}">
                <a16:creationId xmlns:a16="http://schemas.microsoft.com/office/drawing/2014/main" id="{A05DFA5F-B3DC-4C62-8A11-69BB3A57C6E6}"/>
              </a:ext>
            </a:extLst>
          </p:cNvPr>
          <p:cNvSpPr>
            <a:spLocks xmlns:a="http://schemas.openxmlformats.org/drawingml/2006/main" noGrp="1"/>
          </p:cNvSpPr>
          <p:nvPr/>
        </p:nvSpPr>
        <p:spPr>
          <a:xfrm xmlns:a="http://schemas.openxmlformats.org/drawingml/2006/main">
            <a:off x="590550" y="1581150"/>
            <a:ext cx="3476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2563EB"/>
                </a:solidFill>
                <a:latin typeface="Arial"/>
                <a:ea typeface="Arial"/>
                <a:cs typeface="Arial"/>
              </a:defRPr>
            </a:defPPr>
          </a:lstStyle>
          <a:p xmlns:a="http://schemas.openxmlformats.org/drawingml/2006/main">
            <a:pPr algn="l">
              <a:lnSpc>
                <a:spcPct val="100000"/>
              </a:lnSpc>
              <a:buNone/>
              <a:defRPr sz="1350" b="1">
                <a:solidFill>
                  <a:srgbClr val="2563EB"/>
                </a:solidFill>
                <a:latin typeface="Arial"/>
                <a:ea typeface="Arial"/>
                <a:cs typeface="Arial"/>
              </a:defRPr>
            </a:pPr>
            <a:r>
              <a:rPr sz="1350" b="1">
                <a:solidFill>
                  <a:srgbClr val="2563EB"/>
                </a:solidFill>
                <a:latin typeface="Arial"/>
                <a:ea typeface="Arial"/>
                <a:cs typeface="Arial"/>
              </a:rPr>
              <a:t>Đầu ra dự kiến</a:t>
            </a:r>
          </a:p>
        </p:txBody>
      </p:sp>
      <p:sp>
        <p:nvSpPr>
          <p:cNvPr id="7" name="">
            <a:extLst xmlns:a="http://schemas.openxmlformats.org/drawingml/2006/main">
              <a:ext uri="{FF2B5EF4-FFF2-40B4-BE49-F238E27FC236}">
                <a16:creationId xmlns:a16="http://schemas.microsoft.com/office/drawing/2014/main" id="{807CC0F2-3BF3-440E-ABBA-AEC841E339CC}"/>
              </a:ext>
            </a:extLst>
          </p:cNvPr>
          <p:cNvSpPr>
            <a:spLocks xmlns:a="http://schemas.openxmlformats.org/drawingml/2006/main" noGrp="1"/>
          </p:cNvSpPr>
          <p:nvPr/>
        </p:nvSpPr>
        <p:spPr>
          <a:xfrm xmlns:a="http://schemas.openxmlformats.org/drawingml/2006/main">
            <a:off x="647700" y="2133600"/>
            <a:ext cx="171450" cy="171450"/>
          </a:xfrm>
          <a:prstGeom xmlns:a="http://schemas.openxmlformats.org/drawingml/2006/main" prst="ellipse">
            <a:avLst/>
          </a:prstGeom>
          <a:solidFill xmlns:a="http://schemas.openxmlformats.org/drawingml/2006/main">
            <a:srgbClr val="0F8B8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F10BDA7-16B0-4D2C-9E0D-6672A5289E9E}"/>
              </a:ext>
            </a:extLst>
          </p:cNvPr>
          <p:cNvSpPr>
            <a:spLocks xmlns:a="http://schemas.openxmlformats.org/drawingml/2006/main" noGrp="1"/>
          </p:cNvSpPr>
          <p:nvPr/>
        </p:nvSpPr>
        <p:spPr>
          <a:xfrm xmlns:a="http://schemas.openxmlformats.org/drawingml/2006/main">
            <a:off x="971550" y="20955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14233B"/>
                </a:solidFill>
                <a:latin typeface="Arial"/>
                <a:ea typeface="Arial"/>
                <a:cs typeface="Arial"/>
              </a:defRPr>
            </a:defPPr>
          </a:lstStyle>
          <a:p xmlns:a="http://schemas.openxmlformats.org/drawingml/2006/main">
            <a:pPr algn="l">
              <a:lnSpc>
                <a:spcPct val="100000"/>
              </a:lnSpc>
              <a:buNone/>
              <a:defRPr sz="1425" b="1">
                <a:solidFill>
                  <a:srgbClr val="14233B"/>
                </a:solidFill>
                <a:latin typeface="Arial"/>
                <a:ea typeface="Arial"/>
                <a:cs typeface="Arial"/>
              </a:defRPr>
            </a:pPr>
            <a:r>
              <a:rPr sz="1425" b="1">
                <a:solidFill>
                  <a:srgbClr val="14233B"/>
                </a:solidFill>
                <a:latin typeface="Arial"/>
                <a:ea typeface="Arial"/>
                <a:cs typeface="Arial"/>
              </a:rPr>
              <a:t>Prototype</a:t>
            </a:r>
          </a:p>
        </p:txBody>
      </p:sp>
      <p:sp>
        <p:nvSpPr>
          <p:cNvPr id="9" name="">
            <a:extLst xmlns:a="http://schemas.openxmlformats.org/drawingml/2006/main">
              <a:ext uri="{FF2B5EF4-FFF2-40B4-BE49-F238E27FC236}">
                <a16:creationId xmlns:a16="http://schemas.microsoft.com/office/drawing/2014/main" id="{E16E820F-89F5-4409-BD6F-13ABF953AF2B}"/>
              </a:ext>
            </a:extLst>
          </p:cNvPr>
          <p:cNvSpPr>
            <a:spLocks xmlns:a="http://schemas.openxmlformats.org/drawingml/2006/main" noGrp="1"/>
          </p:cNvSpPr>
          <p:nvPr/>
        </p:nvSpPr>
        <p:spPr>
          <a:xfrm xmlns:a="http://schemas.openxmlformats.org/drawingml/2006/main">
            <a:off x="971550" y="2419350"/>
            <a:ext cx="4619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0">
                <a:solidFill>
                  <a:srgbClr val="52647A"/>
                </a:solidFill>
                <a:latin typeface="Arial"/>
                <a:ea typeface="Arial"/>
                <a:cs typeface="Arial"/>
              </a:defRPr>
            </a:defPPr>
          </a:lstStyle>
          <a:p xmlns:a="http://schemas.openxmlformats.org/drawingml/2006/main">
            <a:pPr algn="l">
              <a:lnSpc>
                <a:spcPct val="100000"/>
              </a:lnSpc>
              <a:buNone/>
              <a:defRPr sz="1200" b="0">
                <a:solidFill>
                  <a:srgbClr val="52647A"/>
                </a:solidFill>
                <a:latin typeface="Arial"/>
                <a:ea typeface="Arial"/>
                <a:cs typeface="Arial"/>
              </a:defRPr>
            </a:pPr>
            <a:r>
              <a:rPr sz="1200" b="0">
                <a:solidFill>
                  <a:srgbClr val="52647A"/>
                </a:solidFill>
                <a:latin typeface="Arial"/>
                <a:ea typeface="Arial"/>
                <a:cs typeface="Arial"/>
              </a:rPr>
              <a:t>Pipeline sinh mã và kiểm chứng Dafny/Z3</a:t>
            </a:r>
          </a:p>
        </p:txBody>
      </p:sp>
      <p:sp>
        <p:nvSpPr>
          <p:cNvPr id="10" name="">
            <a:extLst xmlns:a="http://schemas.openxmlformats.org/drawingml/2006/main">
              <a:ext uri="{FF2B5EF4-FFF2-40B4-BE49-F238E27FC236}">
                <a16:creationId xmlns:a16="http://schemas.microsoft.com/office/drawing/2014/main" id="{11293568-578F-41B2-8BB5-B040EDAB6294}"/>
              </a:ext>
            </a:extLst>
          </p:cNvPr>
          <p:cNvSpPr>
            <a:spLocks xmlns:a="http://schemas.openxmlformats.org/drawingml/2006/main" noGrp="1"/>
          </p:cNvSpPr>
          <p:nvPr/>
        </p:nvSpPr>
        <p:spPr>
          <a:xfrm xmlns:a="http://schemas.openxmlformats.org/drawingml/2006/main">
            <a:off x="647700" y="3009900"/>
            <a:ext cx="171450" cy="171450"/>
          </a:xfrm>
          <a:prstGeom xmlns:a="http://schemas.openxmlformats.org/drawingml/2006/main" prst="ellipse">
            <a:avLst/>
          </a:prstGeom>
          <a:solidFill xmlns:a="http://schemas.openxmlformats.org/drawingml/2006/main">
            <a:srgbClr val="0F8B8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E67D1E2-3A02-45CB-A990-02DC1FE1C251}"/>
              </a:ext>
            </a:extLst>
          </p:cNvPr>
          <p:cNvSpPr>
            <a:spLocks xmlns:a="http://schemas.openxmlformats.org/drawingml/2006/main" noGrp="1"/>
          </p:cNvSpPr>
          <p:nvPr/>
        </p:nvSpPr>
        <p:spPr>
          <a:xfrm xmlns:a="http://schemas.openxmlformats.org/drawingml/2006/main">
            <a:off x="971550" y="29718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14233B"/>
                </a:solidFill>
                <a:latin typeface="Arial"/>
                <a:ea typeface="Arial"/>
                <a:cs typeface="Arial"/>
              </a:defRPr>
            </a:defPPr>
          </a:lstStyle>
          <a:p xmlns:a="http://schemas.openxmlformats.org/drawingml/2006/main">
            <a:pPr algn="l">
              <a:lnSpc>
                <a:spcPct val="100000"/>
              </a:lnSpc>
              <a:buNone/>
              <a:defRPr sz="1425" b="1">
                <a:solidFill>
                  <a:srgbClr val="14233B"/>
                </a:solidFill>
                <a:latin typeface="Arial"/>
                <a:ea typeface="Arial"/>
                <a:cs typeface="Arial"/>
              </a:defRPr>
            </a:pPr>
            <a:r>
              <a:rPr sz="1425" b="1">
                <a:solidFill>
                  <a:srgbClr val="14233B"/>
                </a:solidFill>
                <a:latin typeface="Arial"/>
                <a:ea typeface="Arial"/>
                <a:cs typeface="Arial"/>
              </a:rPr>
              <a:t>Benchmark có manifest</a:t>
            </a:r>
          </a:p>
        </p:txBody>
      </p:sp>
      <p:sp>
        <p:nvSpPr>
          <p:cNvPr id="12" name="">
            <a:extLst xmlns:a="http://schemas.openxmlformats.org/drawingml/2006/main">
              <a:ext uri="{FF2B5EF4-FFF2-40B4-BE49-F238E27FC236}">
                <a16:creationId xmlns:a16="http://schemas.microsoft.com/office/drawing/2014/main" id="{A376571F-49AA-4497-A38A-209C1BA330EE}"/>
              </a:ext>
            </a:extLst>
          </p:cNvPr>
          <p:cNvSpPr>
            <a:spLocks xmlns:a="http://schemas.openxmlformats.org/drawingml/2006/main" noGrp="1"/>
          </p:cNvSpPr>
          <p:nvPr/>
        </p:nvSpPr>
        <p:spPr>
          <a:xfrm xmlns:a="http://schemas.openxmlformats.org/drawingml/2006/main">
            <a:off x="971550" y="3295650"/>
            <a:ext cx="4619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0">
                <a:solidFill>
                  <a:srgbClr val="52647A"/>
                </a:solidFill>
                <a:latin typeface="Arial"/>
                <a:ea typeface="Arial"/>
                <a:cs typeface="Arial"/>
              </a:defRPr>
            </a:defPPr>
          </a:lstStyle>
          <a:p xmlns:a="http://schemas.openxmlformats.org/drawingml/2006/main">
            <a:pPr algn="l">
              <a:lnSpc>
                <a:spcPct val="100000"/>
              </a:lnSpc>
              <a:buNone/>
              <a:defRPr sz="1200" b="0">
                <a:solidFill>
                  <a:srgbClr val="52647A"/>
                </a:solidFill>
                <a:latin typeface="Arial"/>
                <a:ea typeface="Arial"/>
                <a:cs typeface="Arial"/>
              </a:defRPr>
            </a:pPr>
            <a:r>
              <a:rPr sz="1200" b="0">
                <a:solidFill>
                  <a:srgbClr val="52647A"/>
                </a:solidFill>
                <a:latin typeface="Arial"/>
                <a:ea typeface="Arial"/>
                <a:cs typeface="Arial"/>
              </a:rPr>
              <a:t>Nguồn, đặc tả, cấu hình và trạng thái chạy</a:t>
            </a:r>
          </a:p>
        </p:txBody>
      </p:sp>
      <p:sp>
        <p:nvSpPr>
          <p:cNvPr id="13" name="">
            <a:extLst xmlns:a="http://schemas.openxmlformats.org/drawingml/2006/main">
              <a:ext uri="{FF2B5EF4-FFF2-40B4-BE49-F238E27FC236}">
                <a16:creationId xmlns:a16="http://schemas.microsoft.com/office/drawing/2014/main" id="{5F72EF78-8955-48C4-ABDC-BB601A6D84BF}"/>
              </a:ext>
            </a:extLst>
          </p:cNvPr>
          <p:cNvSpPr>
            <a:spLocks xmlns:a="http://schemas.openxmlformats.org/drawingml/2006/main" noGrp="1"/>
          </p:cNvSpPr>
          <p:nvPr/>
        </p:nvSpPr>
        <p:spPr>
          <a:xfrm xmlns:a="http://schemas.openxmlformats.org/drawingml/2006/main">
            <a:off x="647700" y="3886200"/>
            <a:ext cx="171450" cy="171450"/>
          </a:xfrm>
          <a:prstGeom xmlns:a="http://schemas.openxmlformats.org/drawingml/2006/main" prst="ellipse">
            <a:avLst/>
          </a:prstGeom>
          <a:solidFill xmlns:a="http://schemas.openxmlformats.org/drawingml/2006/main">
            <a:srgbClr val="0F8B8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D2A47B4-C1DA-48E3-B21D-B18FB517F938}"/>
              </a:ext>
            </a:extLst>
          </p:cNvPr>
          <p:cNvSpPr>
            <a:spLocks xmlns:a="http://schemas.openxmlformats.org/drawingml/2006/main" noGrp="1"/>
          </p:cNvSpPr>
          <p:nvPr/>
        </p:nvSpPr>
        <p:spPr>
          <a:xfrm xmlns:a="http://schemas.openxmlformats.org/drawingml/2006/main">
            <a:off x="971550" y="38481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14233B"/>
                </a:solidFill>
                <a:latin typeface="Arial"/>
                <a:ea typeface="Arial"/>
                <a:cs typeface="Arial"/>
              </a:defRPr>
            </a:defPPr>
          </a:lstStyle>
          <a:p xmlns:a="http://schemas.openxmlformats.org/drawingml/2006/main">
            <a:pPr algn="l">
              <a:lnSpc>
                <a:spcPct val="100000"/>
              </a:lnSpc>
              <a:buNone/>
              <a:defRPr sz="1425" b="1">
                <a:solidFill>
                  <a:srgbClr val="14233B"/>
                </a:solidFill>
                <a:latin typeface="Arial"/>
                <a:ea typeface="Arial"/>
                <a:cs typeface="Arial"/>
              </a:defRPr>
            </a:pPr>
            <a:r>
              <a:rPr sz="1425" b="1">
                <a:solidFill>
                  <a:srgbClr val="14233B"/>
                </a:solidFill>
                <a:latin typeface="Arial"/>
                <a:ea typeface="Arial"/>
                <a:cs typeface="Arial"/>
              </a:rPr>
              <a:t>Báo cáo thực nghiệm</a:t>
            </a:r>
          </a:p>
        </p:txBody>
      </p:sp>
      <p:sp>
        <p:nvSpPr>
          <p:cNvPr id="15" name="">
            <a:extLst xmlns:a="http://schemas.openxmlformats.org/drawingml/2006/main">
              <a:ext uri="{FF2B5EF4-FFF2-40B4-BE49-F238E27FC236}">
                <a16:creationId xmlns:a16="http://schemas.microsoft.com/office/drawing/2014/main" id="{29422ABB-7906-4B75-9410-17CE6119BD6B}"/>
              </a:ext>
            </a:extLst>
          </p:cNvPr>
          <p:cNvSpPr>
            <a:spLocks xmlns:a="http://schemas.openxmlformats.org/drawingml/2006/main" noGrp="1"/>
          </p:cNvSpPr>
          <p:nvPr/>
        </p:nvSpPr>
        <p:spPr>
          <a:xfrm xmlns:a="http://schemas.openxmlformats.org/drawingml/2006/main">
            <a:off x="971550" y="4171950"/>
            <a:ext cx="4619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0">
                <a:solidFill>
                  <a:srgbClr val="52647A"/>
                </a:solidFill>
                <a:latin typeface="Arial"/>
                <a:ea typeface="Arial"/>
                <a:cs typeface="Arial"/>
              </a:defRPr>
            </a:defPPr>
          </a:lstStyle>
          <a:p xmlns:a="http://schemas.openxmlformats.org/drawingml/2006/main">
            <a:pPr algn="l">
              <a:lnSpc>
                <a:spcPct val="100000"/>
              </a:lnSpc>
              <a:buNone/>
              <a:defRPr sz="1200" b="0">
                <a:solidFill>
                  <a:srgbClr val="52647A"/>
                </a:solidFill>
                <a:latin typeface="Arial"/>
                <a:ea typeface="Arial"/>
                <a:cs typeface="Arial"/>
              </a:defRPr>
            </a:pPr>
            <a:r>
              <a:rPr sz="1200" b="0">
                <a:solidFill>
                  <a:srgbClr val="52647A"/>
                </a:solidFill>
                <a:latin typeface="Arial"/>
                <a:ea typeface="Arial"/>
                <a:cs typeface="Arial"/>
              </a:rPr>
              <a:t>Baseline, ablation khả thi, phân tích lỗi</a:t>
            </a:r>
          </a:p>
        </p:txBody>
      </p:sp>
      <p:sp>
        <p:nvSpPr>
          <p:cNvPr id="16" name="">
            <a:extLst xmlns:a="http://schemas.openxmlformats.org/drawingml/2006/main">
              <a:ext uri="{FF2B5EF4-FFF2-40B4-BE49-F238E27FC236}">
                <a16:creationId xmlns:a16="http://schemas.microsoft.com/office/drawing/2014/main" id="{11CA0502-E081-4B87-8FEC-008DB6E3F651}"/>
              </a:ext>
            </a:extLst>
          </p:cNvPr>
          <p:cNvSpPr>
            <a:spLocks xmlns:a="http://schemas.openxmlformats.org/drawingml/2006/main" noGrp="1"/>
          </p:cNvSpPr>
          <p:nvPr/>
        </p:nvSpPr>
        <p:spPr>
          <a:xfrm xmlns:a="http://schemas.openxmlformats.org/drawingml/2006/main">
            <a:off x="6572250" y="1571625"/>
            <a:ext cx="5029200" cy="2667000"/>
          </a:xfrm>
          <a:prstGeom xmlns:a="http://schemas.openxmlformats.org/drawingml/2006/main" prst="roundRect">
            <a:avLst>
              <a:gd name="adj" fmla="val 5000"/>
            </a:avLst>
          </a:prstGeom>
          <a:solidFill xmlns:a="http://schemas.openxmlformats.org/drawingml/2006/main">
            <a:srgbClr val="FFF2D9"/>
          </a:solidFill>
          <a:ln xmlns:a="http://schemas.openxmlformats.org/drawingml/2006/main" w="9525">
            <a:solidFill>
              <a:srgbClr val="EAD29E"/>
            </a:solidFill>
            <a:prstDash val="solid"/>
          </a:ln>
        </p:spPr>
      </p:sp>
      <p:sp>
        <p:nvSpPr>
          <p:cNvPr id="17" name="">
            <a:extLst xmlns:a="http://schemas.openxmlformats.org/drawingml/2006/main">
              <a:ext uri="{FF2B5EF4-FFF2-40B4-BE49-F238E27FC236}">
                <a16:creationId xmlns:a16="http://schemas.microsoft.com/office/drawing/2014/main" id="{27F00E3D-7A14-4775-B104-96B6605C9DF5}"/>
              </a:ext>
            </a:extLst>
          </p:cNvPr>
          <p:cNvSpPr>
            <a:spLocks xmlns:a="http://schemas.openxmlformats.org/drawingml/2006/main" noGrp="1"/>
          </p:cNvSpPr>
          <p:nvPr/>
        </p:nvSpPr>
        <p:spPr>
          <a:xfrm xmlns:a="http://schemas.openxmlformats.org/drawingml/2006/main">
            <a:off x="6838950" y="179070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C47A11"/>
                </a:solidFill>
                <a:latin typeface="Arial"/>
                <a:ea typeface="Arial"/>
                <a:cs typeface="Arial"/>
              </a:defRPr>
            </a:defPPr>
          </a:lstStyle>
          <a:p xmlns:a="http://schemas.openxmlformats.org/drawingml/2006/main">
            <a:pPr algn="l">
              <a:lnSpc>
                <a:spcPct val="100000"/>
              </a:lnSpc>
              <a:buNone/>
              <a:defRPr sz="1200" b="1">
                <a:solidFill>
                  <a:srgbClr val="C47A11"/>
                </a:solidFill>
                <a:latin typeface="Arial"/>
                <a:ea typeface="Arial"/>
                <a:cs typeface="Arial"/>
              </a:defRPr>
            </a:pPr>
            <a:r>
              <a:rPr sz="1200" b="1">
                <a:solidFill>
                  <a:srgbClr val="C47A11"/>
                </a:solidFill>
                <a:latin typeface="Arial"/>
                <a:ea typeface="Arial"/>
                <a:cs typeface="Arial"/>
              </a:rPr>
              <a:t>GIỚI HẠN CẦN NÊU</a:t>
            </a:r>
          </a:p>
        </p:txBody>
      </p:sp>
      <p:sp>
        <p:nvSpPr>
          <p:cNvPr id="18" name="">
            <a:extLst xmlns:a="http://schemas.openxmlformats.org/drawingml/2006/main">
              <a:ext uri="{FF2B5EF4-FFF2-40B4-BE49-F238E27FC236}">
                <a16:creationId xmlns:a16="http://schemas.microsoft.com/office/drawing/2014/main" id="{B4035E84-09F4-425D-86C3-E8A93352D1B9}"/>
              </a:ext>
            </a:extLst>
          </p:cNvPr>
          <p:cNvSpPr>
            <a:spLocks xmlns:a="http://schemas.openxmlformats.org/drawingml/2006/main" noGrp="1"/>
          </p:cNvSpPr>
          <p:nvPr/>
        </p:nvSpPr>
        <p:spPr>
          <a:xfrm xmlns:a="http://schemas.openxmlformats.org/drawingml/2006/main">
            <a:off x="6838950" y="2247900"/>
            <a:ext cx="44005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14233B"/>
                </a:solidFill>
                <a:latin typeface="Arial"/>
                <a:ea typeface="Arial"/>
                <a:cs typeface="Arial"/>
              </a:defRPr>
            </a:defPPr>
          </a:lstStyle>
          <a:p xmlns:a="http://schemas.openxmlformats.org/drawingml/2006/main">
            <a:pPr algn="l">
              <a:lnSpc>
                <a:spcPct val="125000"/>
              </a:lnSpc>
              <a:buNone/>
              <a:defRPr sz="1350" b="0">
                <a:solidFill>
                  <a:srgbClr val="14233B"/>
                </a:solidFill>
                <a:latin typeface="Arial"/>
                <a:ea typeface="Arial"/>
                <a:cs typeface="Arial"/>
              </a:defRPr>
            </a:pPr>
            <a:r>
              <a:rPr sz="1350" b="0">
                <a:solidFill>
                  <a:srgbClr val="14233B"/>
                </a:solidFill>
                <a:latin typeface="Arial"/>
                <a:ea typeface="Arial"/>
                <a:cs typeface="Arial"/>
              </a:rPr>
              <a:t>• Phụ thuộc độ đúng và độ đủ của đặc tả</a:t>
            </a:r>
          </a:p>
          <a:p xmlns:a="http://schemas.openxmlformats.org/drawingml/2006/main">
            <a:pPr algn="l">
              <a:lnSpc>
                <a:spcPct val="125000"/>
              </a:lnSpc>
              <a:buNone/>
              <a:defRPr sz="1350" b="0">
                <a:solidFill>
                  <a:srgbClr val="14233B"/>
                </a:solidFill>
                <a:latin typeface="Arial"/>
                <a:ea typeface="Arial"/>
                <a:cs typeface="Arial"/>
              </a:defRPr>
            </a:pPr>
            <a:r>
              <a:rPr sz="1350" b="0">
                <a:solidFill>
                  <a:srgbClr val="14233B"/>
                </a:solidFill>
                <a:latin typeface="Arial"/>
                <a:ea typeface="Arial"/>
                <a:cs typeface="Arial"/>
              </a:rPr>
              <a:t>• Tập bài hiện tại còn nhỏ, kết quả mới là pilot</a:t>
            </a:r>
          </a:p>
          <a:p xmlns:a="http://schemas.openxmlformats.org/drawingml/2006/main">
            <a:pPr algn="l">
              <a:lnSpc>
                <a:spcPct val="125000"/>
              </a:lnSpc>
              <a:buNone/>
              <a:defRPr sz="1350" b="0">
                <a:solidFill>
                  <a:srgbClr val="14233B"/>
                </a:solidFill>
                <a:latin typeface="Arial"/>
                <a:ea typeface="Arial"/>
                <a:cs typeface="Arial"/>
              </a:defRPr>
            </a:pPr>
            <a:r>
              <a:rPr sz="1350" b="0">
                <a:solidFill>
                  <a:srgbClr val="14233B"/>
                </a:solidFill>
                <a:latin typeface="Arial"/>
                <a:ea typeface="Arial"/>
                <a:cs typeface="Arial"/>
              </a:rPr>
              <a:t>• Chưa suy rộng sang ngôn ngữ khác</a:t>
            </a:r>
          </a:p>
          <a:p xmlns:a="http://schemas.openxmlformats.org/drawingml/2006/main">
            <a:pPr algn="l">
              <a:lnSpc>
                <a:spcPct val="125000"/>
              </a:lnSpc>
              <a:buNone/>
              <a:defRPr sz="1350" b="0">
                <a:solidFill>
                  <a:srgbClr val="14233B"/>
                </a:solidFill>
                <a:latin typeface="Arial"/>
                <a:ea typeface="Arial"/>
                <a:cs typeface="Arial"/>
              </a:defRPr>
            </a:pPr>
            <a:r>
              <a:rPr sz="1350" b="0">
                <a:solidFill>
                  <a:srgbClr val="14233B"/>
                </a:solidFill>
                <a:latin typeface="Arial"/>
                <a:ea typeface="Arial"/>
                <a:cs typeface="Arial"/>
              </a:rPr>
              <a:t>• “Verified” nghĩa là Dafny xác minh theo đặc tả</a:t>
            </a:r>
          </a:p>
        </p:txBody>
      </p:sp>
      <p:sp>
        <p:nvSpPr>
          <p:cNvPr id="19" name="">
            <a:extLst xmlns:a="http://schemas.openxmlformats.org/drawingml/2006/main">
              <a:ext uri="{FF2B5EF4-FFF2-40B4-BE49-F238E27FC236}">
                <a16:creationId xmlns:a16="http://schemas.microsoft.com/office/drawing/2014/main" id="{BF43098B-6042-4DE1-A190-7A2D69D17E79}"/>
              </a:ext>
            </a:extLst>
          </p:cNvPr>
          <p:cNvSpPr>
            <a:spLocks xmlns:a="http://schemas.openxmlformats.org/drawingml/2006/main" noGrp="1"/>
          </p:cNvSpPr>
          <p:nvPr/>
        </p:nvSpPr>
        <p:spPr>
          <a:xfrm xmlns:a="http://schemas.openxmlformats.org/drawingml/2006/main">
            <a:off x="590550" y="4933950"/>
            <a:ext cx="11010900" cy="781050"/>
          </a:xfrm>
          <a:prstGeom xmlns:a="http://schemas.openxmlformats.org/drawingml/2006/main" prst="roundRect">
            <a:avLst>
              <a:gd name="adj" fmla="val 17073"/>
            </a:avLst>
          </a:prstGeom>
          <a:solidFill xmlns:a="http://schemas.openxmlformats.org/drawingml/2006/main">
            <a:srgbClr val="14233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D7FEBD8-9E7E-45CF-A904-945C11E27375}"/>
              </a:ext>
            </a:extLst>
          </p:cNvPr>
          <p:cNvSpPr>
            <a:spLocks xmlns:a="http://schemas.openxmlformats.org/drawingml/2006/main" noGrp="1"/>
          </p:cNvSpPr>
          <p:nvPr/>
        </p:nvSpPr>
        <p:spPr>
          <a:xfrm xmlns:a="http://schemas.openxmlformats.org/drawingml/2006/main">
            <a:off x="857250" y="5095875"/>
            <a:ext cx="10429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725" b="1">
                <a:solidFill>
                  <a:srgbClr val="FFFFFF"/>
                </a:solidFill>
                <a:latin typeface="Arial"/>
                <a:ea typeface="Arial"/>
                <a:cs typeface="Arial"/>
              </a:defRPr>
            </a:defPPr>
          </a:lstStyle>
          <a:p xmlns:a="http://schemas.openxmlformats.org/drawingml/2006/main">
            <a:pPr algn="ctr">
              <a:lnSpc>
                <a:spcPct val="100000"/>
              </a:lnSpc>
              <a:buNone/>
              <a:defRPr sz="1725" b="1">
                <a:solidFill>
                  <a:srgbClr val="FFFFFF"/>
                </a:solidFill>
                <a:latin typeface="Arial"/>
                <a:ea typeface="Arial"/>
                <a:cs typeface="Arial"/>
              </a:defRPr>
            </a:pPr>
            <a:r>
              <a:rPr sz="1725" b="1">
                <a:solidFill>
                  <a:srgbClr val="FFFFFF"/>
                </a:solidFill>
                <a:latin typeface="Arial"/>
                <a:ea typeface="Arial"/>
                <a:cs typeface="Arial"/>
              </a:rPr>
              <a:t>Nhóm mong nhận góp ý về phạm vi benchmark, baseline và tiêu chí đánh giá.</a:t>
            </a:r>
          </a:p>
        </p:txBody>
      </p:sp>
      <p:sp>
        <p:nvSpPr>
          <p:cNvPr id="21" name="">
            <a:extLst xmlns:a="http://schemas.openxmlformats.org/drawingml/2006/main">
              <a:ext uri="{FF2B5EF4-FFF2-40B4-BE49-F238E27FC236}">
                <a16:creationId xmlns:a16="http://schemas.microsoft.com/office/drawing/2014/main" id="{6F9CE6FB-99C4-440C-A7BE-936A1575ADDF}"/>
              </a:ext>
            </a:extLst>
          </p:cNvPr>
          <p:cNvSpPr>
            <a:spLocks xmlns:a="http://schemas.openxmlformats.org/drawingml/2006/main" noGrp="1"/>
          </p:cNvSpPr>
          <p:nvPr/>
        </p:nvSpPr>
        <p:spPr>
          <a:xfrm xmlns:a="http://schemas.openxmlformats.org/drawingml/2006/main">
            <a:off x="590550" y="5943600"/>
            <a:ext cx="11010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0F8B8D"/>
                </a:solidFill>
                <a:latin typeface="Arial"/>
                <a:ea typeface="Arial"/>
                <a:cs typeface="Arial"/>
              </a:defRPr>
            </a:defPPr>
          </a:lstStyle>
          <a:p xmlns:a="http://schemas.openxmlformats.org/drawingml/2006/main">
            <a:pPr algn="ctr">
              <a:lnSpc>
                <a:spcPct val="100000"/>
              </a:lnSpc>
              <a:buNone/>
              <a:defRPr sz="1350" b="1">
                <a:solidFill>
                  <a:srgbClr val="0F8B8D"/>
                </a:solidFill>
                <a:latin typeface="Arial"/>
                <a:ea typeface="Arial"/>
                <a:cs typeface="Arial"/>
              </a:defRPr>
            </a:pPr>
            <a:r>
              <a:rPr sz="1350" b="1">
                <a:solidFill>
                  <a:srgbClr val="0F8B8D"/>
                </a:solidFill>
                <a:latin typeface="Arial"/>
                <a:ea typeface="Arial"/>
                <a:cs typeface="Arial"/>
              </a:rPr>
              <a:t>Cảm ơn Thầy/Cô</a:t>
            </a:r>
          </a:p>
        </p:txBody>
      </p:sp>
    </p:spTree>
    <p:extLst>
      <p:ext uri="{BB962C8B-B14F-4D97-AF65-F5344CB8AC3E}">
        <p14:creationId xmlns:p14="http://schemas.microsoft.com/office/powerpoint/2010/main" val="11151202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2026-10-15T11:22:40.1290000Z</dcterms:created>
  <dcterms:modified xsi:type="dcterms:W3CDTF">2026-10-15T11:22:40.1290000Z</dcterms:modified>
</coreProperties>
</file>